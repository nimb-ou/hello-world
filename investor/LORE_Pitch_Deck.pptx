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pic>
        <p:nvPicPr>
          <p:cNvPr id="2" name="Picture 1" descr="lore-wordmark-bone-1600w.png"/>
          <p:cNvPicPr>
            <a:picLocks noChangeAspect="1"/>
          </p:cNvPicPr>
          <p:nvPr/>
        </p:nvPicPr>
        <p:blipFill>
          <a:blip r:embed="rId2"/>
          <a:stretch>
            <a:fillRect/>
          </a:stretch>
        </p:blipFill>
        <p:spPr>
          <a:xfrm>
            <a:off x="548640" y="779069"/>
            <a:ext cx="2926080" cy="727862"/>
          </a:xfrm>
          <a:prstGeom prst="rect">
            <a:avLst/>
          </a:prstGeom>
        </p:spPr>
      </p:pic>
      <p:sp>
        <p:nvSpPr>
          <p:cNvPr id="3" name="TextBox 2"/>
          <p:cNvSpPr txBox="1"/>
          <p:nvPr/>
        </p:nvSpPr>
        <p:spPr>
          <a:xfrm>
            <a:off x="548640" y="2011680"/>
            <a:ext cx="5852160" cy="1645920"/>
          </a:xfrm>
          <a:prstGeom prst="rect">
            <a:avLst/>
          </a:prstGeom>
          <a:noFill/>
        </p:spPr>
        <p:txBody>
          <a:bodyPr wrap="square" lIns="0" rIns="0" tIns="0" bIns="0" anchor="t">
            <a:spAutoFit/>
          </a:bodyPr>
          <a:lstStyle/>
          <a:p>
            <a:pPr algn="l">
              <a:lnSpc>
                <a:spcPct val="100000"/>
              </a:lnSpc>
              <a:spcAft>
                <a:spcPts val="400"/>
              </a:spcAft>
            </a:pPr>
            <a:r>
              <a:rPr sz="4400" b="0" i="0">
                <a:solidFill>
                  <a:srgbClr val="F3EEE6"/>
                </a:solidFill>
                <a:latin typeface="Fraunces"/>
              </a:rPr>
              <a:t>Every street has a story.</a:t>
            </a:r>
          </a:p>
        </p:txBody>
      </p:sp>
      <p:sp>
        <p:nvSpPr>
          <p:cNvPr id="4" name="TextBox 3"/>
          <p:cNvSpPr txBox="1"/>
          <p:nvPr/>
        </p:nvSpPr>
        <p:spPr>
          <a:xfrm>
            <a:off x="548640" y="3611880"/>
            <a:ext cx="5486400" cy="1097280"/>
          </a:xfrm>
          <a:prstGeom prst="rect">
            <a:avLst/>
          </a:prstGeom>
          <a:noFill/>
        </p:spPr>
        <p:txBody>
          <a:bodyPr wrap="square" lIns="0" rIns="0" tIns="0" bIns="0" anchor="t">
            <a:spAutoFit/>
          </a:bodyPr>
          <a:lstStyle/>
          <a:p>
            <a:pPr algn="l">
              <a:lnSpc>
                <a:spcPct val="120000"/>
              </a:lnSpc>
              <a:spcAft>
                <a:spcPts val="400"/>
              </a:spcAft>
            </a:pPr>
            <a:r>
              <a:rPr sz="1500" b="0" i="0">
                <a:solidFill>
                  <a:srgbClr val="9AA0A6"/>
                </a:solidFill>
                <a:latin typeface="Inter"/>
              </a:rPr>
              <a:t>A pocket-sized AI travel companion that tells you the true, sourced stories of the city around you, through your own earphones. Online or offline. Phone stays in your pocket.</a:t>
            </a:r>
          </a:p>
        </p:txBody>
      </p:sp>
      <p:sp>
        <p:nvSpPr>
          <p:cNvPr id="5" name="TextBox 4"/>
          <p:cNvSpPr txBox="1"/>
          <p:nvPr/>
        </p:nvSpPr>
        <p:spPr>
          <a:xfrm>
            <a:off x="548640" y="5074920"/>
            <a:ext cx="548640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B8935A"/>
                </a:solidFill>
                <a:latin typeface="Inter"/>
              </a:rPr>
              <a:t>Pre-seed  ·  $1.75M SAFE  ·  $12M post-money cap</a:t>
            </a:r>
          </a:p>
        </p:txBody>
      </p:sp>
      <p:sp>
        <p:nvSpPr>
          <p:cNvPr id="6" name="TextBox 5"/>
          <p:cNvSpPr txBox="1"/>
          <p:nvPr/>
        </p:nvSpPr>
        <p:spPr>
          <a:xfrm>
            <a:off x="548640" y="5440680"/>
            <a:ext cx="5486400" cy="365760"/>
          </a:xfrm>
          <a:prstGeom prst="rect">
            <a:avLst/>
          </a:prstGeom>
          <a:noFill/>
        </p:spPr>
        <p:txBody>
          <a:bodyPr wrap="square" lIns="0" rIns="0" tIns="0" bIns="0" anchor="t">
            <a:spAutoFit/>
          </a:bodyPr>
          <a:lstStyle/>
          <a:p>
            <a:pPr algn="l">
              <a:lnSpc>
                <a:spcPct val="110000"/>
              </a:lnSpc>
              <a:spcAft>
                <a:spcPts val="400"/>
              </a:spcAft>
            </a:pPr>
            <a:r>
              <a:rPr sz="1100" b="0" i="0">
                <a:solidFill>
                  <a:srgbClr val="9AA0A6"/>
                </a:solidFill>
                <a:latin typeface="Inter"/>
              </a:rPr>
              <a:t>Nimit Jain, Founder &amp; CEO  ·  LORE Labs, Inc. (Delaware C-corp, planned)  ·  Nov 2026</a:t>
            </a:r>
          </a:p>
        </p:txBody>
      </p:sp>
      <p:sp>
        <p:nvSpPr>
          <p:cNvPr id="7" name="Rectangle 6"/>
          <p:cNvSpPr/>
          <p:nvPr/>
        </p:nvSpPr>
        <p:spPr>
          <a:xfrm>
            <a:off x="6583680" y="548640"/>
            <a:ext cx="5074920" cy="576072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o-square.png"/>
          <p:cNvPicPr>
            <a:picLocks noChangeAspect="1"/>
          </p:cNvPicPr>
          <p:nvPr/>
        </p:nvPicPr>
        <p:blipFill>
          <a:blip r:embed="rId3"/>
          <a:stretch>
            <a:fillRect/>
          </a:stretch>
        </p:blipFill>
        <p:spPr>
          <a:xfrm>
            <a:off x="6949440" y="685800"/>
            <a:ext cx="4343400" cy="3017520"/>
          </a:xfrm>
          <a:prstGeom prst="rect">
            <a:avLst/>
          </a:prstGeom>
        </p:spPr>
      </p:pic>
      <p:pic>
        <p:nvPicPr>
          <p:cNvPr id="9" name="Picture 8" descr="lineup.png"/>
          <p:cNvPicPr>
            <a:picLocks noChangeAspect="1"/>
          </p:cNvPicPr>
          <p:nvPr/>
        </p:nvPicPr>
        <p:blipFill>
          <a:blip r:embed="rId4"/>
          <a:stretch>
            <a:fillRect/>
          </a:stretch>
        </p:blipFill>
        <p:spPr>
          <a:xfrm>
            <a:off x="7110499" y="3657600"/>
            <a:ext cx="4021281" cy="1234440"/>
          </a:xfrm>
          <a:prstGeom prst="rect">
            <a:avLst/>
          </a:prstGeom>
        </p:spPr>
      </p:pic>
      <p:sp>
        <p:nvSpPr>
          <p:cNvPr id="10" name="TextBox 9"/>
          <p:cNvSpPr txBox="1"/>
          <p:nvPr/>
        </p:nvSpPr>
        <p:spPr>
          <a:xfrm>
            <a:off x="6812280" y="5120640"/>
            <a:ext cx="4663440" cy="1097280"/>
          </a:xfrm>
          <a:prstGeom prst="rect">
            <a:avLst/>
          </a:prstGeom>
          <a:noFill/>
        </p:spPr>
        <p:txBody>
          <a:bodyPr wrap="square" lIns="0" rIns="0" tIns="0" bIns="0" anchor="t">
            <a:spAutoFit/>
          </a:bodyPr>
          <a:lstStyle/>
          <a:p>
            <a:pPr algn="ctr">
              <a:lnSpc>
                <a:spcPct val="110000"/>
              </a:lnSpc>
              <a:spcAft>
                <a:spcPts val="400"/>
              </a:spcAft>
            </a:pPr>
            <a:r>
              <a:rPr sz="1150" b="1" i="0">
                <a:solidFill>
                  <a:srgbClr val="14161A"/>
                </a:solidFill>
                <a:latin typeface="Inter"/>
              </a:rPr>
              <a:t>Pebble $149  ·  Square $299  ·  Atlas $599</a:t>
            </a:r>
          </a:p>
          <a:p>
            <a:pPr algn="ctr">
              <a:lnSpc>
                <a:spcPct val="110000"/>
              </a:lnSpc>
              <a:spcAft>
                <a:spcPts val="400"/>
              </a:spcAft>
            </a:pPr>
            <a:r>
              <a:rPr sz="1150" b="0" i="0">
                <a:solidFill>
                  <a:srgbClr val="5A5D63"/>
                </a:solidFill>
                <a:latin typeface="Inter"/>
              </a:rPr>
              <a:t>Industrial-design renders (design/industrial). Not production units.</a:t>
            </a:r>
          </a:p>
        </p:txBody>
      </p:sp>
      <p:pic>
        <p:nvPicPr>
          <p:cNvPr id="11" name="Picture 10" descr="lore-lockup-horizontal-bone-1600w.png"/>
          <p:cNvPicPr>
            <a:picLocks noChangeAspect="1"/>
          </p:cNvPicPr>
          <p:nvPr/>
        </p:nvPicPr>
        <p:blipFill>
          <a:blip r:embed="rId5"/>
          <a:stretch>
            <a:fillRect/>
          </a:stretch>
        </p:blipFill>
        <p:spPr>
          <a:xfrm>
            <a:off x="548640" y="6429032"/>
            <a:ext cx="822960" cy="199567"/>
          </a:xfrm>
          <a:prstGeom prst="rect">
            <a:avLst/>
          </a:prstGeom>
        </p:spPr>
      </p:pic>
      <p:sp>
        <p:nvSpPr>
          <p:cNvPr id="12" name="TextBox 11"/>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13" name="TextBox 12"/>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THE PROBLEM</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3000" b="0" i="0">
                <a:solidFill>
                  <a:srgbClr val="14161A"/>
                </a:solidFill>
                <a:latin typeface="Fraunces"/>
              </a:rPr>
              <a:t>In a new city, your phone is your guide, your map, your wallet
and your only lifeline. It is bad at all four at once.</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02</a:t>
            </a:r>
          </a:p>
        </p:txBody>
      </p:sp>
      <p:sp>
        <p:nvSpPr>
          <p:cNvPr id="7" name="Rectangle 6"/>
          <p:cNvSpPr/>
          <p:nvPr/>
        </p:nvSpPr>
        <p:spPr>
          <a:xfrm>
            <a:off x="548640" y="1965960"/>
            <a:ext cx="2670048" cy="237744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54864" cy="2377440"/>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12264"/>
            <a:ext cx="2267712"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Eyes on the screen</a:t>
            </a:r>
          </a:p>
        </p:txBody>
      </p:sp>
      <p:sp>
        <p:nvSpPr>
          <p:cNvPr id="10" name="TextBox 9"/>
          <p:cNvSpPr txBox="1"/>
          <p:nvPr/>
        </p:nvSpPr>
        <p:spPr>
          <a:xfrm>
            <a:off x="749808" y="2496312"/>
            <a:ext cx="2267712" cy="1755648"/>
          </a:xfrm>
          <a:prstGeom prst="rect">
            <a:avLst/>
          </a:prstGeom>
          <a:noFill/>
        </p:spPr>
        <p:txBody>
          <a:bodyPr wrap="square" lIns="0" rIns="0" tIns="0" bIns="0" anchor="t">
            <a:spAutoFit/>
          </a:bodyPr>
          <a:lstStyle/>
          <a:p>
            <a:pPr algn="l">
              <a:lnSpc>
                <a:spcPct val="112000"/>
              </a:lnSpc>
              <a:spcAft>
                <a:spcPts val="400"/>
              </a:spcAft>
            </a:pPr>
            <a:r>
              <a:rPr sz="1200" b="0" i="0">
                <a:solidFill>
                  <a:srgbClr val="5A5D63"/>
                </a:solidFill>
                <a:latin typeface="Inter"/>
              </a:rPr>
              <a:t>Travellers read Wikipedia in front of monuments and still miss what is there. Generic "top 10" lists and audio guides tied to single sites.</a:t>
            </a:r>
          </a:p>
        </p:txBody>
      </p:sp>
      <p:sp>
        <p:nvSpPr>
          <p:cNvPr id="11" name="Rectangle 10"/>
          <p:cNvSpPr/>
          <p:nvPr/>
        </p:nvSpPr>
        <p:spPr>
          <a:xfrm>
            <a:off x="3355848" y="1965960"/>
            <a:ext cx="2670048" cy="237744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55848" y="1965960"/>
            <a:ext cx="54864" cy="2377440"/>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6" y="2112264"/>
            <a:ext cx="2267712"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Battery dead by 4 pm</a:t>
            </a:r>
          </a:p>
        </p:txBody>
      </p:sp>
      <p:sp>
        <p:nvSpPr>
          <p:cNvPr id="14" name="TextBox 13"/>
          <p:cNvSpPr txBox="1"/>
          <p:nvPr/>
        </p:nvSpPr>
        <p:spPr>
          <a:xfrm>
            <a:off x="3557016" y="2496312"/>
            <a:ext cx="2267712" cy="1755648"/>
          </a:xfrm>
          <a:prstGeom prst="rect">
            <a:avLst/>
          </a:prstGeom>
          <a:noFill/>
        </p:spPr>
        <p:txBody>
          <a:bodyPr wrap="square" lIns="0" rIns="0" tIns="0" bIns="0" anchor="t">
            <a:spAutoFit/>
          </a:bodyPr>
          <a:lstStyle/>
          <a:p>
            <a:pPr algn="l">
              <a:lnSpc>
                <a:spcPct val="112000"/>
              </a:lnSpc>
              <a:spcAft>
                <a:spcPts val="400"/>
              </a:spcAft>
            </a:pPr>
            <a:r>
              <a:rPr sz="1200" b="0" i="0">
                <a:solidFill>
                  <a:srgbClr val="5A5D63"/>
                </a:solidFill>
                <a:latin typeface="Inter"/>
              </a:rPr>
              <a:t>Maps, camera, tickets and payments all drain one battery. When it dies you lose navigation, payments and the ability to call for help.</a:t>
            </a:r>
          </a:p>
        </p:txBody>
      </p:sp>
      <p:sp>
        <p:nvSpPr>
          <p:cNvPr id="15" name="Rectangle 14"/>
          <p:cNvSpPr/>
          <p:nvPr/>
        </p:nvSpPr>
        <p:spPr>
          <a:xfrm>
            <a:off x="6163056" y="1965960"/>
            <a:ext cx="2670048" cy="237744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965960"/>
            <a:ext cx="54864" cy="2377440"/>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2112264"/>
            <a:ext cx="2267712"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Phone out = target</a:t>
            </a:r>
          </a:p>
        </p:txBody>
      </p:sp>
      <p:sp>
        <p:nvSpPr>
          <p:cNvPr id="18" name="TextBox 17"/>
          <p:cNvSpPr txBox="1"/>
          <p:nvPr/>
        </p:nvSpPr>
        <p:spPr>
          <a:xfrm>
            <a:off x="6364224" y="2496312"/>
            <a:ext cx="2267712" cy="1755648"/>
          </a:xfrm>
          <a:prstGeom prst="rect">
            <a:avLst/>
          </a:prstGeom>
          <a:noFill/>
        </p:spPr>
        <p:txBody>
          <a:bodyPr wrap="square" lIns="0" rIns="0" tIns="0" bIns="0" anchor="t">
            <a:spAutoFit/>
          </a:bodyPr>
          <a:lstStyle/>
          <a:p>
            <a:pPr algn="l">
              <a:lnSpc>
                <a:spcPct val="112000"/>
              </a:lnSpc>
              <a:spcAft>
                <a:spcPts val="400"/>
              </a:spcAft>
            </a:pPr>
            <a:r>
              <a:rPr sz="1200" b="0" i="0">
                <a:solidFill>
                  <a:srgbClr val="5A5D63"/>
                </a:solidFill>
                <a:latin typeface="Inter"/>
              </a:rPr>
              <a:t>Greater Rome: 33,455 pickpocketing incidents in 2024 (+68% vs 2019). Holding a phone out marks you as a lost tourist.</a:t>
            </a:r>
          </a:p>
        </p:txBody>
      </p:sp>
      <p:sp>
        <p:nvSpPr>
          <p:cNvPr id="19" name="Rectangle 18"/>
          <p:cNvSpPr/>
          <p:nvPr/>
        </p:nvSpPr>
        <p:spPr>
          <a:xfrm>
            <a:off x="8970264" y="1965960"/>
            <a:ext cx="2670048" cy="237744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70264" y="1965960"/>
            <a:ext cx="54864" cy="2377440"/>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1432" y="2112264"/>
            <a:ext cx="2267712"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Data is still a hassle</a:t>
            </a:r>
          </a:p>
        </p:txBody>
      </p:sp>
      <p:sp>
        <p:nvSpPr>
          <p:cNvPr id="22" name="TextBox 21"/>
          <p:cNvSpPr txBox="1"/>
          <p:nvPr/>
        </p:nvSpPr>
        <p:spPr>
          <a:xfrm>
            <a:off x="9171432" y="2496312"/>
            <a:ext cx="2267712" cy="1755648"/>
          </a:xfrm>
          <a:prstGeom prst="rect">
            <a:avLst/>
          </a:prstGeom>
          <a:noFill/>
        </p:spPr>
        <p:txBody>
          <a:bodyPr wrap="square" lIns="0" rIns="0" tIns="0" bIns="0" anchor="t">
            <a:spAutoFit/>
          </a:bodyPr>
          <a:lstStyle/>
          <a:p>
            <a:pPr algn="l">
              <a:lnSpc>
                <a:spcPct val="112000"/>
              </a:lnSpc>
              <a:spcAft>
                <a:spcPts val="400"/>
              </a:spcAft>
            </a:pPr>
            <a:r>
              <a:rPr sz="1200" b="0" i="0">
                <a:solidFill>
                  <a:srgbClr val="5A5D63"/>
                </a:solidFill>
                <a:latin typeface="Inter"/>
              </a:rPr>
              <a:t>&gt;70% of frequent travellers in one survey had experienced roaming bill shock (avg. &gt;€200). eSIMs help, but need setup per trip.</a:t>
            </a:r>
          </a:p>
        </p:txBody>
      </p:sp>
      <p:sp>
        <p:nvSpPr>
          <p:cNvPr id="23" name="TextBox 22"/>
          <p:cNvSpPr txBox="1"/>
          <p:nvPr/>
        </p:nvSpPr>
        <p:spPr>
          <a:xfrm>
            <a:off x="548640" y="4663440"/>
            <a:ext cx="11064240" cy="109728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Who feels it most: </a:t>
            </a:r>
            <a:r>
              <a:rPr sz="1400" b="0" i="0">
                <a:solidFill>
                  <a:srgbClr val="5A5D63"/>
                </a:solidFill>
                <a:latin typeface="Inter"/>
              </a:rPr>
              <a:t>solo travellers aged 22-45 making 2+ international trips a year. 35-48% of travellers now plan or take solo trips; solo share of Hostelworld bookings is 63%.</a:t>
            </a:r>
          </a:p>
        </p:txBody>
      </p:sp>
      <p:sp>
        <p:nvSpPr>
          <p:cNvPr id="24" name="TextBox 23"/>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research/trends.md, research/personas.md, research/README.md (quotezone.co.uk pickpocketing aggregation, telecompaper.com roaming survey, Skyscanner/Global Rescue/IMG). Secondary aggregations; indicative.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THE SOLUTION</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Walk with a brilliant local friend who knows the history.</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03</a:t>
            </a:r>
          </a:p>
        </p:txBody>
      </p:sp>
      <p:sp>
        <p:nvSpPr>
          <p:cNvPr id="7" name="TextBox 6"/>
          <p:cNvSpPr txBox="1"/>
          <p:nvPr/>
        </p:nvSpPr>
        <p:spPr>
          <a:xfrm>
            <a:off x="548640" y="1691640"/>
            <a:ext cx="2670048" cy="54864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01</a:t>
            </a:r>
          </a:p>
        </p:txBody>
      </p:sp>
      <p:sp>
        <p:nvSpPr>
          <p:cNvPr id="8" name="TextBox 7"/>
          <p:cNvSpPr txBox="1"/>
          <p:nvPr/>
        </p:nvSpPr>
        <p:spPr>
          <a:xfrm>
            <a:off x="548640" y="2286000"/>
            <a:ext cx="2670048"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You walk</a:t>
            </a:r>
          </a:p>
        </p:txBody>
      </p:sp>
      <p:sp>
        <p:nvSpPr>
          <p:cNvPr id="9" name="TextBox 8"/>
          <p:cNvSpPr txBox="1"/>
          <p:nvPr/>
        </p:nvSpPr>
        <p:spPr>
          <a:xfrm>
            <a:off x="548640" y="2697480"/>
            <a:ext cx="2670048" cy="1188720"/>
          </a:xfrm>
          <a:prstGeom prst="rect">
            <a:avLst/>
          </a:prstGeom>
          <a:noFill/>
        </p:spPr>
        <p:txBody>
          <a:bodyPr wrap="square" lIns="0" rIns="0" tIns="0" bIns="0" anchor="t">
            <a:spAutoFit/>
          </a:bodyPr>
          <a:lstStyle/>
          <a:p>
            <a:pPr algn="l">
              <a:lnSpc>
                <a:spcPct val="115000"/>
              </a:lnSpc>
              <a:spcAft>
                <a:spcPts val="400"/>
              </a:spcAft>
            </a:pPr>
            <a:r>
              <a:rPr sz="1200" b="0" i="0">
                <a:solidFill>
                  <a:srgbClr val="5A5D63"/>
                </a:solidFill>
                <a:latin typeface="Inter"/>
              </a:rPr>
              <a:t>Phone in pocket. LORE clipped on or in hand. Your own earphones (LE Audio / A2DP).</a:t>
            </a:r>
          </a:p>
        </p:txBody>
      </p:sp>
      <p:sp>
        <p:nvSpPr>
          <p:cNvPr id="10" name="TextBox 9"/>
          <p:cNvSpPr txBox="1"/>
          <p:nvPr/>
        </p:nvSpPr>
        <p:spPr>
          <a:xfrm>
            <a:off x="3355848" y="1691640"/>
            <a:ext cx="2670048" cy="54864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02</a:t>
            </a:r>
          </a:p>
        </p:txBody>
      </p:sp>
      <p:sp>
        <p:nvSpPr>
          <p:cNvPr id="11" name="TextBox 10"/>
          <p:cNvSpPr txBox="1"/>
          <p:nvPr/>
        </p:nvSpPr>
        <p:spPr>
          <a:xfrm>
            <a:off x="3355848" y="2286000"/>
            <a:ext cx="2670048"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LORE knows where you face</a:t>
            </a:r>
          </a:p>
        </p:txBody>
      </p:sp>
      <p:sp>
        <p:nvSpPr>
          <p:cNvPr id="12" name="TextBox 11"/>
          <p:cNvSpPr txBox="1"/>
          <p:nvPr/>
        </p:nvSpPr>
        <p:spPr>
          <a:xfrm>
            <a:off x="3355848" y="2697480"/>
            <a:ext cx="2670048" cy="1188720"/>
          </a:xfrm>
          <a:prstGeom prst="rect">
            <a:avLst/>
          </a:prstGeom>
          <a:noFill/>
        </p:spPr>
        <p:txBody>
          <a:bodyPr wrap="square" lIns="0" rIns="0" tIns="0" bIns="0" anchor="t">
            <a:spAutoFit/>
          </a:bodyPr>
          <a:lstStyle/>
          <a:p>
            <a:pPr algn="l">
              <a:lnSpc>
                <a:spcPct val="115000"/>
              </a:lnSpc>
              <a:spcAft>
                <a:spcPts val="400"/>
              </a:spcAft>
            </a:pPr>
            <a:r>
              <a:rPr sz="1200" b="0" i="0">
                <a:solidFill>
                  <a:srgbClr val="5A5D63"/>
                </a:solidFill>
                <a:latin typeface="Inter"/>
              </a:rPr>
              <a:t>Map Vision fuses L1+L5 GNSS, 9-axis IMU, steps and building outlines.</a:t>
            </a:r>
          </a:p>
        </p:txBody>
      </p:sp>
      <p:sp>
        <p:nvSpPr>
          <p:cNvPr id="13" name="TextBox 12"/>
          <p:cNvSpPr txBox="1"/>
          <p:nvPr/>
        </p:nvSpPr>
        <p:spPr>
          <a:xfrm>
            <a:off x="6163056" y="1691640"/>
            <a:ext cx="2670048" cy="54864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03</a:t>
            </a:r>
          </a:p>
        </p:txBody>
      </p:sp>
      <p:sp>
        <p:nvSpPr>
          <p:cNvPr id="14" name="TextBox 13"/>
          <p:cNvSpPr txBox="1"/>
          <p:nvPr/>
        </p:nvSpPr>
        <p:spPr>
          <a:xfrm>
            <a:off x="6163056" y="2286000"/>
            <a:ext cx="2670048"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It tells you what's there</a:t>
            </a:r>
          </a:p>
        </p:txBody>
      </p:sp>
      <p:sp>
        <p:nvSpPr>
          <p:cNvPr id="15" name="TextBox 14"/>
          <p:cNvSpPr txBox="1"/>
          <p:nvPr/>
        </p:nvSpPr>
        <p:spPr>
          <a:xfrm>
            <a:off x="6163056" y="2697480"/>
            <a:ext cx="2670048" cy="1188720"/>
          </a:xfrm>
          <a:prstGeom prst="rect">
            <a:avLst/>
          </a:prstGeom>
          <a:noFill/>
        </p:spPr>
        <p:txBody>
          <a:bodyPr wrap="square" lIns="0" rIns="0" tIns="0" bIns="0" anchor="t">
            <a:spAutoFit/>
          </a:bodyPr>
          <a:lstStyle/>
          <a:p>
            <a:pPr algn="l">
              <a:lnSpc>
                <a:spcPct val="115000"/>
              </a:lnSpc>
              <a:spcAft>
                <a:spcPts val="400"/>
              </a:spcAft>
            </a:pPr>
            <a:r>
              <a:rPr sz="1200" b="0" i="0">
                <a:solidFill>
                  <a:srgbClr val="5A5D63"/>
                </a:solidFill>
                <a:latin typeface="Inter"/>
              </a:rPr>
              <a:t>"The building on your right...look up." 20-40 s stories from checked, sourced facts.</a:t>
            </a:r>
          </a:p>
        </p:txBody>
      </p:sp>
      <p:sp>
        <p:nvSpPr>
          <p:cNvPr id="16" name="TextBox 15"/>
          <p:cNvSpPr txBox="1"/>
          <p:nvPr/>
        </p:nvSpPr>
        <p:spPr>
          <a:xfrm>
            <a:off x="8970264" y="1691640"/>
            <a:ext cx="2670048" cy="54864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04</a:t>
            </a:r>
          </a:p>
        </p:txBody>
      </p:sp>
      <p:sp>
        <p:nvSpPr>
          <p:cNvPr id="17" name="TextBox 16"/>
          <p:cNvSpPr txBox="1"/>
          <p:nvPr/>
        </p:nvSpPr>
        <p:spPr>
          <a:xfrm>
            <a:off x="8970264" y="2286000"/>
            <a:ext cx="2670048"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You go deeper, or not</a:t>
            </a:r>
          </a:p>
        </p:txBody>
      </p:sp>
      <p:sp>
        <p:nvSpPr>
          <p:cNvPr id="18" name="TextBox 17"/>
          <p:cNvSpPr txBox="1"/>
          <p:nvPr/>
        </p:nvSpPr>
        <p:spPr>
          <a:xfrm>
            <a:off x="8970264" y="2697480"/>
            <a:ext cx="2670048" cy="1188720"/>
          </a:xfrm>
          <a:prstGeom prst="rect">
            <a:avLst/>
          </a:prstGeom>
          <a:noFill/>
        </p:spPr>
        <p:txBody>
          <a:bodyPr wrap="square" lIns="0" rIns="0" tIns="0" bIns="0" anchor="t">
            <a:spAutoFit/>
          </a:bodyPr>
          <a:lstStyle/>
          <a:p>
            <a:pPr algn="l">
              <a:lnSpc>
                <a:spcPct val="115000"/>
              </a:lnSpc>
              <a:spcAft>
                <a:spcPts val="400"/>
              </a:spcAft>
            </a:pPr>
            <a:r>
              <a:rPr sz="1200" b="0" i="0">
                <a:solidFill>
                  <a:srgbClr val="5A5D63"/>
                </a:solidFill>
                <a:latin typeface="Inter"/>
              </a:rPr>
              <a:t>Press: talk. Double-press: what's around me. Long-press: SOS. Quiet while you cross or talk.</a:t>
            </a:r>
          </a:p>
        </p:txBody>
      </p:sp>
      <p:sp>
        <p:nvSpPr>
          <p:cNvPr id="19" name="Rectangle 18"/>
          <p:cNvSpPr/>
          <p:nvPr/>
        </p:nvSpPr>
        <p:spPr>
          <a:xfrm>
            <a:off x="548640" y="3977639"/>
            <a:ext cx="11064240" cy="1783080"/>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160520"/>
            <a:ext cx="10424160" cy="1097280"/>
          </a:xfrm>
          <a:prstGeom prst="rect">
            <a:avLst/>
          </a:prstGeom>
          <a:noFill/>
        </p:spPr>
        <p:txBody>
          <a:bodyPr wrap="square" lIns="0" rIns="0" tIns="0" bIns="0" anchor="t">
            <a:spAutoFit/>
          </a:bodyPr>
          <a:lstStyle/>
          <a:p>
            <a:pPr algn="l">
              <a:lnSpc>
                <a:spcPct val="115000"/>
              </a:lnSpc>
              <a:spcAft>
                <a:spcPts val="400"/>
              </a:spcAft>
            </a:pPr>
            <a:r>
              <a:rPr sz="1600" b="0" i="1">
                <a:solidFill>
                  <a:srgbClr val="F3EEE6"/>
                </a:solidFill>
                <a:latin typeface="Fraunces"/>
              </a:rPr>
              <a:t>“See the Pantheon behind you? Turn around and look up. The building you see was rebuilt under the emperor Hadrian around 113 to 125 AD. Yet the inscription on the front credits Marcus Agrippa...”</a:t>
            </a:r>
          </a:p>
        </p:txBody>
      </p:sp>
      <p:sp>
        <p:nvSpPr>
          <p:cNvPr id="21" name="TextBox 20"/>
          <p:cNvSpPr txBox="1"/>
          <p:nvPr/>
        </p:nvSpPr>
        <p:spPr>
          <a:xfrm>
            <a:off x="868680" y="5303520"/>
            <a:ext cx="1042416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B8935A"/>
                </a:solidFill>
                <a:latin typeface="Inter"/>
              </a:rPr>
              <a:t>Actual output of the Rome prototype (simulated walk, offline template path). Facts rome-pantheon-1..4, source: en.wikipedia.org/wiki/Pantheon,_Rome</a:t>
            </a:r>
          </a:p>
        </p:txBody>
      </p:sp>
      <p:sp>
        <p:nvSpPr>
          <p:cNvPr id="22" name="TextBox 21"/>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 software/simulations/output/rome-walk-transcript.md (SIMULATED sensors). Principle D4: the AI tells the story; it cannot invent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WHY A DEVICE, NOT JUST AN APP</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Phones are bad at three things travellers need. A device fixes them.</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04</a:t>
            </a:r>
          </a:p>
        </p:txBody>
      </p:sp>
      <p:sp>
        <p:nvSpPr>
          <p:cNvPr id="7" name="Rectangle 6"/>
          <p:cNvSpPr/>
          <p:nvPr/>
        </p:nvSpPr>
        <p:spPr>
          <a:xfrm>
            <a:off x="548640" y="1691640"/>
            <a:ext cx="6400800" cy="841248"/>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54864" cy="841248"/>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6035040" cy="32004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Works when the phone doesn't</a:t>
            </a:r>
          </a:p>
        </p:txBody>
      </p:sp>
      <p:sp>
        <p:nvSpPr>
          <p:cNvPr id="10" name="TextBox 9"/>
          <p:cNvSpPr txBox="1"/>
          <p:nvPr/>
        </p:nvSpPr>
        <p:spPr>
          <a:xfrm>
            <a:off x="777240" y="2075688"/>
            <a:ext cx="6035040" cy="457200"/>
          </a:xfrm>
          <a:prstGeom prst="rect">
            <a:avLst/>
          </a:prstGeom>
          <a:noFill/>
        </p:spPr>
        <p:txBody>
          <a:bodyPr wrap="square" lIns="0" rIns="0" tIns="0" bIns="0" anchor="t">
            <a:spAutoFit/>
          </a:bodyPr>
          <a:lstStyle/>
          <a:p>
            <a:pPr algn="l">
              <a:lnSpc>
                <a:spcPct val="110000"/>
              </a:lnSpc>
              <a:spcAft>
                <a:spcPts val="400"/>
              </a:spcAft>
            </a:pPr>
            <a:r>
              <a:rPr sz="1050" b="0" i="0">
                <a:solidFill>
                  <a:srgbClr val="5A5D63"/>
                </a:solidFill>
                <a:latin typeface="Inter"/>
              </a:rPr>
              <a:t>Built-in global eSIM (Square/Atlas, LTE Cat-1bis, 150+ countries). Phone stolen or flat: you still have stories, maps and SOS.</a:t>
            </a:r>
          </a:p>
        </p:txBody>
      </p:sp>
      <p:sp>
        <p:nvSpPr>
          <p:cNvPr id="11" name="Rectangle 10"/>
          <p:cNvSpPr/>
          <p:nvPr/>
        </p:nvSpPr>
        <p:spPr>
          <a:xfrm>
            <a:off x="548640" y="2651760"/>
            <a:ext cx="6400800" cy="841248"/>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51760"/>
            <a:ext cx="54864" cy="841248"/>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43200"/>
            <a:ext cx="6035040" cy="32004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2+ day battery, separate from the phone</a:t>
            </a:r>
          </a:p>
        </p:txBody>
      </p:sp>
      <p:sp>
        <p:nvSpPr>
          <p:cNvPr id="14" name="TextBox 13"/>
          <p:cNvSpPr txBox="1"/>
          <p:nvPr/>
        </p:nvSpPr>
        <p:spPr>
          <a:xfrm>
            <a:off x="777240" y="3035808"/>
            <a:ext cx="6035040" cy="457200"/>
          </a:xfrm>
          <a:prstGeom prst="rect">
            <a:avLst/>
          </a:prstGeom>
          <a:noFill/>
        </p:spPr>
        <p:txBody>
          <a:bodyPr wrap="square" lIns="0" rIns="0" tIns="0" bIns="0" anchor="t">
            <a:spAutoFit/>
          </a:bodyPr>
          <a:lstStyle/>
          <a:p>
            <a:pPr algn="l">
              <a:lnSpc>
                <a:spcPct val="110000"/>
              </a:lnSpc>
              <a:spcAft>
                <a:spcPts val="400"/>
              </a:spcAft>
            </a:pPr>
            <a:r>
              <a:rPr sz="1050" b="0" i="0">
                <a:solidFill>
                  <a:srgbClr val="5A5D63"/>
                </a:solidFill>
                <a:latin typeface="Inter"/>
              </a:rPr>
              <a:t>Simulated travel day: Pebble 2.1, Square 2.1, Atlas 2.4 days (new cell, optimised firmware). Phone battery stays for photos and payments.</a:t>
            </a:r>
          </a:p>
        </p:txBody>
      </p:sp>
      <p:sp>
        <p:nvSpPr>
          <p:cNvPr id="15" name="Rectangle 14"/>
          <p:cNvSpPr/>
          <p:nvPr/>
        </p:nvSpPr>
        <p:spPr>
          <a:xfrm>
            <a:off x="548640" y="3611880"/>
            <a:ext cx="6400800" cy="841248"/>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611880"/>
            <a:ext cx="54864" cy="841248"/>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703320"/>
            <a:ext cx="6035040" cy="32004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Offline City Packs</a:t>
            </a:r>
          </a:p>
        </p:txBody>
      </p:sp>
      <p:sp>
        <p:nvSpPr>
          <p:cNvPr id="18" name="TextBox 17"/>
          <p:cNvSpPr txBox="1"/>
          <p:nvPr/>
        </p:nvSpPr>
        <p:spPr>
          <a:xfrm>
            <a:off x="777240" y="3995928"/>
            <a:ext cx="6035040" cy="457200"/>
          </a:xfrm>
          <a:prstGeom prst="rect">
            <a:avLst/>
          </a:prstGeom>
          <a:noFill/>
        </p:spPr>
        <p:txBody>
          <a:bodyPr wrap="square" lIns="0" rIns="0" tIns="0" bIns="0" anchor="t">
            <a:spAutoFit/>
          </a:bodyPr>
          <a:lstStyle/>
          <a:p>
            <a:pPr algn="l">
              <a:lnSpc>
                <a:spcPct val="110000"/>
              </a:lnSpc>
              <a:spcAft>
                <a:spcPts val="400"/>
              </a:spcAft>
            </a:pPr>
            <a:r>
              <a:rPr sz="1050" b="0" i="0">
                <a:solidFill>
                  <a:srgbClr val="5A5D63"/>
                </a:solidFill>
                <a:latin typeface="Inter"/>
              </a:rPr>
              <a:t>Maps, routing, stories and on-device AI (3B on Square) with no signal. Rome pack: 86 POIs, 215 sourced fact cards today.</a:t>
            </a:r>
          </a:p>
        </p:txBody>
      </p:sp>
      <p:sp>
        <p:nvSpPr>
          <p:cNvPr id="19" name="Rectangle 18"/>
          <p:cNvSpPr/>
          <p:nvPr/>
        </p:nvSpPr>
        <p:spPr>
          <a:xfrm>
            <a:off x="548640" y="4572000"/>
            <a:ext cx="6400800" cy="841248"/>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572000"/>
            <a:ext cx="54864" cy="841248"/>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663440"/>
            <a:ext cx="6035040" cy="32004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Eyes up, phone hidden</a:t>
            </a:r>
          </a:p>
        </p:txBody>
      </p:sp>
      <p:sp>
        <p:nvSpPr>
          <p:cNvPr id="22" name="TextBox 21"/>
          <p:cNvSpPr txBox="1"/>
          <p:nvPr/>
        </p:nvSpPr>
        <p:spPr>
          <a:xfrm>
            <a:off x="777240" y="4956048"/>
            <a:ext cx="6035040" cy="457200"/>
          </a:xfrm>
          <a:prstGeom prst="rect">
            <a:avLst/>
          </a:prstGeom>
          <a:noFill/>
        </p:spPr>
        <p:txBody>
          <a:bodyPr wrap="square" lIns="0" rIns="0" tIns="0" bIns="0" anchor="t">
            <a:spAutoFit/>
          </a:bodyPr>
          <a:lstStyle/>
          <a:p>
            <a:pPr algn="l">
              <a:lnSpc>
                <a:spcPct val="110000"/>
              </a:lnSpc>
              <a:spcAft>
                <a:spcPts val="400"/>
              </a:spcAft>
            </a:pPr>
            <a:r>
              <a:rPr sz="1050" b="0" i="0">
                <a:solidFill>
                  <a:srgbClr val="5A5D63"/>
                </a:solidFill>
                <a:latin typeface="Inter"/>
              </a:rPr>
              <a:t>Physical controls: press to talk, double-press 'what's around me', long-press SOS. Walk-me-home check-ins.</a:t>
            </a:r>
          </a:p>
        </p:txBody>
      </p:sp>
      <p:pic>
        <p:nvPicPr>
          <p:cNvPr id="23" name="Picture 22" descr="exploded-square.png"/>
          <p:cNvPicPr>
            <a:picLocks noChangeAspect="1"/>
          </p:cNvPicPr>
          <p:nvPr/>
        </p:nvPicPr>
        <p:blipFill>
          <a:blip r:embed="rId3"/>
          <a:stretch>
            <a:fillRect/>
          </a:stretch>
        </p:blipFill>
        <p:spPr>
          <a:xfrm>
            <a:off x="7178040" y="1700403"/>
            <a:ext cx="4480560" cy="2725674"/>
          </a:xfrm>
          <a:prstGeom prst="rect">
            <a:avLst/>
          </a:prstGeom>
        </p:spPr>
      </p:pic>
      <p:sp>
        <p:nvSpPr>
          <p:cNvPr id="24" name="TextBox 23"/>
          <p:cNvSpPr txBox="1"/>
          <p:nvPr/>
        </p:nvSpPr>
        <p:spPr>
          <a:xfrm>
            <a:off x="7178040" y="4572000"/>
            <a:ext cx="4480560" cy="1371600"/>
          </a:xfrm>
          <a:prstGeom prst="rect">
            <a:avLst/>
          </a:prstGeom>
          <a:noFill/>
        </p:spPr>
        <p:txBody>
          <a:bodyPr wrap="square" lIns="0" rIns="0" tIns="0" bIns="0" anchor="t">
            <a:spAutoFit/>
          </a:bodyPr>
          <a:lstStyle/>
          <a:p>
            <a:pPr algn="l">
              <a:lnSpc>
                <a:spcPct val="110000"/>
              </a:lnSpc>
              <a:spcAft>
                <a:spcPts val="400"/>
              </a:spcAft>
            </a:pPr>
            <a:r>
              <a:rPr sz="1200" b="1" i="0">
                <a:solidFill>
                  <a:srgbClr val="14161A"/>
                </a:solidFill>
                <a:latin typeface="Inter"/>
              </a:rPr>
              <a:t>Honest test (Gate G0): </a:t>
            </a:r>
            <a:r>
              <a:rPr sz="1200" b="0" i="0">
                <a:solidFill>
                  <a:srgbClr val="5A5D63"/>
                </a:solidFill>
                <a:latin typeface="Inter"/>
              </a:rPr>
              <a:t>if the phone app alone delivers ≥80% of the value, we ship the app first and keep the device as a premium model (decision D1).</a:t>
            </a:r>
          </a:p>
        </p:txBody>
      </p:sp>
      <p:sp>
        <p:nvSpPr>
          <p:cNvPr id="25" name="TextBox 24"/>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COMPANY.md 'why buy'; hardware/simulations/results.md (SIMULATED battery); software/README.md; company/decisions-log.md D1, D11.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THE PRODUCT FAMILY</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3000" b="0" i="0">
                <a:solidFill>
                  <a:srgbClr val="14161A"/>
                </a:solidFill>
                <a:latin typeface="Fraunces"/>
              </a:rPr>
              <a:t>Good / better / best, one software platform.</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05</a:t>
            </a:r>
          </a:p>
        </p:txBody>
      </p:sp>
      <p:sp>
        <p:nvSpPr>
          <p:cNvPr id="7" name="Rectangle 6"/>
          <p:cNvSpPr/>
          <p:nvPr/>
        </p:nvSpPr>
        <p:spPr>
          <a:xfrm>
            <a:off x="548640" y="1600200"/>
            <a:ext cx="3611880" cy="2514600"/>
          </a:xfrm>
          <a:prstGeom prst="rect">
            <a:avLst/>
          </a:prstGeom>
          <a:solidFill>
            <a:srgbClr val="EE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o-pebble.png"/>
          <p:cNvPicPr>
            <a:picLocks noChangeAspect="1"/>
          </p:cNvPicPr>
          <p:nvPr/>
        </p:nvPicPr>
        <p:blipFill>
          <a:blip r:embed="rId3"/>
          <a:stretch>
            <a:fillRect/>
          </a:stretch>
        </p:blipFill>
        <p:spPr>
          <a:xfrm>
            <a:off x="610639" y="1645920"/>
            <a:ext cx="3487881" cy="2423160"/>
          </a:xfrm>
          <a:prstGeom prst="rect">
            <a:avLst/>
          </a:prstGeom>
        </p:spPr>
      </p:pic>
      <p:sp>
        <p:nvSpPr>
          <p:cNvPr id="9" name="TextBox 8"/>
          <p:cNvSpPr txBox="1"/>
          <p:nvPr/>
        </p:nvSpPr>
        <p:spPr>
          <a:xfrm>
            <a:off x="548640" y="4206240"/>
            <a:ext cx="2347722" cy="365760"/>
          </a:xfrm>
          <a:prstGeom prst="rect">
            <a:avLst/>
          </a:prstGeom>
          <a:noFill/>
        </p:spPr>
        <p:txBody>
          <a:bodyPr wrap="square" lIns="0" rIns="0" tIns="0" bIns="0" anchor="t">
            <a:spAutoFit/>
          </a:bodyPr>
          <a:lstStyle/>
          <a:p>
            <a:pPr algn="l">
              <a:lnSpc>
                <a:spcPct val="110000"/>
              </a:lnSpc>
              <a:spcAft>
                <a:spcPts val="400"/>
              </a:spcAft>
            </a:pPr>
            <a:r>
              <a:rPr sz="1700" b="0" i="0">
                <a:solidFill>
                  <a:srgbClr val="14161A"/>
                </a:solidFill>
                <a:latin typeface="Fraunces"/>
              </a:rPr>
              <a:t>LORE Pebble</a:t>
            </a:r>
          </a:p>
        </p:txBody>
      </p:sp>
      <p:sp>
        <p:nvSpPr>
          <p:cNvPr id="10" name="TextBox 9"/>
          <p:cNvSpPr txBox="1"/>
          <p:nvPr/>
        </p:nvSpPr>
        <p:spPr>
          <a:xfrm>
            <a:off x="2715768" y="4206240"/>
            <a:ext cx="1444752" cy="365760"/>
          </a:xfrm>
          <a:prstGeom prst="rect">
            <a:avLst/>
          </a:prstGeom>
          <a:noFill/>
        </p:spPr>
        <p:txBody>
          <a:bodyPr wrap="square" lIns="0" rIns="0" tIns="0" bIns="0" anchor="t">
            <a:spAutoFit/>
          </a:bodyPr>
          <a:lstStyle/>
          <a:p>
            <a:pPr algn="r">
              <a:lnSpc>
                <a:spcPct val="110000"/>
              </a:lnSpc>
              <a:spcAft>
                <a:spcPts val="400"/>
              </a:spcAft>
            </a:pPr>
            <a:r>
              <a:rPr sz="1700" b="0" i="0">
                <a:solidFill>
                  <a:srgbClr val="C4623A"/>
                </a:solidFill>
                <a:latin typeface="Fraunces"/>
              </a:rPr>
              <a:t>$149</a:t>
            </a:r>
          </a:p>
        </p:txBody>
      </p:sp>
      <p:sp>
        <p:nvSpPr>
          <p:cNvPr id="11" name="TextBox 10"/>
          <p:cNvSpPr txBox="1"/>
          <p:nvPr/>
        </p:nvSpPr>
        <p:spPr>
          <a:xfrm>
            <a:off x="548640" y="4617720"/>
            <a:ext cx="3611880" cy="118872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Clip-on, 42×42×14 mm, LED ring. 'Lite' design (D10): AI via phone over BLE; offline pre-generated stories. 1.5-day target.</a:t>
            </a:r>
          </a:p>
        </p:txBody>
      </p:sp>
      <p:sp>
        <p:nvSpPr>
          <p:cNvPr id="12" name="Rectangle 11"/>
          <p:cNvSpPr/>
          <p:nvPr/>
        </p:nvSpPr>
        <p:spPr>
          <a:xfrm>
            <a:off x="4270248" y="1600200"/>
            <a:ext cx="3611880" cy="2514600"/>
          </a:xfrm>
          <a:prstGeom prst="rect">
            <a:avLst/>
          </a:prstGeom>
          <a:solidFill>
            <a:srgbClr val="EE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ero-square.png"/>
          <p:cNvPicPr>
            <a:picLocks noChangeAspect="1"/>
          </p:cNvPicPr>
          <p:nvPr/>
        </p:nvPicPr>
        <p:blipFill>
          <a:blip r:embed="rId4"/>
          <a:stretch>
            <a:fillRect/>
          </a:stretch>
        </p:blipFill>
        <p:spPr>
          <a:xfrm>
            <a:off x="4332247" y="1645920"/>
            <a:ext cx="3487881" cy="2423160"/>
          </a:xfrm>
          <a:prstGeom prst="rect">
            <a:avLst/>
          </a:prstGeom>
        </p:spPr>
      </p:pic>
      <p:sp>
        <p:nvSpPr>
          <p:cNvPr id="14" name="TextBox 13"/>
          <p:cNvSpPr txBox="1"/>
          <p:nvPr/>
        </p:nvSpPr>
        <p:spPr>
          <a:xfrm>
            <a:off x="4270248" y="4206240"/>
            <a:ext cx="2347722" cy="365760"/>
          </a:xfrm>
          <a:prstGeom prst="rect">
            <a:avLst/>
          </a:prstGeom>
          <a:noFill/>
        </p:spPr>
        <p:txBody>
          <a:bodyPr wrap="square" lIns="0" rIns="0" tIns="0" bIns="0" anchor="t">
            <a:spAutoFit/>
          </a:bodyPr>
          <a:lstStyle/>
          <a:p>
            <a:pPr algn="l">
              <a:lnSpc>
                <a:spcPct val="110000"/>
              </a:lnSpc>
              <a:spcAft>
                <a:spcPts val="400"/>
              </a:spcAft>
            </a:pPr>
            <a:r>
              <a:rPr sz="1700" b="0" i="0">
                <a:solidFill>
                  <a:srgbClr val="14161A"/>
                </a:solidFill>
                <a:latin typeface="Fraunces"/>
              </a:rPr>
              <a:t>LORE Square</a:t>
            </a:r>
          </a:p>
        </p:txBody>
      </p:sp>
      <p:sp>
        <p:nvSpPr>
          <p:cNvPr id="15" name="TextBox 14"/>
          <p:cNvSpPr txBox="1"/>
          <p:nvPr/>
        </p:nvSpPr>
        <p:spPr>
          <a:xfrm>
            <a:off x="6437376" y="4206240"/>
            <a:ext cx="1444752" cy="365760"/>
          </a:xfrm>
          <a:prstGeom prst="rect">
            <a:avLst/>
          </a:prstGeom>
          <a:noFill/>
        </p:spPr>
        <p:txBody>
          <a:bodyPr wrap="square" lIns="0" rIns="0" tIns="0" bIns="0" anchor="t">
            <a:spAutoFit/>
          </a:bodyPr>
          <a:lstStyle/>
          <a:p>
            <a:pPr algn="r">
              <a:lnSpc>
                <a:spcPct val="110000"/>
              </a:lnSpc>
              <a:spcAft>
                <a:spcPts val="400"/>
              </a:spcAft>
            </a:pPr>
            <a:r>
              <a:rPr sz="1700" b="0" i="0">
                <a:solidFill>
                  <a:srgbClr val="C4623A"/>
                </a:solidFill>
                <a:latin typeface="Fraunces"/>
              </a:rPr>
              <a:t>$299</a:t>
            </a:r>
          </a:p>
        </p:txBody>
      </p:sp>
      <p:sp>
        <p:nvSpPr>
          <p:cNvPr id="16" name="TextBox 15"/>
          <p:cNvSpPr txBox="1"/>
          <p:nvPr/>
        </p:nvSpPr>
        <p:spPr>
          <a:xfrm>
            <a:off x="4270248" y="4617720"/>
            <a:ext cx="3611880" cy="118872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54×54×12 mm aluminium, 1.6" AMOLED, crown. LTE Cat-1bis + global eSIM (D11), on-device 3B model. 2-day target.</a:t>
            </a:r>
          </a:p>
        </p:txBody>
      </p:sp>
      <p:sp>
        <p:nvSpPr>
          <p:cNvPr id="17" name="Rectangle 16"/>
          <p:cNvSpPr/>
          <p:nvPr/>
        </p:nvSpPr>
        <p:spPr>
          <a:xfrm>
            <a:off x="7991856" y="1600200"/>
            <a:ext cx="3611880" cy="2514600"/>
          </a:xfrm>
          <a:prstGeom prst="rect">
            <a:avLst/>
          </a:prstGeom>
          <a:solidFill>
            <a:srgbClr val="EE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ro-atlas.png"/>
          <p:cNvPicPr>
            <a:picLocks noChangeAspect="1"/>
          </p:cNvPicPr>
          <p:nvPr/>
        </p:nvPicPr>
        <p:blipFill>
          <a:blip r:embed="rId5"/>
          <a:stretch>
            <a:fillRect/>
          </a:stretch>
        </p:blipFill>
        <p:spPr>
          <a:xfrm>
            <a:off x="8053855" y="1645920"/>
            <a:ext cx="3487881" cy="2423160"/>
          </a:xfrm>
          <a:prstGeom prst="rect">
            <a:avLst/>
          </a:prstGeom>
        </p:spPr>
      </p:pic>
      <p:sp>
        <p:nvSpPr>
          <p:cNvPr id="19" name="TextBox 18"/>
          <p:cNvSpPr txBox="1"/>
          <p:nvPr/>
        </p:nvSpPr>
        <p:spPr>
          <a:xfrm>
            <a:off x="7991856" y="4206240"/>
            <a:ext cx="2347722" cy="365760"/>
          </a:xfrm>
          <a:prstGeom prst="rect">
            <a:avLst/>
          </a:prstGeom>
          <a:noFill/>
        </p:spPr>
        <p:txBody>
          <a:bodyPr wrap="square" lIns="0" rIns="0" tIns="0" bIns="0" anchor="t">
            <a:spAutoFit/>
          </a:bodyPr>
          <a:lstStyle/>
          <a:p>
            <a:pPr algn="l">
              <a:lnSpc>
                <a:spcPct val="110000"/>
              </a:lnSpc>
              <a:spcAft>
                <a:spcPts val="400"/>
              </a:spcAft>
            </a:pPr>
            <a:r>
              <a:rPr sz="1700" b="0" i="0">
                <a:solidFill>
                  <a:srgbClr val="14161A"/>
                </a:solidFill>
                <a:latin typeface="Fraunces"/>
              </a:rPr>
              <a:t>LORE Atlas</a:t>
            </a:r>
          </a:p>
        </p:txBody>
      </p:sp>
      <p:sp>
        <p:nvSpPr>
          <p:cNvPr id="20" name="TextBox 19"/>
          <p:cNvSpPr txBox="1"/>
          <p:nvPr/>
        </p:nvSpPr>
        <p:spPr>
          <a:xfrm>
            <a:off x="10158984" y="4206240"/>
            <a:ext cx="1444752" cy="365760"/>
          </a:xfrm>
          <a:prstGeom prst="rect">
            <a:avLst/>
          </a:prstGeom>
          <a:noFill/>
        </p:spPr>
        <p:txBody>
          <a:bodyPr wrap="square" lIns="0" rIns="0" tIns="0" bIns="0" anchor="t">
            <a:spAutoFit/>
          </a:bodyPr>
          <a:lstStyle/>
          <a:p>
            <a:pPr algn="r">
              <a:lnSpc>
                <a:spcPct val="110000"/>
              </a:lnSpc>
              <a:spcAft>
                <a:spcPts val="400"/>
              </a:spcAft>
            </a:pPr>
            <a:r>
              <a:rPr sz="1700" b="0" i="0">
                <a:solidFill>
                  <a:srgbClr val="C4623A"/>
                </a:solidFill>
                <a:latin typeface="Fraunces"/>
              </a:rPr>
              <a:t>$599</a:t>
            </a:r>
          </a:p>
        </p:txBody>
      </p:sp>
      <p:sp>
        <p:nvSpPr>
          <p:cNvPr id="21" name="TextBox 20"/>
          <p:cNvSpPr txBox="1"/>
          <p:nvPr/>
        </p:nvSpPr>
        <p:spPr>
          <a:xfrm>
            <a:off x="7991856" y="4617720"/>
            <a:ext cx="3611880" cy="118872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Titanium + sapphire, 13.5 mm (D12), Glance camera, satellite SOS (NTN). On-device 3-4B + vision. '2+ days'.</a:t>
            </a:r>
          </a:p>
        </p:txBody>
      </p:sp>
      <p:sp>
        <p:nvSpPr>
          <p:cNvPr id="22" name="TextBox 21"/>
          <p:cNvSpPr txBox="1"/>
          <p:nvPr/>
        </p:nvSpPr>
        <p:spPr>
          <a:xfrm>
            <a:off x="548640" y="5486400"/>
            <a:ext cx="11064240" cy="365760"/>
          </a:xfrm>
          <a:prstGeom prst="rect">
            <a:avLst/>
          </a:prstGeom>
          <a:noFill/>
        </p:spPr>
        <p:txBody>
          <a:bodyPr wrap="square" lIns="0" rIns="0" tIns="0" bIns="0" anchor="t">
            <a:spAutoFit/>
          </a:bodyPr>
          <a:lstStyle/>
          <a:p>
            <a:pPr algn="l">
              <a:lnSpc>
                <a:spcPct val="110000"/>
              </a:lnSpc>
              <a:spcAft>
                <a:spcPts val="400"/>
              </a:spcAft>
            </a:pPr>
            <a:r>
              <a:rPr sz="1150" b="1" i="0">
                <a:solidFill>
                  <a:srgbClr val="14161A"/>
                </a:solidFill>
                <a:latin typeface="Inter"/>
              </a:rPr>
              <a:t>LORE Pass: </a:t>
            </a:r>
            <a:r>
              <a:rPr sz="1150" b="0" i="0">
                <a:solidFill>
                  <a:srgbClr val="5A5D63"/>
                </a:solidFill>
                <a:latin typeface="Inter"/>
              </a:rPr>
              <a:t>Explorer $9.99/mo or $79/yr · Trip Pass $29 / 14 days / 5 GB · $49 / 30 days / 10 GB · free tier (3 cities). Every device includes 3 months of Explorer.  </a:t>
            </a:r>
            <a:r>
              <a:rPr sz="1150" b="1" i="0">
                <a:solidFill>
                  <a:srgbClr val="14161A"/>
                </a:solidFill>
                <a:latin typeface="Inter"/>
              </a:rPr>
              <a:t>LORE Kit </a:t>
            </a:r>
            <a:r>
              <a:rPr sz="1150" b="0" i="0">
                <a:solidFill>
                  <a:srgbClr val="5A5D63"/>
                </a:solidFill>
                <a:latin typeface="Inter"/>
              </a:rPr>
              <a:t>accessories incl. LORE Buds $129.</a:t>
            </a:r>
          </a:p>
        </p:txBody>
      </p:sp>
      <p:sp>
        <p:nvSpPr>
          <p:cNvPr id="23" name="TextBox 22"/>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Renders: design/industrial/renders (concept renders, not production units). Specs: COMPANY.md, hardware/README.md, decisions D8, D10-D12.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HOW MAP VISION WORKS</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LORE 'sees' without a camera: sensor fusion + map geometry.</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06</a:t>
            </a:r>
          </a:p>
        </p:txBody>
      </p:sp>
      <p:sp>
        <p:nvSpPr>
          <p:cNvPr id="7" name="Rounded Rectangle 6"/>
          <p:cNvSpPr/>
          <p:nvPr/>
        </p:nvSpPr>
        <p:spPr>
          <a:xfrm>
            <a:off x="548640" y="1645920"/>
            <a:ext cx="3017520" cy="457200"/>
          </a:xfrm>
          <a:prstGeom prst="roundRect">
            <a:avLst>
              <a:gd name="adj" fmla="val 30000"/>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45920"/>
            <a:ext cx="2834640" cy="457200"/>
          </a:xfrm>
          <a:prstGeom prst="rect">
            <a:avLst/>
          </a:prstGeom>
          <a:noFill/>
        </p:spPr>
        <p:txBody>
          <a:bodyPr wrap="square" lIns="0" rIns="0" tIns="0" bIns="0" anchor="ctr">
            <a:spAutoFit/>
          </a:bodyPr>
          <a:lstStyle/>
          <a:p>
            <a:pPr algn="l">
              <a:lnSpc>
                <a:spcPct val="110000"/>
              </a:lnSpc>
              <a:spcAft>
                <a:spcPts val="400"/>
              </a:spcAft>
            </a:pPr>
            <a:r>
              <a:rPr sz="1150" b="0" i="0">
                <a:solidFill>
                  <a:srgbClr val="14161A"/>
                </a:solidFill>
                <a:latin typeface="Inter"/>
              </a:rPr>
              <a:t>Multi-band GNSS (L1+L5)</a:t>
            </a:r>
          </a:p>
        </p:txBody>
      </p:sp>
      <p:sp>
        <p:nvSpPr>
          <p:cNvPr id="9" name="Rectangle 8"/>
          <p:cNvSpPr/>
          <p:nvPr/>
        </p:nvSpPr>
        <p:spPr>
          <a:xfrm>
            <a:off x="3657600" y="1828800"/>
            <a:ext cx="457200" cy="914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212848"/>
            <a:ext cx="3017520" cy="457200"/>
          </a:xfrm>
          <a:prstGeom prst="roundRect">
            <a:avLst>
              <a:gd name="adj" fmla="val 30000"/>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12848"/>
            <a:ext cx="2834640" cy="457200"/>
          </a:xfrm>
          <a:prstGeom prst="rect">
            <a:avLst/>
          </a:prstGeom>
          <a:noFill/>
        </p:spPr>
        <p:txBody>
          <a:bodyPr wrap="square" lIns="0" rIns="0" tIns="0" bIns="0" anchor="ctr">
            <a:spAutoFit/>
          </a:bodyPr>
          <a:lstStyle/>
          <a:p>
            <a:pPr algn="l">
              <a:lnSpc>
                <a:spcPct val="110000"/>
              </a:lnSpc>
              <a:spcAft>
                <a:spcPts val="400"/>
              </a:spcAft>
            </a:pPr>
            <a:r>
              <a:rPr sz="1150" b="0" i="0">
                <a:solidFill>
                  <a:srgbClr val="14161A"/>
                </a:solidFill>
                <a:latin typeface="Inter"/>
              </a:rPr>
              <a:t>9-axis IMU + compass</a:t>
            </a:r>
          </a:p>
        </p:txBody>
      </p:sp>
      <p:sp>
        <p:nvSpPr>
          <p:cNvPr id="12" name="Rectangle 11"/>
          <p:cNvSpPr/>
          <p:nvPr/>
        </p:nvSpPr>
        <p:spPr>
          <a:xfrm>
            <a:off x="3657600" y="2395728"/>
            <a:ext cx="457200" cy="914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2779776"/>
            <a:ext cx="3017520" cy="457200"/>
          </a:xfrm>
          <a:prstGeom prst="roundRect">
            <a:avLst>
              <a:gd name="adj" fmla="val 30000"/>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9776"/>
            <a:ext cx="2834640" cy="457200"/>
          </a:xfrm>
          <a:prstGeom prst="rect">
            <a:avLst/>
          </a:prstGeom>
          <a:noFill/>
        </p:spPr>
        <p:txBody>
          <a:bodyPr wrap="square" lIns="0" rIns="0" tIns="0" bIns="0" anchor="ctr">
            <a:spAutoFit/>
          </a:bodyPr>
          <a:lstStyle/>
          <a:p>
            <a:pPr algn="l">
              <a:lnSpc>
                <a:spcPct val="110000"/>
              </a:lnSpc>
              <a:spcAft>
                <a:spcPts val="400"/>
              </a:spcAft>
            </a:pPr>
            <a:r>
              <a:rPr sz="1150" b="0" i="0">
                <a:solidFill>
                  <a:srgbClr val="14161A"/>
                </a:solidFill>
                <a:latin typeface="Inter"/>
              </a:rPr>
              <a:t>Step &amp; walking direction</a:t>
            </a:r>
          </a:p>
        </p:txBody>
      </p:sp>
      <p:sp>
        <p:nvSpPr>
          <p:cNvPr id="15" name="Rectangle 14"/>
          <p:cNvSpPr/>
          <p:nvPr/>
        </p:nvSpPr>
        <p:spPr>
          <a:xfrm>
            <a:off x="3657600" y="2962656"/>
            <a:ext cx="457200" cy="914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46704"/>
            <a:ext cx="3017520" cy="457200"/>
          </a:xfrm>
          <a:prstGeom prst="roundRect">
            <a:avLst>
              <a:gd name="adj" fmla="val 30000"/>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346704"/>
            <a:ext cx="2834640" cy="457200"/>
          </a:xfrm>
          <a:prstGeom prst="rect">
            <a:avLst/>
          </a:prstGeom>
          <a:noFill/>
        </p:spPr>
        <p:txBody>
          <a:bodyPr wrap="square" lIns="0" rIns="0" tIns="0" bIns="0" anchor="ctr">
            <a:spAutoFit/>
          </a:bodyPr>
          <a:lstStyle/>
          <a:p>
            <a:pPr algn="l">
              <a:lnSpc>
                <a:spcPct val="110000"/>
              </a:lnSpc>
              <a:spcAft>
                <a:spcPts val="400"/>
              </a:spcAft>
            </a:pPr>
            <a:r>
              <a:rPr sz="1150" b="0" i="0">
                <a:solidFill>
                  <a:srgbClr val="14161A"/>
                </a:solidFill>
                <a:latin typeface="Inter"/>
              </a:rPr>
              <a:t>Building footprints, street sides, entrances</a:t>
            </a:r>
          </a:p>
        </p:txBody>
      </p:sp>
      <p:sp>
        <p:nvSpPr>
          <p:cNvPr id="18" name="Rectangle 17"/>
          <p:cNvSpPr/>
          <p:nvPr/>
        </p:nvSpPr>
        <p:spPr>
          <a:xfrm>
            <a:off x="3657600" y="3529584"/>
            <a:ext cx="457200" cy="914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3913632"/>
            <a:ext cx="3017520" cy="457200"/>
          </a:xfrm>
          <a:prstGeom prst="roundRect">
            <a:avLst>
              <a:gd name="adj" fmla="val 30000"/>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13632"/>
            <a:ext cx="2834640" cy="457200"/>
          </a:xfrm>
          <a:prstGeom prst="rect">
            <a:avLst/>
          </a:prstGeom>
          <a:noFill/>
        </p:spPr>
        <p:txBody>
          <a:bodyPr wrap="square" lIns="0" rIns="0" tIns="0" bIns="0" anchor="ctr">
            <a:spAutoFit/>
          </a:bodyPr>
          <a:lstStyle/>
          <a:p>
            <a:pPr algn="l">
              <a:lnSpc>
                <a:spcPct val="110000"/>
              </a:lnSpc>
              <a:spcAft>
                <a:spcPts val="400"/>
              </a:spcAft>
            </a:pPr>
            <a:r>
              <a:rPr sz="1150" b="0" i="0">
                <a:solidFill>
                  <a:srgbClr val="14161A"/>
                </a:solidFill>
                <a:latin typeface="Inter"/>
              </a:rPr>
              <a:t>Places + live data</a:t>
            </a:r>
          </a:p>
        </p:txBody>
      </p:sp>
      <p:sp>
        <p:nvSpPr>
          <p:cNvPr id="21" name="Rectangle 20"/>
          <p:cNvSpPr/>
          <p:nvPr/>
        </p:nvSpPr>
        <p:spPr>
          <a:xfrm>
            <a:off x="3657600" y="4096512"/>
            <a:ext cx="457200" cy="914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51960" y="1645920"/>
            <a:ext cx="2651760" cy="2724912"/>
          </a:xfrm>
          <a:prstGeom prst="roundRect">
            <a:avLst>
              <a:gd name="adj" fmla="val 6000"/>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1783080"/>
            <a:ext cx="2286000" cy="2468880"/>
          </a:xfrm>
          <a:prstGeom prst="rect">
            <a:avLst/>
          </a:prstGeom>
          <a:noFill/>
        </p:spPr>
        <p:txBody>
          <a:bodyPr wrap="square" lIns="0" rIns="0" tIns="0" bIns="0" anchor="t">
            <a:spAutoFit/>
          </a:bodyPr>
          <a:lstStyle/>
          <a:p>
            <a:pPr algn="l">
              <a:lnSpc>
                <a:spcPct val="110000"/>
              </a:lnSpc>
              <a:spcAft>
                <a:spcPts val="300"/>
              </a:spcAft>
            </a:pPr>
            <a:r>
              <a:rPr sz="1500" b="1" i="0">
                <a:solidFill>
                  <a:srgbClr val="F3EEE6"/>
                </a:solidFill>
                <a:latin typeface="Inter"/>
              </a:rPr>
              <a:t>Heading fusion</a:t>
            </a:r>
          </a:p>
          <a:p>
            <a:pPr algn="l">
              <a:lnSpc>
                <a:spcPct val="110000"/>
              </a:lnSpc>
              <a:spcAft>
                <a:spcPts val="300"/>
              </a:spcAft>
            </a:pPr>
            <a:r>
              <a:rPr sz="1050" b="0" i="0">
                <a:solidFill>
                  <a:srgbClr val="9AA0A6"/>
                </a:solidFill>
                <a:latin typeface="Inter"/>
              </a:rPr>
              <a:t>Kalman filter: heading + compass bias; rejects magnetic disturbance.</a:t>
            </a:r>
          </a:p>
          <a:p>
            <a:pPr algn="l">
              <a:lnSpc>
                <a:spcPct val="110000"/>
              </a:lnSpc>
              <a:spcAft>
                <a:spcPts val="300"/>
              </a:spcAft>
            </a:pPr>
            <a:r>
              <a:rPr sz="1500" b="1" i="0">
                <a:solidFill>
                  <a:srgbClr val="F3EEE6"/>
                </a:solidFill>
                <a:latin typeface="Inter"/>
              </a:rPr>
              <a:t>Story engine</a:t>
            </a:r>
          </a:p>
          <a:p>
            <a:pPr algn="l">
              <a:lnSpc>
                <a:spcPct val="110000"/>
              </a:lnSpc>
              <a:spcAft>
                <a:spcPts val="300"/>
              </a:spcAft>
            </a:pPr>
            <a:r>
              <a:rPr sz="1050" b="0" i="0">
                <a:solidFill>
                  <a:srgbClr val="9AA0A6"/>
                </a:solidFill>
                <a:latin typeface="Inter"/>
              </a:rPr>
              <a:t>Interest, distance, visibility, novelty, cooldowns, quiet moments (crossing / talking).</a:t>
            </a:r>
          </a:p>
          <a:p>
            <a:pPr algn="l">
              <a:lnSpc>
                <a:spcPct val="110000"/>
              </a:lnSpc>
              <a:spcAft>
                <a:spcPts val="300"/>
              </a:spcAft>
            </a:pPr>
            <a:r>
              <a:rPr sz="1500" b="1" i="0">
                <a:solidFill>
                  <a:srgbClr val="F3EEE6"/>
                </a:solidFill>
                <a:latin typeface="Inter"/>
              </a:rPr>
              <a:t>Fact guard</a:t>
            </a:r>
          </a:p>
          <a:p>
            <a:pPr algn="l">
              <a:lnSpc>
                <a:spcPct val="110000"/>
              </a:lnSpc>
              <a:spcAft>
                <a:spcPts val="300"/>
              </a:spcAft>
            </a:pPr>
            <a:r>
              <a:rPr sz="1050" b="0" i="0">
                <a:solidFill>
                  <a:srgbClr val="9AA0A6"/>
                </a:solidFill>
                <a:latin typeface="Inter"/>
              </a:rPr>
              <a:t>Narration may use ONLY the selected fact cards; else a deterministic template.</a:t>
            </a:r>
          </a:p>
        </p:txBody>
      </p:sp>
      <p:sp>
        <p:nvSpPr>
          <p:cNvPr id="24" name="Rectangle 23"/>
          <p:cNvSpPr/>
          <p:nvPr/>
        </p:nvSpPr>
        <p:spPr>
          <a:xfrm>
            <a:off x="6995160" y="2926080"/>
            <a:ext cx="457200" cy="914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691640"/>
            <a:ext cx="4114800" cy="1097280"/>
          </a:xfrm>
          <a:prstGeom prst="rect">
            <a:avLst/>
          </a:prstGeom>
          <a:noFill/>
        </p:spPr>
        <p:txBody>
          <a:bodyPr wrap="square" lIns="0" rIns="0" tIns="0" bIns="0" anchor="t">
            <a:spAutoFit/>
          </a:bodyPr>
          <a:lstStyle/>
          <a:p>
            <a:pPr algn="l">
              <a:lnSpc>
                <a:spcPct val="110000"/>
              </a:lnSpc>
              <a:spcAft>
                <a:spcPts val="400"/>
              </a:spcAft>
            </a:pPr>
            <a:r>
              <a:rPr sz="1800" b="0" i="0">
                <a:solidFill>
                  <a:srgbClr val="C4623A"/>
                </a:solidFill>
                <a:latin typeface="Fraunces"/>
              </a:rPr>
              <a:t>left · right · ahead · behind · look up</a:t>
            </a:r>
          </a:p>
        </p:txBody>
      </p:sp>
      <p:sp>
        <p:nvSpPr>
          <p:cNvPr id="26" name="TextBox 25"/>
          <p:cNvSpPr txBox="1"/>
          <p:nvPr/>
        </p:nvSpPr>
        <p:spPr>
          <a:xfrm>
            <a:off x="7543800" y="2148840"/>
            <a:ext cx="4114800" cy="2194560"/>
          </a:xfrm>
          <a:prstGeom prst="rect">
            <a:avLst/>
          </a:prstGeom>
          <a:noFill/>
        </p:spPr>
        <p:txBody>
          <a:bodyPr wrap="square" lIns="0" rIns="0" tIns="0" bIns="0" anchor="t">
            <a:spAutoFit/>
          </a:bodyPr>
          <a:lstStyle/>
          <a:p>
            <a:pPr algn="l">
              <a:lnSpc>
                <a:spcPct val="115000"/>
              </a:lnSpc>
              <a:spcAft>
                <a:spcPts val="600"/>
              </a:spcAft>
            </a:pPr>
            <a:r>
              <a:rPr sz="1150" b="1" i="0">
                <a:solidFill>
                  <a:srgbClr val="14161A"/>
                </a:solidFill>
                <a:latin typeface="Inter"/>
              </a:rPr>
              <a:t>Simulated accuracy (hardware/simulations): </a:t>
            </a:r>
            <a:r>
              <a:rPr sz="1150" b="0" i="0">
                <a:solidFill>
                  <a:srgbClr val="5A5D63"/>
                </a:solidFill>
                <a:latin typeface="Inter"/>
              </a:rPr>
              <a:t>left/right 99.9% with EKF + map-matching + L1/L5; EKF alone 98.9%; L1+L5 adds 3-7 points over L1-only.</a:t>
            </a:r>
          </a:p>
          <a:p>
            <a:pPr algn="l">
              <a:lnSpc>
                <a:spcPct val="115000"/>
              </a:lnSpc>
              <a:spcAft>
                <a:spcPts val="600"/>
              </a:spcAft>
            </a:pPr>
            <a:r>
              <a:rPr sz="1150" b="1" i="0">
                <a:solidFill>
                  <a:srgbClr val="14161A"/>
                </a:solidFill>
                <a:latin typeface="Inter"/>
              </a:rPr>
              <a:t>Prototype walk (software sim): </a:t>
            </a:r>
            <a:r>
              <a:rPr sz="1150" b="0" i="0">
                <a:solidFill>
                  <a:srgbClr val="5A5D63"/>
                </a:solidFill>
                <a:latin typeface="Inter"/>
              </a:rPr>
              <a:t>direction 100% vs ground truth; fused heading error mean 4.3°, p95 12.7°.</a:t>
            </a:r>
          </a:p>
          <a:p>
            <a:pPr algn="l">
              <a:lnSpc>
                <a:spcPct val="115000"/>
              </a:lnSpc>
              <a:spcAft>
                <a:spcPts val="600"/>
              </a:spcAft>
            </a:pPr>
            <a:r>
              <a:rPr sz="1150" b="1" i="0">
                <a:solidFill>
                  <a:srgbClr val="14161A"/>
                </a:solidFill>
                <a:latin typeface="Inter"/>
              </a:rPr>
              <a:t>Gate G1 bar on real walks: </a:t>
            </a:r>
            <a:r>
              <a:rPr sz="1150" b="0" i="0">
                <a:solidFill>
                  <a:srgbClr val="5A5D63"/>
                </a:solidFill>
                <a:latin typeface="Inter"/>
              </a:rPr>
              <a:t>≥90%. D3 kill line: &lt;85%.</a:t>
            </a:r>
          </a:p>
        </p:txBody>
      </p:sp>
      <p:sp>
        <p:nvSpPr>
          <p:cNvPr id="27" name="Rectangle 26"/>
          <p:cNvSpPr/>
          <p:nvPr/>
        </p:nvSpPr>
        <p:spPr>
          <a:xfrm>
            <a:off x="548640" y="4663440"/>
            <a:ext cx="11064240" cy="118872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773168"/>
            <a:ext cx="10607040" cy="1005840"/>
          </a:xfrm>
          <a:prstGeom prst="rect">
            <a:avLst/>
          </a:prstGeom>
          <a:noFill/>
        </p:spPr>
        <p:txBody>
          <a:bodyPr wrap="square" lIns="0" rIns="0" tIns="0" bIns="0" anchor="t">
            <a:spAutoFit/>
          </a:bodyPr>
          <a:lstStyle/>
          <a:p>
            <a:pPr algn="l">
              <a:lnSpc>
                <a:spcPct val="110000"/>
              </a:lnSpc>
              <a:spcAft>
                <a:spcPts val="400"/>
              </a:spcAft>
            </a:pPr>
            <a:r>
              <a:rPr sz="1150" b="1" i="0">
                <a:solidFill>
                  <a:srgbClr val="14161A"/>
                </a:solidFill>
                <a:latin typeface="Inter"/>
              </a:rPr>
              <a:t>Why no camera on the first models (D3): </a:t>
            </a:r>
            <a:r>
              <a:rPr sz="1150" b="0" i="0">
                <a:solidFill>
                  <a:srgbClr val="5A5D63"/>
                </a:solidFill>
                <a:latin typeface="Inter"/>
              </a:rPr>
              <a:t>avoids privacy problems, cost and battery drain. Only Atlas adds an opt-in 'Glance' camera. Patent provisionals planned before any public demo: P1 Map Vision, P2 quiet-moment (legal-ops/ip-strategy.md).</a:t>
            </a:r>
          </a:p>
          <a:p>
            <a:pPr algn="l">
              <a:lnSpc>
                <a:spcPct val="110000"/>
              </a:lnSpc>
              <a:spcAft>
                <a:spcPts val="400"/>
              </a:spcAft>
            </a:pPr>
            <a:r>
              <a:rPr sz="1150" b="1" i="0">
                <a:solidFill>
                  <a:srgbClr val="C4623A"/>
                </a:solidFill>
                <a:latin typeface="Inter"/>
              </a:rPr>
              <a:t>Caveat: </a:t>
            </a:r>
            <a:r>
              <a:rPr sz="1150" b="0" i="0">
                <a:solidFill>
                  <a:srgbClr val="5A5D63"/>
                </a:solidFill>
                <a:latin typeface="Inter"/>
              </a:rPr>
              <a:t>all accuracy figures are SIMULATED. Real-walk validation in Rome starts with the EVT beta (Q1 2027).</a:t>
            </a:r>
          </a:p>
        </p:txBody>
      </p:sp>
      <p:sp>
        <p:nvSpPr>
          <p:cNvPr id="29" name="TextBox 28"/>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hardware/README.md, hardware/simulations/results.md, software/packages/core (heading-fusion.ts, story-engine.ts, narration.ts).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DEMO: THE WORKING ROME PROTOTYPE</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The real story engine, walking Pantheon to Trevi (1.93 km).</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07</a:t>
            </a:r>
          </a:p>
        </p:txBody>
      </p:sp>
      <p:pic>
        <p:nvPicPr>
          <p:cNvPr id="7" name="Picture 6" descr="shot-pantheon.png"/>
          <p:cNvPicPr>
            <a:picLocks noChangeAspect="1"/>
          </p:cNvPicPr>
          <p:nvPr/>
        </p:nvPicPr>
        <p:blipFill>
          <a:blip r:embed="rId3"/>
          <a:stretch>
            <a:fillRect/>
          </a:stretch>
        </p:blipFill>
        <p:spPr>
          <a:xfrm>
            <a:off x="548640" y="1608406"/>
            <a:ext cx="1463040" cy="3001107"/>
          </a:xfrm>
          <a:prstGeom prst="rect">
            <a:avLst/>
          </a:prstGeom>
        </p:spPr>
      </p:pic>
      <p:pic>
        <p:nvPicPr>
          <p:cNvPr id="8" name="Picture 7" descr="shot-navona.png"/>
          <p:cNvPicPr>
            <a:picLocks noChangeAspect="1"/>
          </p:cNvPicPr>
          <p:nvPr/>
        </p:nvPicPr>
        <p:blipFill>
          <a:blip r:embed="rId4"/>
          <a:stretch>
            <a:fillRect/>
          </a:stretch>
        </p:blipFill>
        <p:spPr>
          <a:xfrm>
            <a:off x="2121408" y="1608406"/>
            <a:ext cx="1463040" cy="3001107"/>
          </a:xfrm>
          <a:prstGeom prst="rect">
            <a:avLst/>
          </a:prstGeom>
        </p:spPr>
      </p:pic>
      <p:pic>
        <p:nvPicPr>
          <p:cNvPr id="9" name="Picture 8" descr="shot-around.png"/>
          <p:cNvPicPr>
            <a:picLocks noChangeAspect="1"/>
          </p:cNvPicPr>
          <p:nvPr/>
        </p:nvPicPr>
        <p:blipFill>
          <a:blip r:embed="rId5"/>
          <a:stretch>
            <a:fillRect/>
          </a:stretch>
        </p:blipFill>
        <p:spPr>
          <a:xfrm>
            <a:off x="3694176" y="1608406"/>
            <a:ext cx="1463040" cy="3001107"/>
          </a:xfrm>
          <a:prstGeom prst="rect">
            <a:avLst/>
          </a:prstGeom>
        </p:spPr>
      </p:pic>
      <p:pic>
        <p:nvPicPr>
          <p:cNvPr id="10" name="Picture 9" descr="shot-dark.png"/>
          <p:cNvPicPr>
            <a:picLocks noChangeAspect="1"/>
          </p:cNvPicPr>
          <p:nvPr/>
        </p:nvPicPr>
        <p:blipFill>
          <a:blip r:embed="rId6"/>
          <a:stretch>
            <a:fillRect/>
          </a:stretch>
        </p:blipFill>
        <p:spPr>
          <a:xfrm>
            <a:off x="5266944" y="1608406"/>
            <a:ext cx="1463040" cy="3001107"/>
          </a:xfrm>
          <a:prstGeom prst="rect">
            <a:avLst/>
          </a:prstGeom>
        </p:spPr>
      </p:pic>
      <p:sp>
        <p:nvSpPr>
          <p:cNvPr id="11" name="TextBox 10"/>
          <p:cNvSpPr txBox="1"/>
          <p:nvPr/>
        </p:nvSpPr>
        <p:spPr>
          <a:xfrm>
            <a:off x="548640" y="4709160"/>
            <a:ext cx="6217920" cy="548640"/>
          </a:xfrm>
          <a:prstGeom prst="rect">
            <a:avLst/>
          </a:prstGeom>
          <a:noFill/>
        </p:spPr>
        <p:txBody>
          <a:bodyPr wrap="square" lIns="0" rIns="0" tIns="0" bIns="0" anchor="t">
            <a:spAutoFit/>
          </a:bodyPr>
          <a:lstStyle/>
          <a:p>
            <a:pPr algn="l">
              <a:lnSpc>
                <a:spcPct val="110000"/>
              </a:lnSpc>
              <a:spcAft>
                <a:spcPts val="400"/>
              </a:spcAft>
            </a:pPr>
            <a:r>
              <a:rPr sz="1000" b="0" i="0">
                <a:solidFill>
                  <a:srgbClr val="5A5D63"/>
                </a:solidFill>
                <a:latin typeface="Inter"/>
              </a:rPr>
              <a:t>Simulation mode, phone viewport: Pantheon · Piazza Navona · 'What's around me' at Largo Argentina · dark 'storyteller' persona.</a:t>
            </a:r>
          </a:p>
        </p:txBody>
      </p:sp>
      <p:sp>
        <p:nvSpPr>
          <p:cNvPr id="12" name="TextBox 11"/>
          <p:cNvSpPr txBox="1"/>
          <p:nvPr/>
        </p:nvSpPr>
        <p:spPr>
          <a:xfrm>
            <a:off x="7040880" y="1600200"/>
            <a:ext cx="4572000" cy="365760"/>
          </a:xfrm>
          <a:prstGeom prst="rect">
            <a:avLst/>
          </a:prstGeom>
          <a:noFill/>
        </p:spPr>
        <p:txBody>
          <a:bodyPr wrap="square" lIns="0" rIns="0" tIns="0" bIns="0" anchor="t">
            <a:spAutoFit/>
          </a:bodyPr>
          <a:lstStyle/>
          <a:p>
            <a:pPr algn="l">
              <a:lnSpc>
                <a:spcPct val="110000"/>
              </a:lnSpc>
              <a:spcAft>
                <a:spcPts val="400"/>
              </a:spcAft>
            </a:pPr>
            <a:r>
              <a:rPr sz="1300" b="1" i="0">
                <a:solidFill>
                  <a:srgbClr val="14161A"/>
                </a:solidFill>
                <a:latin typeface="Inter"/>
              </a:rPr>
              <a:t>Walk-simulation metrics (SIMULATED)</a:t>
            </a:r>
          </a:p>
        </p:txBody>
      </p:sp>
      <p:sp>
        <p:nvSpPr>
          <p:cNvPr id="13" name="Rectangle 12"/>
          <p:cNvSpPr/>
          <p:nvPr/>
        </p:nvSpPr>
        <p:spPr>
          <a:xfrm>
            <a:off x="7040880" y="2011680"/>
            <a:ext cx="4617720" cy="338328"/>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011680"/>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F3EEE6"/>
                </a:solidFill>
                <a:latin typeface="Inter"/>
              </a:rPr>
              <a:t>Metric</a:t>
            </a:r>
          </a:p>
        </p:txBody>
      </p:sp>
      <p:sp>
        <p:nvSpPr>
          <p:cNvPr id="15" name="TextBox 14"/>
          <p:cNvSpPr txBox="1"/>
          <p:nvPr/>
        </p:nvSpPr>
        <p:spPr>
          <a:xfrm>
            <a:off x="9738360" y="2011680"/>
            <a:ext cx="1874520" cy="338328"/>
          </a:xfrm>
          <a:prstGeom prst="rect">
            <a:avLst/>
          </a:prstGeom>
          <a:noFill/>
        </p:spPr>
        <p:txBody>
          <a:bodyPr wrap="square" lIns="0" rIns="0" tIns="0" bIns="0" anchor="ctr">
            <a:spAutoFit/>
          </a:bodyPr>
          <a:lstStyle/>
          <a:p>
            <a:pPr algn="r">
              <a:lnSpc>
                <a:spcPct val="110000"/>
              </a:lnSpc>
              <a:spcAft>
                <a:spcPts val="400"/>
              </a:spcAft>
            </a:pPr>
            <a:r>
              <a:rPr sz="1100" b="1" i="0">
                <a:solidFill>
                  <a:srgbClr val="F3EEE6"/>
                </a:solidFill>
                <a:latin typeface="Inter"/>
              </a:rPr>
              <a:t>Value</a:t>
            </a:r>
          </a:p>
        </p:txBody>
      </p:sp>
      <p:sp>
        <p:nvSpPr>
          <p:cNvPr id="16" name="TextBox 15"/>
          <p:cNvSpPr txBox="1"/>
          <p:nvPr/>
        </p:nvSpPr>
        <p:spPr>
          <a:xfrm>
            <a:off x="7132320" y="2350008"/>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Narrations</a:t>
            </a:r>
          </a:p>
        </p:txBody>
      </p:sp>
      <p:sp>
        <p:nvSpPr>
          <p:cNvPr id="17" name="TextBox 16"/>
          <p:cNvSpPr txBox="1"/>
          <p:nvPr/>
        </p:nvSpPr>
        <p:spPr>
          <a:xfrm>
            <a:off x="9738360" y="2350008"/>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17 (8.8 / km)</a:t>
            </a:r>
          </a:p>
        </p:txBody>
      </p:sp>
      <p:sp>
        <p:nvSpPr>
          <p:cNvPr id="18" name="Rectangle 17"/>
          <p:cNvSpPr/>
          <p:nvPr/>
        </p:nvSpPr>
        <p:spPr>
          <a:xfrm>
            <a:off x="7040880" y="2688336"/>
            <a:ext cx="4617720" cy="33832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2688336"/>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Facts spoken / repeats</a:t>
            </a:r>
          </a:p>
        </p:txBody>
      </p:sp>
      <p:sp>
        <p:nvSpPr>
          <p:cNvPr id="20" name="TextBox 19"/>
          <p:cNvSpPr txBox="1"/>
          <p:nvPr/>
        </p:nvSpPr>
        <p:spPr>
          <a:xfrm>
            <a:off x="9738360" y="2688336"/>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39 / 0.0%</a:t>
            </a:r>
          </a:p>
        </p:txBody>
      </p:sp>
      <p:sp>
        <p:nvSpPr>
          <p:cNvPr id="21" name="TextBox 20"/>
          <p:cNvSpPr txBox="1"/>
          <p:nvPr/>
        </p:nvSpPr>
        <p:spPr>
          <a:xfrm>
            <a:off x="7132320" y="3026664"/>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Quiet-moment compliance</a:t>
            </a:r>
          </a:p>
        </p:txBody>
      </p:sp>
      <p:sp>
        <p:nvSpPr>
          <p:cNvPr id="22" name="TextBox 21"/>
          <p:cNvSpPr txBox="1"/>
          <p:nvPr/>
        </p:nvSpPr>
        <p:spPr>
          <a:xfrm>
            <a:off x="9738360" y="3026664"/>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100% (0 violations)</a:t>
            </a:r>
          </a:p>
        </p:txBody>
      </p:sp>
      <p:sp>
        <p:nvSpPr>
          <p:cNvPr id="23" name="Rectangle 22"/>
          <p:cNvSpPr/>
          <p:nvPr/>
        </p:nvSpPr>
        <p:spPr>
          <a:xfrm>
            <a:off x="7040880" y="3364992"/>
            <a:ext cx="4617720" cy="33832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0" y="3364992"/>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Direction accuracy vs truth</a:t>
            </a:r>
          </a:p>
        </p:txBody>
      </p:sp>
      <p:sp>
        <p:nvSpPr>
          <p:cNvPr id="25" name="TextBox 24"/>
          <p:cNvSpPr txBox="1"/>
          <p:nvPr/>
        </p:nvSpPr>
        <p:spPr>
          <a:xfrm>
            <a:off x="9738360" y="3364992"/>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100%</a:t>
            </a:r>
          </a:p>
        </p:txBody>
      </p:sp>
      <p:sp>
        <p:nvSpPr>
          <p:cNvPr id="26" name="TextBox 25"/>
          <p:cNvSpPr txBox="1"/>
          <p:nvPr/>
        </p:nvSpPr>
        <p:spPr>
          <a:xfrm>
            <a:off x="7132320" y="3703320"/>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Fused heading error</a:t>
            </a:r>
          </a:p>
        </p:txBody>
      </p:sp>
      <p:sp>
        <p:nvSpPr>
          <p:cNvPr id="27" name="TextBox 26"/>
          <p:cNvSpPr txBox="1"/>
          <p:nvPr/>
        </p:nvSpPr>
        <p:spPr>
          <a:xfrm>
            <a:off x="9738360" y="3703320"/>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4.3° mean · 12.7° p95</a:t>
            </a:r>
          </a:p>
        </p:txBody>
      </p:sp>
      <p:sp>
        <p:nvSpPr>
          <p:cNvPr id="28" name="Rectangle 27"/>
          <p:cNvSpPr/>
          <p:nvPr/>
        </p:nvSpPr>
        <p:spPr>
          <a:xfrm>
            <a:off x="7040880" y="4041648"/>
            <a:ext cx="4617720" cy="33832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0" y="4041648"/>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Share of time speaking</a:t>
            </a:r>
          </a:p>
        </p:txBody>
      </p:sp>
      <p:sp>
        <p:nvSpPr>
          <p:cNvPr id="30" name="TextBox 29"/>
          <p:cNvSpPr txBox="1"/>
          <p:nvPr/>
        </p:nvSpPr>
        <p:spPr>
          <a:xfrm>
            <a:off x="9738360" y="4041648"/>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26%</a:t>
            </a:r>
          </a:p>
        </p:txBody>
      </p:sp>
      <p:sp>
        <p:nvSpPr>
          <p:cNvPr id="31" name="TextBox 30"/>
          <p:cNvSpPr txBox="1"/>
          <p:nvPr/>
        </p:nvSpPr>
        <p:spPr>
          <a:xfrm>
            <a:off x="7132320" y="4379976"/>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Rome City Pack</a:t>
            </a:r>
          </a:p>
        </p:txBody>
      </p:sp>
      <p:sp>
        <p:nvSpPr>
          <p:cNvPr id="32" name="TextBox 31"/>
          <p:cNvSpPr txBox="1"/>
          <p:nvPr/>
        </p:nvSpPr>
        <p:spPr>
          <a:xfrm>
            <a:off x="9738360" y="4379976"/>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86 POIs · 215 fact cards</a:t>
            </a:r>
          </a:p>
        </p:txBody>
      </p:sp>
      <p:sp>
        <p:nvSpPr>
          <p:cNvPr id="33" name="Rectangle 32"/>
          <p:cNvSpPr/>
          <p:nvPr/>
        </p:nvSpPr>
        <p:spPr>
          <a:xfrm>
            <a:off x="7040880" y="4718304"/>
            <a:ext cx="4617720" cy="33832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0" y="4718304"/>
            <a:ext cx="2468880" cy="33832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Tests passing</a:t>
            </a:r>
          </a:p>
        </p:txBody>
      </p:sp>
      <p:sp>
        <p:nvSpPr>
          <p:cNvPr id="35" name="TextBox 34"/>
          <p:cNvSpPr txBox="1"/>
          <p:nvPr/>
        </p:nvSpPr>
        <p:spPr>
          <a:xfrm>
            <a:off x="9738360" y="4718304"/>
            <a:ext cx="1874520" cy="338328"/>
          </a:xfrm>
          <a:prstGeom prst="rect">
            <a:avLst/>
          </a:prstGeom>
          <a:noFill/>
        </p:spPr>
        <p:txBody>
          <a:bodyPr wrap="square" lIns="0" rIns="0" tIns="0" bIns="0" anchor="ctr">
            <a:spAutoFit/>
          </a:bodyPr>
          <a:lstStyle/>
          <a:p>
            <a:pPr algn="r">
              <a:lnSpc>
                <a:spcPct val="110000"/>
              </a:lnSpc>
              <a:spcAft>
                <a:spcPts val="400"/>
              </a:spcAft>
            </a:pPr>
            <a:r>
              <a:rPr sz="1100" b="0" i="0">
                <a:solidFill>
                  <a:srgbClr val="14161A"/>
                </a:solidFill>
                <a:latin typeface="Inter"/>
              </a:rPr>
              <a:t>61 vitest + 16 pytest</a:t>
            </a:r>
          </a:p>
        </p:txBody>
      </p:sp>
      <p:sp>
        <p:nvSpPr>
          <p:cNvPr id="36" name="Rectangle 35"/>
          <p:cNvSpPr/>
          <p:nvPr/>
        </p:nvSpPr>
        <p:spPr>
          <a:xfrm>
            <a:off x="7040880" y="5056632"/>
            <a:ext cx="4617720" cy="9000"/>
          </a:xfrm>
          <a:prstGeom prst="rect">
            <a:avLst/>
          </a:prstGeom>
          <a:solidFill>
            <a:srgbClr val="DD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257800"/>
            <a:ext cx="11064240" cy="731520"/>
          </a:xfrm>
          <a:prstGeom prst="rect">
            <a:avLst/>
          </a:prstGeom>
          <a:noFill/>
        </p:spPr>
        <p:txBody>
          <a:bodyPr wrap="square" lIns="0" rIns="0" tIns="0" bIns="0" anchor="t">
            <a:spAutoFit/>
          </a:bodyPr>
          <a:lstStyle/>
          <a:p>
            <a:pPr algn="l">
              <a:lnSpc>
                <a:spcPct val="110000"/>
              </a:lnSpc>
              <a:spcAft>
                <a:spcPts val="400"/>
              </a:spcAft>
            </a:pPr>
            <a:r>
              <a:rPr sz="1150" b="1" i="0">
                <a:solidFill>
                  <a:srgbClr val="C4623A"/>
                </a:solidFill>
                <a:latin typeface="Inter"/>
              </a:rPr>
              <a:t>What is not proven yet: </a:t>
            </a:r>
            <a:r>
              <a:rPr sz="1150" b="0" i="0">
                <a:solidFill>
                  <a:srgbClr val="5A5D63"/>
                </a:solidFill>
                <a:latin typeface="Inter"/>
              </a:rPr>
              <a:t>no real-user walks, no EVT hardware. Seed facts are curated with Wikipedia citations but still need an online verify pass and editorial review before customers hear them. Gate G0 (Nov 2026-Jan 2027): 20 Rome walk tests + 200 remote sim users.</a:t>
            </a:r>
          </a:p>
        </p:txBody>
      </p:sp>
      <p:sp>
        <p:nvSpPr>
          <p:cNvPr id="38" name="TextBox 37"/>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software/README.md, software/apps/prototype/screenshots/, software/simulations/output/rome-walk-transcript.md.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MARKET</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A $10.7B/yr job market today; we size the beachhead bottom-up.</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08</a:t>
            </a:r>
          </a:p>
        </p:txBody>
      </p:sp>
      <p:sp>
        <p:nvSpPr>
          <p:cNvPr id="7" name="TextBox 6"/>
          <p:cNvSpPr txBox="1"/>
          <p:nvPr/>
        </p:nvSpPr>
        <p:spPr>
          <a:xfrm>
            <a:off x="548640" y="1554480"/>
            <a:ext cx="3840480" cy="64008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$10.7B</a:t>
            </a:r>
          </a:p>
        </p:txBody>
      </p:sp>
      <p:sp>
        <p:nvSpPr>
          <p:cNvPr id="8" name="TextBox 7"/>
          <p:cNvSpPr txBox="1"/>
          <p:nvPr/>
        </p:nvSpPr>
        <p:spPr>
          <a:xfrm>
            <a:off x="548640" y="2212848"/>
            <a:ext cx="384048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TAM (top-down, 2027): eSIM, audio guides, travel safety, AI-companion, self-guided tours</a:t>
            </a:r>
          </a:p>
        </p:txBody>
      </p:sp>
      <p:sp>
        <p:nvSpPr>
          <p:cNvPr id="9" name="TextBox 8"/>
          <p:cNvSpPr txBox="1"/>
          <p:nvPr/>
        </p:nvSpPr>
        <p:spPr>
          <a:xfrm>
            <a:off x="548640" y="2606040"/>
            <a:ext cx="3840480" cy="64008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$24.0B</a:t>
            </a:r>
          </a:p>
        </p:txBody>
      </p:sp>
      <p:sp>
        <p:nvSpPr>
          <p:cNvPr id="10" name="TextBox 9"/>
          <p:cNvSpPr txBox="1"/>
          <p:nvPr/>
        </p:nvSpPr>
        <p:spPr>
          <a:xfrm>
            <a:off x="548640" y="3264408"/>
            <a:ext cx="384048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TAM (bottom-up): 145M frequent international travellers × $165 ARPU</a:t>
            </a:r>
          </a:p>
        </p:txBody>
      </p:sp>
      <p:sp>
        <p:nvSpPr>
          <p:cNvPr id="11" name="TextBox 10"/>
          <p:cNvSpPr txBox="1"/>
          <p:nvPr/>
        </p:nvSpPr>
        <p:spPr>
          <a:xfrm>
            <a:off x="548640" y="3657600"/>
            <a:ext cx="3840480" cy="64008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$1.44B</a:t>
            </a:r>
          </a:p>
        </p:txBody>
      </p:sp>
      <p:sp>
        <p:nvSpPr>
          <p:cNvPr id="12" name="TextBox 11"/>
          <p:cNvSpPr txBox="1"/>
          <p:nvPr/>
        </p:nvSpPr>
        <p:spPr>
          <a:xfrm>
            <a:off x="548640" y="4315968"/>
            <a:ext cx="384048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SAM: 8.7M solo/independent travellers, 2+ trips/yr, US/CA/UK/EU/AU-NZ, will pay $150+</a:t>
            </a:r>
          </a:p>
        </p:txBody>
      </p:sp>
      <p:sp>
        <p:nvSpPr>
          <p:cNvPr id="13" name="TextBox 12"/>
          <p:cNvSpPr txBox="1"/>
          <p:nvPr/>
        </p:nvSpPr>
        <p:spPr>
          <a:xfrm>
            <a:off x="548640" y="4709160"/>
            <a:ext cx="3840480" cy="640080"/>
          </a:xfrm>
          <a:prstGeom prst="rect">
            <a:avLst/>
          </a:prstGeom>
          <a:noFill/>
        </p:spPr>
        <p:txBody>
          <a:bodyPr wrap="square" lIns="0" rIns="0" tIns="0" bIns="0" anchor="t">
            <a:spAutoFit/>
          </a:bodyPr>
          <a:lstStyle/>
          <a:p>
            <a:pPr algn="l">
              <a:lnSpc>
                <a:spcPct val="110000"/>
              </a:lnSpc>
              <a:spcAft>
                <a:spcPts val="400"/>
              </a:spcAft>
            </a:pPr>
            <a:r>
              <a:rPr sz="3000" b="0" i="0">
                <a:solidFill>
                  <a:srgbClr val="C4623A"/>
                </a:solidFill>
                <a:latin typeface="Fraunces"/>
              </a:rPr>
              <a:t>$93M</a:t>
            </a:r>
          </a:p>
        </p:txBody>
      </p:sp>
      <p:sp>
        <p:nvSpPr>
          <p:cNvPr id="14" name="TextBox 13"/>
          <p:cNvSpPr txBox="1"/>
          <p:nvPr/>
        </p:nvSpPr>
        <p:spPr>
          <a:xfrm>
            <a:off x="548640" y="5367528"/>
            <a:ext cx="384048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SOM 2030 base: 250k units in 2030, 415k cumulative (4.7% of SAM). Bear $46M / Bull $148M</a:t>
            </a:r>
          </a:p>
        </p:txBody>
      </p:sp>
      <p:sp>
        <p:nvSpPr>
          <p:cNvPr id="15" name="Rectangle 14"/>
          <p:cNvSpPr/>
          <p:nvPr/>
        </p:nvSpPr>
        <p:spPr>
          <a:xfrm>
            <a:off x="4663440" y="1600200"/>
            <a:ext cx="6949440" cy="3429000"/>
          </a:xfrm>
          <a:prstGeom prst="rect">
            <a:avLst/>
          </a:prstGeom>
          <a:solidFill>
            <a:srgbClr val="FFFFFF"/>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arket-size-waterfall.png"/>
          <p:cNvPicPr>
            <a:picLocks noChangeAspect="1"/>
          </p:cNvPicPr>
          <p:nvPr/>
        </p:nvPicPr>
        <p:blipFill>
          <a:blip r:embed="rId3"/>
          <a:stretch>
            <a:fillRect/>
          </a:stretch>
        </p:blipFill>
        <p:spPr>
          <a:xfrm>
            <a:off x="4754880" y="1857287"/>
            <a:ext cx="6766560" cy="2914825"/>
          </a:xfrm>
          <a:prstGeom prst="rect">
            <a:avLst/>
          </a:prstGeom>
        </p:spPr>
      </p:pic>
      <p:sp>
        <p:nvSpPr>
          <p:cNvPr id="17" name="TextBox 16"/>
          <p:cNvSpPr txBox="1"/>
          <p:nvPr/>
        </p:nvSpPr>
        <p:spPr>
          <a:xfrm>
            <a:off x="4663440" y="5166360"/>
            <a:ext cx="6949440" cy="82296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Tailwinds: 1.52B international arrivals in 2025 (+4%); top-100 city arrivals +8%; travel eSIM $1.8B (2025, +85%) → $8.7B (2030); solo-travel spend ~$482B (2024) → ~$1.07T (2030).</a:t>
            </a:r>
          </a:p>
        </p:txBody>
      </p:sp>
      <p:sp>
        <p:nvSpPr>
          <p:cNvPr id="18" name="TextBox 17"/>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 research/market-sizing.md (all figures cited with URLs there), research/charts/market-size-waterfall.png. SOM is a Research estimate [EST].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COMPETITION AND POSITIONING</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3000" b="0" i="0">
                <a:solidFill>
                  <a:srgbClr val="14161A"/>
                </a:solidFill>
                <a:latin typeface="Fraunces"/>
              </a:rPr>
              <a:t>Nothing else is standalone, travel-first and verified.</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09</a:t>
            </a:r>
          </a:p>
        </p:txBody>
      </p:sp>
      <p:sp>
        <p:nvSpPr>
          <p:cNvPr id="7" name="Rectangle 6"/>
          <p:cNvSpPr/>
          <p:nvPr/>
        </p:nvSpPr>
        <p:spPr>
          <a:xfrm>
            <a:off x="548640" y="1554480"/>
            <a:ext cx="5120640" cy="4114800"/>
          </a:xfrm>
          <a:prstGeom prst="rect">
            <a:avLst/>
          </a:prstGeom>
          <a:solidFill>
            <a:srgbClr val="FFFFFF"/>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sitioning-map.png"/>
          <p:cNvPicPr>
            <a:picLocks noChangeAspect="1"/>
          </p:cNvPicPr>
          <p:nvPr/>
        </p:nvPicPr>
        <p:blipFill>
          <a:blip r:embed="rId3"/>
          <a:stretch>
            <a:fillRect/>
          </a:stretch>
        </p:blipFill>
        <p:spPr>
          <a:xfrm>
            <a:off x="640080" y="1636776"/>
            <a:ext cx="4937760" cy="3950208"/>
          </a:xfrm>
          <a:prstGeom prst="rect">
            <a:avLst/>
          </a:prstGeom>
        </p:spPr>
      </p:pic>
      <p:sp>
        <p:nvSpPr>
          <p:cNvPr id="9" name="Rectangle 8"/>
          <p:cNvSpPr/>
          <p:nvPr/>
        </p:nvSpPr>
        <p:spPr>
          <a:xfrm>
            <a:off x="5897880" y="1554480"/>
            <a:ext cx="5760720" cy="502920"/>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554480"/>
            <a:ext cx="20116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F3EEE6"/>
                </a:solidFill>
                <a:latin typeface="Inter"/>
              </a:rPr>
              <a:t>Threat</a:t>
            </a:r>
          </a:p>
        </p:txBody>
      </p:sp>
      <p:sp>
        <p:nvSpPr>
          <p:cNvPr id="11" name="TextBox 10"/>
          <p:cNvSpPr txBox="1"/>
          <p:nvPr/>
        </p:nvSpPr>
        <p:spPr>
          <a:xfrm>
            <a:off x="8138160" y="1554480"/>
            <a:ext cx="15544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F3EEE6"/>
                </a:solidFill>
                <a:latin typeface="Inter"/>
              </a:rPr>
              <a:t>What it is</a:t>
            </a:r>
          </a:p>
        </p:txBody>
      </p:sp>
      <p:sp>
        <p:nvSpPr>
          <p:cNvPr id="12" name="TextBox 11"/>
          <p:cNvSpPr txBox="1"/>
          <p:nvPr/>
        </p:nvSpPr>
        <p:spPr>
          <a:xfrm>
            <a:off x="9829800" y="1554480"/>
            <a:ext cx="17830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F3EEE6"/>
                </a:solidFill>
                <a:latin typeface="Inter"/>
              </a:rPr>
              <a:t>Our answer</a:t>
            </a:r>
          </a:p>
        </p:txBody>
      </p:sp>
      <p:sp>
        <p:nvSpPr>
          <p:cNvPr id="13" name="TextBox 12"/>
          <p:cNvSpPr txBox="1"/>
          <p:nvPr/>
        </p:nvSpPr>
        <p:spPr>
          <a:xfrm>
            <a:off x="5989320" y="2057400"/>
            <a:ext cx="20116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14161A"/>
                </a:solidFill>
                <a:latin typeface="Inter"/>
              </a:rPr>
              <a:t>Google/Samsung Gemini glasses + Maps</a:t>
            </a:r>
          </a:p>
        </p:txBody>
      </p:sp>
      <p:sp>
        <p:nvSpPr>
          <p:cNvPr id="14" name="TextBox 13"/>
          <p:cNvSpPr txBox="1"/>
          <p:nvPr/>
        </p:nvSpPr>
        <p:spPr>
          <a:xfrm>
            <a:off x="8138160" y="2057400"/>
            <a:ext cx="15544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Fall 2026; camera + assistant</a:t>
            </a:r>
          </a:p>
        </p:txBody>
      </p:sp>
      <p:sp>
        <p:nvSpPr>
          <p:cNvPr id="15" name="TextBox 14"/>
          <p:cNvSpPr txBox="1"/>
          <p:nvPr/>
        </p:nvSpPr>
        <p:spPr>
          <a:xfrm>
            <a:off x="9829800" y="2057400"/>
            <a:ext cx="17830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Travel brain; works with any audio</a:t>
            </a:r>
          </a:p>
        </p:txBody>
      </p:sp>
      <p:sp>
        <p:nvSpPr>
          <p:cNvPr id="16" name="Rectangle 15"/>
          <p:cNvSpPr/>
          <p:nvPr/>
        </p:nvSpPr>
        <p:spPr>
          <a:xfrm>
            <a:off x="5897880" y="2560320"/>
            <a:ext cx="5760720" cy="50292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560320"/>
            <a:ext cx="20116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14161A"/>
                </a:solidFill>
                <a:latin typeface="Inter"/>
              </a:rPr>
              <a:t>Meta Ray-Ban / Display</a:t>
            </a:r>
          </a:p>
        </p:txBody>
      </p:sp>
      <p:sp>
        <p:nvSpPr>
          <p:cNvPr id="18" name="TextBox 17"/>
          <p:cNvSpPr txBox="1"/>
          <p:nvPr/>
        </p:nvSpPr>
        <p:spPr>
          <a:xfrm>
            <a:off x="8138160" y="2560320"/>
            <a:ext cx="15544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~7M glasses sold 2025</a:t>
            </a:r>
          </a:p>
        </p:txBody>
      </p:sp>
      <p:sp>
        <p:nvSpPr>
          <p:cNvPr id="19" name="TextBox 18"/>
          <p:cNvSpPr txBox="1"/>
          <p:nvPr/>
        </p:nvSpPr>
        <p:spPr>
          <a:xfrm>
            <a:off x="9829800" y="2560320"/>
            <a:ext cx="17830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No camera needed; $149 entry</a:t>
            </a:r>
          </a:p>
        </p:txBody>
      </p:sp>
      <p:sp>
        <p:nvSpPr>
          <p:cNvPr id="20" name="TextBox 19"/>
          <p:cNvSpPr txBox="1"/>
          <p:nvPr/>
        </p:nvSpPr>
        <p:spPr>
          <a:xfrm>
            <a:off x="5989320" y="3063240"/>
            <a:ext cx="20116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14161A"/>
                </a:solidFill>
                <a:latin typeface="Inter"/>
              </a:rPr>
              <a:t>Phone + AI-guide app + eSIM</a:t>
            </a:r>
          </a:p>
        </p:txBody>
      </p:sp>
      <p:sp>
        <p:nvSpPr>
          <p:cNvPr id="21" name="TextBox 20"/>
          <p:cNvSpPr txBox="1"/>
          <p:nvPr/>
        </p:nvSpPr>
        <p:spPr>
          <a:xfrm>
            <a:off x="8138160" y="3063240"/>
            <a:ext cx="15544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Audiala $4.99/mo + Airalo</a:t>
            </a:r>
          </a:p>
        </p:txBody>
      </p:sp>
      <p:sp>
        <p:nvSpPr>
          <p:cNvPr id="22" name="TextBox 21"/>
          <p:cNvSpPr txBox="1"/>
          <p:nvPr/>
        </p:nvSpPr>
        <p:spPr>
          <a:xfrm>
            <a:off x="9829800" y="3063240"/>
            <a:ext cx="17830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Battery, theft, eyes-up, SOS</a:t>
            </a:r>
          </a:p>
        </p:txBody>
      </p:sp>
      <p:sp>
        <p:nvSpPr>
          <p:cNvPr id="23" name="Rectangle 22"/>
          <p:cNvSpPr/>
          <p:nvPr/>
        </p:nvSpPr>
        <p:spPr>
          <a:xfrm>
            <a:off x="5897880" y="3566160"/>
            <a:ext cx="5760720" cy="502920"/>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566160"/>
            <a:ext cx="2011680" cy="502920"/>
          </a:xfrm>
          <a:prstGeom prst="rect">
            <a:avLst/>
          </a:prstGeom>
          <a:noFill/>
        </p:spPr>
        <p:txBody>
          <a:bodyPr wrap="square" lIns="0" rIns="0" tIns="0" bIns="0" anchor="ctr">
            <a:spAutoFit/>
          </a:bodyPr>
          <a:lstStyle/>
          <a:p>
            <a:pPr algn="l">
              <a:lnSpc>
                <a:spcPct val="110000"/>
              </a:lnSpc>
              <a:spcAft>
                <a:spcPts val="400"/>
              </a:spcAft>
            </a:pPr>
            <a:r>
              <a:rPr sz="950" b="1" i="0">
                <a:solidFill>
                  <a:srgbClr val="14161A"/>
                </a:solidFill>
                <a:latin typeface="Inter"/>
              </a:rPr>
              <a:t>OpenAI io device</a:t>
            </a:r>
          </a:p>
        </p:txBody>
      </p:sp>
      <p:sp>
        <p:nvSpPr>
          <p:cNvPr id="25" name="TextBox 24"/>
          <p:cNvSpPr txBox="1"/>
          <p:nvPr/>
        </p:nvSpPr>
        <p:spPr>
          <a:xfrm>
            <a:off x="8138160" y="3566160"/>
            <a:ext cx="15544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H2 2026-27 (narrative)</a:t>
            </a:r>
          </a:p>
        </p:txBody>
      </p:sp>
      <p:sp>
        <p:nvSpPr>
          <p:cNvPr id="26" name="TextBox 25"/>
          <p:cNvSpPr txBox="1"/>
          <p:nvPr/>
        </p:nvSpPr>
        <p:spPr>
          <a:xfrm>
            <a:off x="9829800" y="3566160"/>
            <a:ext cx="1783080" cy="502920"/>
          </a:xfrm>
          <a:prstGeom prst="rect">
            <a:avLst/>
          </a:prstGeom>
          <a:noFill/>
        </p:spPr>
        <p:txBody>
          <a:bodyPr wrap="square" lIns="0" rIns="0" tIns="0" bIns="0" anchor="ctr">
            <a:spAutoFit/>
          </a:bodyPr>
          <a:lstStyle/>
          <a:p>
            <a:pPr algn="l">
              <a:lnSpc>
                <a:spcPct val="110000"/>
              </a:lnSpc>
              <a:spcAft>
                <a:spcPts val="400"/>
              </a:spcAft>
            </a:pPr>
            <a:r>
              <a:rPr sz="950" b="0" i="0">
                <a:solidFill>
                  <a:srgbClr val="14161A"/>
                </a:solidFill>
                <a:latin typeface="Inter"/>
              </a:rPr>
              <a:t>Narrow job; verified facts</a:t>
            </a:r>
          </a:p>
        </p:txBody>
      </p:sp>
      <p:sp>
        <p:nvSpPr>
          <p:cNvPr id="27" name="Rectangle 26"/>
          <p:cNvSpPr/>
          <p:nvPr/>
        </p:nvSpPr>
        <p:spPr>
          <a:xfrm>
            <a:off x="5897880" y="4069080"/>
            <a:ext cx="5760720" cy="9000"/>
          </a:xfrm>
          <a:prstGeom prst="rect">
            <a:avLst/>
          </a:prstGeom>
          <a:solidFill>
            <a:srgbClr val="DD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97880" y="4251960"/>
            <a:ext cx="5760720" cy="1463040"/>
          </a:xfrm>
          <a:prstGeom prst="rect">
            <a:avLst/>
          </a:prstGeom>
          <a:noFill/>
        </p:spPr>
        <p:txBody>
          <a:bodyPr wrap="square" lIns="0" rIns="0" tIns="0" bIns="0" anchor="t">
            <a:spAutoFit/>
          </a:bodyPr>
          <a:lstStyle/>
          <a:p>
            <a:pPr algn="l">
              <a:lnSpc>
                <a:spcPct val="112000"/>
              </a:lnSpc>
              <a:spcAft>
                <a:spcPts val="400"/>
              </a:spcAft>
            </a:pPr>
            <a:r>
              <a:rPr sz="1100" b="1" i="0">
                <a:solidFill>
                  <a:srgbClr val="14161A"/>
                </a:solidFill>
                <a:latin typeface="Inter"/>
              </a:rPr>
              <a:t>Lessons we design against: </a:t>
            </a:r>
            <a:r>
              <a:rPr sz="1100" b="0" i="0">
                <a:solidFill>
                  <a:srgbClr val="5A5D63"/>
                </a:solidFill>
                <a:latin typeface="Inter"/>
              </a:rPr>
              <a:t>Humane (~10k units; assets sold to HP for $116M) and Rabbit (~130k sold, ~5% daily use) shipped general assistants with no daily job. Plaud (&gt;1M devices, ~$250M run-rate) shows one narrow job + clip-on + subscription works.</a:t>
            </a:r>
          </a:p>
          <a:p>
            <a:pPr algn="l">
              <a:lnSpc>
                <a:spcPct val="112000"/>
              </a:lnSpc>
              <a:spcAft>
                <a:spcPts val="400"/>
              </a:spcAft>
            </a:pPr>
            <a:r>
              <a:rPr sz="1100" b="1" i="0">
                <a:solidFill>
                  <a:srgbClr val="14161A"/>
                </a:solidFill>
                <a:latin typeface="Inter"/>
              </a:rPr>
              <a:t>Moat we are building: </a:t>
            </a:r>
            <a:r>
              <a:rPr sz="1100" b="0" i="0">
                <a:solidFill>
                  <a:srgbClr val="5A5D63"/>
                </a:solidFill>
                <a:latin typeface="Inter"/>
              </a:rPr>
              <a:t>sourced City Packs and the fact-checking process; Map Vision IP; brand.</a:t>
            </a:r>
          </a:p>
        </p:txBody>
      </p:sp>
      <p:sp>
        <p:nvSpPr>
          <p:cNvPr id="29" name="TextBox 28"/>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 research/competitors.md (30-product matrix, URLs inside), research/charts/positioning-map.png.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BUSINESS MODEL AND PRICING</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3000" b="0" i="0">
                <a:solidFill>
                  <a:srgbClr val="14161A"/>
                </a:solidFill>
                <a:latin typeface="Fraunces"/>
              </a:rPr>
              <a:t>Hardware gets us in; LORE Pass and bookings compound.</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10</a:t>
            </a:r>
          </a:p>
        </p:txBody>
      </p:sp>
      <p:sp>
        <p:nvSpPr>
          <p:cNvPr id="7" name="Rectangle 6"/>
          <p:cNvSpPr/>
          <p:nvPr/>
        </p:nvSpPr>
        <p:spPr>
          <a:xfrm>
            <a:off x="548640" y="1600200"/>
            <a:ext cx="7772400" cy="438912"/>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22402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F3EEE6"/>
                </a:solidFill>
                <a:latin typeface="Inter"/>
              </a:rPr>
              <a:t/>
            </a:r>
          </a:p>
        </p:txBody>
      </p:sp>
      <p:sp>
        <p:nvSpPr>
          <p:cNvPr id="9" name="TextBox 8"/>
          <p:cNvSpPr txBox="1"/>
          <p:nvPr/>
        </p:nvSpPr>
        <p:spPr>
          <a:xfrm>
            <a:off x="3017520" y="1600200"/>
            <a:ext cx="1463040" cy="438912"/>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Pebble</a:t>
            </a:r>
          </a:p>
        </p:txBody>
      </p:sp>
      <p:sp>
        <p:nvSpPr>
          <p:cNvPr id="10" name="TextBox 9"/>
          <p:cNvSpPr txBox="1"/>
          <p:nvPr/>
        </p:nvSpPr>
        <p:spPr>
          <a:xfrm>
            <a:off x="4617720" y="1600200"/>
            <a:ext cx="1463040" cy="438912"/>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Square</a:t>
            </a:r>
          </a:p>
        </p:txBody>
      </p:sp>
      <p:sp>
        <p:nvSpPr>
          <p:cNvPr id="11" name="TextBox 10"/>
          <p:cNvSpPr txBox="1"/>
          <p:nvPr/>
        </p:nvSpPr>
        <p:spPr>
          <a:xfrm>
            <a:off x="6217920" y="1600200"/>
            <a:ext cx="2057400" cy="438912"/>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Atlas</a:t>
            </a:r>
          </a:p>
        </p:txBody>
      </p:sp>
      <p:sp>
        <p:nvSpPr>
          <p:cNvPr id="12" name="TextBox 11"/>
          <p:cNvSpPr txBox="1"/>
          <p:nvPr/>
        </p:nvSpPr>
        <p:spPr>
          <a:xfrm>
            <a:off x="640080" y="2039112"/>
            <a:ext cx="22402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US price</a:t>
            </a:r>
          </a:p>
        </p:txBody>
      </p:sp>
      <p:sp>
        <p:nvSpPr>
          <p:cNvPr id="13" name="TextBox 12"/>
          <p:cNvSpPr txBox="1"/>
          <p:nvPr/>
        </p:nvSpPr>
        <p:spPr>
          <a:xfrm>
            <a:off x="3017520" y="2039112"/>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$149</a:t>
            </a:r>
          </a:p>
        </p:txBody>
      </p:sp>
      <p:sp>
        <p:nvSpPr>
          <p:cNvPr id="14" name="TextBox 13"/>
          <p:cNvSpPr txBox="1"/>
          <p:nvPr/>
        </p:nvSpPr>
        <p:spPr>
          <a:xfrm>
            <a:off x="4617720" y="2039112"/>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$299</a:t>
            </a:r>
          </a:p>
        </p:txBody>
      </p:sp>
      <p:sp>
        <p:nvSpPr>
          <p:cNvPr id="15" name="TextBox 14"/>
          <p:cNvSpPr txBox="1"/>
          <p:nvPr/>
        </p:nvSpPr>
        <p:spPr>
          <a:xfrm>
            <a:off x="6217920" y="2039112"/>
            <a:ext cx="205740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$599</a:t>
            </a:r>
          </a:p>
        </p:txBody>
      </p:sp>
      <p:sp>
        <p:nvSpPr>
          <p:cNvPr id="16" name="Rectangle 15"/>
          <p:cNvSpPr/>
          <p:nvPr/>
        </p:nvSpPr>
        <p:spPr>
          <a:xfrm>
            <a:off x="548640" y="2478024"/>
            <a:ext cx="7772400" cy="438912"/>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478024"/>
            <a:ext cx="22402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Kickstarter super early bird</a:t>
            </a:r>
          </a:p>
        </p:txBody>
      </p:sp>
      <p:sp>
        <p:nvSpPr>
          <p:cNvPr id="18" name="TextBox 17"/>
          <p:cNvSpPr txBox="1"/>
          <p:nvPr/>
        </p:nvSpPr>
        <p:spPr>
          <a:xfrm>
            <a:off x="3017520" y="2478024"/>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$99</a:t>
            </a:r>
          </a:p>
        </p:txBody>
      </p:sp>
      <p:sp>
        <p:nvSpPr>
          <p:cNvPr id="19" name="TextBox 18"/>
          <p:cNvSpPr txBox="1"/>
          <p:nvPr/>
        </p:nvSpPr>
        <p:spPr>
          <a:xfrm>
            <a:off x="4617720" y="2478024"/>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$199</a:t>
            </a:r>
          </a:p>
        </p:txBody>
      </p:sp>
      <p:sp>
        <p:nvSpPr>
          <p:cNvPr id="20" name="TextBox 19"/>
          <p:cNvSpPr txBox="1"/>
          <p:nvPr/>
        </p:nvSpPr>
        <p:spPr>
          <a:xfrm>
            <a:off x="6217920" y="2478024"/>
            <a:ext cx="205740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$399</a:t>
            </a:r>
          </a:p>
        </p:txBody>
      </p:sp>
      <p:sp>
        <p:nvSpPr>
          <p:cNvPr id="21" name="TextBox 20"/>
          <p:cNvSpPr txBox="1"/>
          <p:nvPr/>
        </p:nvSpPr>
        <p:spPr>
          <a:xfrm>
            <a:off x="640080" y="2916936"/>
            <a:ext cx="22402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EU / UK</a:t>
            </a:r>
          </a:p>
        </p:txBody>
      </p:sp>
      <p:sp>
        <p:nvSpPr>
          <p:cNvPr id="22" name="TextBox 21"/>
          <p:cNvSpPr txBox="1"/>
          <p:nvPr/>
        </p:nvSpPr>
        <p:spPr>
          <a:xfrm>
            <a:off x="3017520" y="2916936"/>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€159 / £149</a:t>
            </a:r>
          </a:p>
        </p:txBody>
      </p:sp>
      <p:sp>
        <p:nvSpPr>
          <p:cNvPr id="23" name="TextBox 22"/>
          <p:cNvSpPr txBox="1"/>
          <p:nvPr/>
        </p:nvSpPr>
        <p:spPr>
          <a:xfrm>
            <a:off x="4617720" y="2916936"/>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€329 / £299</a:t>
            </a:r>
          </a:p>
        </p:txBody>
      </p:sp>
      <p:sp>
        <p:nvSpPr>
          <p:cNvPr id="24" name="TextBox 23"/>
          <p:cNvSpPr txBox="1"/>
          <p:nvPr/>
        </p:nvSpPr>
        <p:spPr>
          <a:xfrm>
            <a:off x="6217920" y="2916936"/>
            <a:ext cx="205740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€649 / £599</a:t>
            </a:r>
          </a:p>
        </p:txBody>
      </p:sp>
      <p:sp>
        <p:nvSpPr>
          <p:cNvPr id="25" name="Rectangle 24"/>
          <p:cNvSpPr/>
          <p:nvPr/>
        </p:nvSpPr>
        <p:spPr>
          <a:xfrm>
            <a:off x="548640" y="3355848"/>
            <a:ext cx="7772400" cy="438912"/>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355848"/>
            <a:ext cx="22402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Price anchor</a:t>
            </a:r>
          </a:p>
        </p:txBody>
      </p:sp>
      <p:sp>
        <p:nvSpPr>
          <p:cNvPr id="27" name="TextBox 26"/>
          <p:cNvSpPr txBox="1"/>
          <p:nvPr/>
        </p:nvSpPr>
        <p:spPr>
          <a:xfrm>
            <a:off x="3017520" y="3355848"/>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Plaud NotePin S $179</a:t>
            </a:r>
          </a:p>
        </p:txBody>
      </p:sp>
      <p:sp>
        <p:nvSpPr>
          <p:cNvPr id="28" name="TextBox 27"/>
          <p:cNvSpPr txBox="1"/>
          <p:nvPr/>
        </p:nvSpPr>
        <p:spPr>
          <a:xfrm>
            <a:off x="4617720" y="3355848"/>
            <a:ext cx="146304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Pocketalk Plus $299.95</a:t>
            </a:r>
          </a:p>
        </p:txBody>
      </p:sp>
      <p:sp>
        <p:nvSpPr>
          <p:cNvPr id="29" name="TextBox 28"/>
          <p:cNvSpPr txBox="1"/>
          <p:nvPr/>
        </p:nvSpPr>
        <p:spPr>
          <a:xfrm>
            <a:off x="6217920" y="3355848"/>
            <a:ext cx="2057400" cy="438912"/>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inReach Mini 3+ $499 / Watch Ultra $799</a:t>
            </a:r>
          </a:p>
        </p:txBody>
      </p:sp>
      <p:sp>
        <p:nvSpPr>
          <p:cNvPr id="30" name="Rectangle 29"/>
          <p:cNvSpPr/>
          <p:nvPr/>
        </p:nvSpPr>
        <p:spPr>
          <a:xfrm>
            <a:off x="548640" y="3794760"/>
            <a:ext cx="7772400" cy="9000"/>
          </a:xfrm>
          <a:prstGeom prst="rect">
            <a:avLst/>
          </a:prstGeom>
          <a:solidFill>
            <a:srgbClr val="DD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49640" y="1600200"/>
            <a:ext cx="3090672" cy="694944"/>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49640" y="1600200"/>
            <a:ext cx="54864" cy="694944"/>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32520" y="1655064"/>
            <a:ext cx="283464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14161A"/>
                </a:solidFill>
                <a:latin typeface="Inter"/>
              </a:rPr>
              <a:t>Hardware</a:t>
            </a:r>
          </a:p>
        </p:txBody>
      </p:sp>
      <p:sp>
        <p:nvSpPr>
          <p:cNvPr id="34" name="TextBox 33"/>
          <p:cNvSpPr txBox="1"/>
          <p:nvPr/>
        </p:nvSpPr>
        <p:spPr>
          <a:xfrm>
            <a:off x="8732520" y="1901952"/>
            <a:ext cx="2834640" cy="411480"/>
          </a:xfrm>
          <a:prstGeom prst="rect">
            <a:avLst/>
          </a:prstGeom>
          <a:noFill/>
        </p:spPr>
        <p:txBody>
          <a:bodyPr wrap="square" lIns="0" rIns="0" tIns="0" bIns="0" anchor="t">
            <a:spAutoFit/>
          </a:bodyPr>
          <a:lstStyle/>
          <a:p>
            <a:pPr algn="l">
              <a:lnSpc>
                <a:spcPct val="110000"/>
              </a:lnSpc>
              <a:spcAft>
                <a:spcPts val="400"/>
              </a:spcAft>
            </a:pPr>
            <a:r>
              <a:rPr sz="950" b="0" i="0">
                <a:solidFill>
                  <a:srgbClr val="5A5D63"/>
                </a:solidFill>
                <a:latin typeface="Inter"/>
              </a:rPr>
              <a:t>DTC first; retail after returns &lt;5%, led by Pebble + Atlas (D15)</a:t>
            </a:r>
          </a:p>
        </p:txBody>
      </p:sp>
      <p:sp>
        <p:nvSpPr>
          <p:cNvPr id="35" name="Rectangle 34"/>
          <p:cNvSpPr/>
          <p:nvPr/>
        </p:nvSpPr>
        <p:spPr>
          <a:xfrm>
            <a:off x="8549640" y="2386584"/>
            <a:ext cx="3090672" cy="694944"/>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549640" y="2386584"/>
            <a:ext cx="54864" cy="694944"/>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32520" y="2441448"/>
            <a:ext cx="283464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14161A"/>
                </a:solidFill>
                <a:latin typeface="Inter"/>
              </a:rPr>
              <a:t>LORE Pass</a:t>
            </a:r>
          </a:p>
        </p:txBody>
      </p:sp>
      <p:sp>
        <p:nvSpPr>
          <p:cNvPr id="38" name="TextBox 37"/>
          <p:cNvSpPr txBox="1"/>
          <p:nvPr/>
        </p:nvSpPr>
        <p:spPr>
          <a:xfrm>
            <a:off x="8732520" y="2688336"/>
            <a:ext cx="2834640" cy="411480"/>
          </a:xfrm>
          <a:prstGeom prst="rect">
            <a:avLst/>
          </a:prstGeom>
          <a:noFill/>
        </p:spPr>
        <p:txBody>
          <a:bodyPr wrap="square" lIns="0" rIns="0" tIns="0" bIns="0" anchor="t">
            <a:spAutoFit/>
          </a:bodyPr>
          <a:lstStyle/>
          <a:p>
            <a:pPr algn="l">
              <a:lnSpc>
                <a:spcPct val="110000"/>
              </a:lnSpc>
              <a:spcAft>
                <a:spcPts val="400"/>
              </a:spcAft>
            </a:pPr>
            <a:r>
              <a:rPr sz="950" b="0" i="0">
                <a:solidFill>
                  <a:srgbClr val="5A5D63"/>
                </a:solidFill>
                <a:latin typeface="Inter"/>
              </a:rPr>
              <a:t>$9.99/mo · $79/yr · Trip Pass $29 / $49; 3 months free with every device</a:t>
            </a:r>
          </a:p>
        </p:txBody>
      </p:sp>
      <p:sp>
        <p:nvSpPr>
          <p:cNvPr id="39" name="Rectangle 38"/>
          <p:cNvSpPr/>
          <p:nvPr/>
        </p:nvSpPr>
        <p:spPr>
          <a:xfrm>
            <a:off x="8549640" y="3172968"/>
            <a:ext cx="3090672" cy="694944"/>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549640" y="3172968"/>
            <a:ext cx="54864" cy="694944"/>
          </a:xfrm>
          <a:prstGeom prst="rect">
            <a:avLst/>
          </a:prstGeom>
          <a:solidFill>
            <a:srgbClr val="5E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32520" y="3227832"/>
            <a:ext cx="283464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14161A"/>
                </a:solidFill>
                <a:latin typeface="Inter"/>
              </a:rPr>
              <a:t>LORE Kit</a:t>
            </a:r>
          </a:p>
        </p:txBody>
      </p:sp>
      <p:sp>
        <p:nvSpPr>
          <p:cNvPr id="42" name="TextBox 41"/>
          <p:cNvSpPr txBox="1"/>
          <p:nvPr/>
        </p:nvSpPr>
        <p:spPr>
          <a:xfrm>
            <a:off x="8732520" y="3474720"/>
            <a:ext cx="2834640" cy="411480"/>
          </a:xfrm>
          <a:prstGeom prst="rect">
            <a:avLst/>
          </a:prstGeom>
          <a:noFill/>
        </p:spPr>
        <p:txBody>
          <a:bodyPr wrap="square" lIns="0" rIns="0" tIns="0" bIns="0" anchor="t">
            <a:spAutoFit/>
          </a:bodyPr>
          <a:lstStyle/>
          <a:p>
            <a:pPr algn="l">
              <a:lnSpc>
                <a:spcPct val="110000"/>
              </a:lnSpc>
              <a:spcAft>
                <a:spcPts val="400"/>
              </a:spcAft>
            </a:pPr>
            <a:r>
              <a:rPr sz="950" b="0" i="0">
                <a:solidFill>
                  <a:srgbClr val="5A5D63"/>
                </a:solidFill>
                <a:latin typeface="Inter"/>
              </a:rPr>
              <a:t>Clip, lanyard, dock, case, LORE Buds $129, city bundles</a:t>
            </a:r>
          </a:p>
        </p:txBody>
      </p:sp>
      <p:sp>
        <p:nvSpPr>
          <p:cNvPr id="43" name="Rectangle 42"/>
          <p:cNvSpPr/>
          <p:nvPr/>
        </p:nvSpPr>
        <p:spPr>
          <a:xfrm>
            <a:off x="8549640" y="3959352"/>
            <a:ext cx="3090672" cy="694944"/>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549640" y="3959352"/>
            <a:ext cx="54864" cy="694944"/>
          </a:xfrm>
          <a:prstGeom prst="rect">
            <a:avLst/>
          </a:prstGeom>
          <a:solidFill>
            <a:srgbClr val="9AA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32520" y="4014216"/>
            <a:ext cx="283464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14161A"/>
                </a:solidFill>
                <a:latin typeface="Inter"/>
              </a:rPr>
              <a:t>Bookings</a:t>
            </a:r>
          </a:p>
        </p:txBody>
      </p:sp>
      <p:sp>
        <p:nvSpPr>
          <p:cNvPr id="46" name="TextBox 45"/>
          <p:cNvSpPr txBox="1"/>
          <p:nvPr/>
        </p:nvSpPr>
        <p:spPr>
          <a:xfrm>
            <a:off x="8732520" y="4261104"/>
            <a:ext cx="2834640" cy="411480"/>
          </a:xfrm>
          <a:prstGeom prst="rect">
            <a:avLst/>
          </a:prstGeom>
          <a:noFill/>
        </p:spPr>
        <p:txBody>
          <a:bodyPr wrap="square" lIns="0" rIns="0" tIns="0" bIns="0" anchor="t">
            <a:spAutoFit/>
          </a:bodyPr>
          <a:lstStyle/>
          <a:p>
            <a:pPr algn="l">
              <a:lnSpc>
                <a:spcPct val="110000"/>
              </a:lnSpc>
              <a:spcAft>
                <a:spcPts val="400"/>
              </a:spcAft>
            </a:pPr>
            <a:r>
              <a:rPr sz="950" b="0" i="0">
                <a:solidFill>
                  <a:srgbClr val="5A5D63"/>
                </a:solidFill>
                <a:latin typeface="Inter"/>
              </a:rPr>
              <a:t>Affiliate fees: hotels, tours, restaurants</a:t>
            </a:r>
          </a:p>
        </p:txBody>
      </p:sp>
      <p:sp>
        <p:nvSpPr>
          <p:cNvPr id="47" name="Rectangle 46"/>
          <p:cNvSpPr/>
          <p:nvPr/>
        </p:nvSpPr>
        <p:spPr>
          <a:xfrm>
            <a:off x="8549640" y="4745736"/>
            <a:ext cx="3090672" cy="694944"/>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549640" y="4745736"/>
            <a:ext cx="54864" cy="694944"/>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32520" y="4800600"/>
            <a:ext cx="283464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14161A"/>
                </a:solidFill>
                <a:latin typeface="Inter"/>
              </a:rPr>
              <a:t>B2B fleet</a:t>
            </a:r>
          </a:p>
        </p:txBody>
      </p:sp>
      <p:sp>
        <p:nvSpPr>
          <p:cNvPr id="50" name="TextBox 49"/>
          <p:cNvSpPr txBox="1"/>
          <p:nvPr/>
        </p:nvSpPr>
        <p:spPr>
          <a:xfrm>
            <a:off x="8732520" y="5047488"/>
            <a:ext cx="2834640" cy="411480"/>
          </a:xfrm>
          <a:prstGeom prst="rect">
            <a:avLst/>
          </a:prstGeom>
          <a:noFill/>
        </p:spPr>
        <p:txBody>
          <a:bodyPr wrap="square" lIns="0" rIns="0" tIns="0" bIns="0" anchor="t">
            <a:spAutoFit/>
          </a:bodyPr>
          <a:lstStyle/>
          <a:p>
            <a:pPr algn="l">
              <a:lnSpc>
                <a:spcPct val="110000"/>
              </a:lnSpc>
              <a:spcAft>
                <a:spcPts val="400"/>
              </a:spcAft>
            </a:pPr>
            <a:r>
              <a:rPr sz="950" b="0" i="0">
                <a:solidFill>
                  <a:srgbClr val="5A5D63"/>
                </a:solidFill>
                <a:latin typeface="Inter"/>
              </a:rPr>
              <a:t>Rental for hostels and tour operators (pilots Q4 2027+)</a:t>
            </a:r>
          </a:p>
        </p:txBody>
      </p:sp>
      <p:sp>
        <p:nvSpPr>
          <p:cNvPr id="51" name="TextBox 50"/>
          <p:cNvSpPr txBox="1"/>
          <p:nvPr/>
        </p:nvSpPr>
        <p:spPr>
          <a:xfrm>
            <a:off x="548640" y="3977639"/>
            <a:ext cx="7772400" cy="1737360"/>
          </a:xfrm>
          <a:prstGeom prst="rect">
            <a:avLst/>
          </a:prstGeom>
          <a:noFill/>
        </p:spPr>
        <p:txBody>
          <a:bodyPr wrap="square" lIns="0" rIns="0" tIns="0" bIns="0" anchor="t">
            <a:spAutoFit/>
          </a:bodyPr>
          <a:lstStyle/>
          <a:p>
            <a:pPr algn="l">
              <a:lnSpc>
                <a:spcPct val="115000"/>
              </a:lnSpc>
              <a:spcAft>
                <a:spcPts val="800"/>
              </a:spcAft>
            </a:pPr>
            <a:r>
              <a:rPr sz="1150" b="1" i="0">
                <a:solidFill>
                  <a:srgbClr val="14161A"/>
                </a:solidFill>
                <a:latin typeface="Inter"/>
              </a:rPr>
              <a:t>Why these prices: </a:t>
            </a:r>
            <a:r>
              <a:rPr sz="1150" b="0" i="0">
                <a:solidFill>
                  <a:srgbClr val="5A5D63"/>
                </a:solidFill>
                <a:latin typeface="Inter"/>
              </a:rPr>
              <a:t>Research's comparable-price ladder (research/pricing-research.md). Atlas raised $549 → $599 (D8), to be A/B tested; revert if the survey shows &gt;20% loss of purchase intent.</a:t>
            </a:r>
          </a:p>
          <a:p>
            <a:pPr algn="l">
              <a:lnSpc>
                <a:spcPct val="115000"/>
              </a:lnSpc>
              <a:spcAft>
                <a:spcPts val="800"/>
              </a:spcAft>
            </a:pPr>
            <a:r>
              <a:rPr sz="1150" b="1" i="0">
                <a:solidFill>
                  <a:srgbClr val="14161A"/>
                </a:solidFill>
                <a:latin typeface="Inter"/>
              </a:rPr>
              <a:t>Retention by design (the Rabbit lesson): </a:t>
            </a:r>
            <a:r>
              <a:rPr sz="1150" b="0" i="0">
                <a:solidFill>
                  <a:srgbClr val="5A5D63"/>
                </a:solidFill>
                <a:latin typeface="Inter"/>
              </a:rPr>
              <a:t>annual Explorer at $79, a free tier that stays useful, home-city 'Weekend Walks', and retention KPIs reported to investors.</a:t>
            </a:r>
          </a:p>
        </p:txBody>
      </p:sp>
      <p:sp>
        <p:nvSpPr>
          <p:cNvPr id="52" name="TextBox 51"/>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COMPANY.md, research/pricing-research.md, company/decisions-log.md D6, D8, D15.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UNIT ECONOMICS</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We found the margin problem early and changed the product.</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11</a:t>
            </a:r>
          </a:p>
        </p:txBody>
      </p:sp>
      <p:sp>
        <p:nvSpPr>
          <p:cNvPr id="7" name="Rectangle 6"/>
          <p:cNvSpPr/>
          <p:nvPr/>
        </p:nvSpPr>
        <p:spPr>
          <a:xfrm>
            <a:off x="548640" y="1600200"/>
            <a:ext cx="11064240" cy="438912"/>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20116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F3EEE6"/>
                </a:solidFill>
                <a:latin typeface="Inter"/>
              </a:rPr>
              <a:t>Landed COGS @10k units</a:t>
            </a:r>
          </a:p>
        </p:txBody>
      </p:sp>
      <p:sp>
        <p:nvSpPr>
          <p:cNvPr id="9" name="TextBox 8"/>
          <p:cNvSpPr txBox="1"/>
          <p:nvPr/>
        </p:nvSpPr>
        <p:spPr>
          <a:xfrm>
            <a:off x="2788920" y="1600200"/>
            <a:ext cx="24688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F3EEE6"/>
                </a:solidFill>
                <a:latin typeface="Inter"/>
              </a:rPr>
              <a:t>Before (full spec)</a:t>
            </a:r>
          </a:p>
        </p:txBody>
      </p:sp>
      <p:sp>
        <p:nvSpPr>
          <p:cNvPr id="10" name="TextBox 9"/>
          <p:cNvSpPr txBox="1"/>
          <p:nvPr/>
        </p:nvSpPr>
        <p:spPr>
          <a:xfrm>
            <a:off x="5394960" y="1600200"/>
            <a:ext cx="24688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F3EEE6"/>
                </a:solidFill>
                <a:latin typeface="Inter"/>
              </a:rPr>
              <a:t>Decision</a:t>
            </a:r>
          </a:p>
        </p:txBody>
      </p:sp>
      <p:sp>
        <p:nvSpPr>
          <p:cNvPr id="11" name="TextBox 10"/>
          <p:cNvSpPr txBox="1"/>
          <p:nvPr/>
        </p:nvSpPr>
        <p:spPr>
          <a:xfrm>
            <a:off x="8001000" y="1600200"/>
            <a:ext cx="356616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F3EEE6"/>
                </a:solidFill>
                <a:latin typeface="Inter"/>
              </a:rPr>
              <a:t>After</a:t>
            </a:r>
          </a:p>
        </p:txBody>
      </p:sp>
      <p:sp>
        <p:nvSpPr>
          <p:cNvPr id="12" name="TextBox 11"/>
          <p:cNvSpPr txBox="1"/>
          <p:nvPr/>
        </p:nvSpPr>
        <p:spPr>
          <a:xfrm>
            <a:off x="640080" y="2039112"/>
            <a:ext cx="20116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Pebble $149</a:t>
            </a:r>
          </a:p>
        </p:txBody>
      </p:sp>
      <p:sp>
        <p:nvSpPr>
          <p:cNvPr id="13" name="TextBox 12"/>
          <p:cNvSpPr txBox="1"/>
          <p:nvPr/>
        </p:nvSpPr>
        <p:spPr>
          <a:xfrm>
            <a:off x="2788920" y="2039112"/>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$157 incl. NRE → −5% GM</a:t>
            </a:r>
          </a:p>
        </p:txBody>
      </p:sp>
      <p:sp>
        <p:nvSpPr>
          <p:cNvPr id="14" name="TextBox 13"/>
          <p:cNvSpPr txBox="1"/>
          <p:nvPr/>
        </p:nvSpPr>
        <p:spPr>
          <a:xfrm>
            <a:off x="5394960" y="2039112"/>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D10: 'Lite' (AI via phone)</a:t>
            </a:r>
          </a:p>
        </p:txBody>
      </p:sp>
      <p:sp>
        <p:nvSpPr>
          <p:cNvPr id="15" name="TextBox 14"/>
          <p:cNvSpPr txBox="1"/>
          <p:nvPr/>
        </p:nvSpPr>
        <p:spPr>
          <a:xfrm>
            <a:off x="8001000" y="2039112"/>
            <a:ext cx="356616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C4623A"/>
                </a:solidFill>
                <a:latin typeface="Inter"/>
              </a:rPr>
              <a:t>~$90 → 39% GM</a:t>
            </a:r>
          </a:p>
        </p:txBody>
      </p:sp>
      <p:sp>
        <p:nvSpPr>
          <p:cNvPr id="16" name="Rectangle 15"/>
          <p:cNvSpPr/>
          <p:nvPr/>
        </p:nvSpPr>
        <p:spPr>
          <a:xfrm>
            <a:off x="548640" y="2478024"/>
            <a:ext cx="11064240" cy="438912"/>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478024"/>
            <a:ext cx="20116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Square $299</a:t>
            </a:r>
          </a:p>
        </p:txBody>
      </p:sp>
      <p:sp>
        <p:nvSpPr>
          <p:cNvPr id="18" name="TextBox 17"/>
          <p:cNvSpPr txBox="1"/>
          <p:nvPr/>
        </p:nvSpPr>
        <p:spPr>
          <a:xfrm>
            <a:off x="2788920" y="2478024"/>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$299 incl. NRE → 0% GM</a:t>
            </a:r>
          </a:p>
        </p:txBody>
      </p:sp>
      <p:sp>
        <p:nvSpPr>
          <p:cNvPr id="19" name="TextBox 18"/>
          <p:cNvSpPr txBox="1"/>
          <p:nvPr/>
        </p:nvSpPr>
        <p:spPr>
          <a:xfrm>
            <a:off x="5394960" y="2478024"/>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D11: LTE Cat-1bis, cost-down</a:t>
            </a:r>
          </a:p>
        </p:txBody>
      </p:sp>
      <p:sp>
        <p:nvSpPr>
          <p:cNvPr id="20" name="TextBox 19"/>
          <p:cNvSpPr txBox="1"/>
          <p:nvPr/>
        </p:nvSpPr>
        <p:spPr>
          <a:xfrm>
            <a:off x="8001000" y="2478024"/>
            <a:ext cx="356616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C4623A"/>
                </a:solidFill>
                <a:latin typeface="Inter"/>
              </a:rPr>
              <a:t>Target ≤$240 by unit 10k; $329 fallback</a:t>
            </a:r>
          </a:p>
        </p:txBody>
      </p:sp>
      <p:sp>
        <p:nvSpPr>
          <p:cNvPr id="21" name="TextBox 20"/>
          <p:cNvSpPr txBox="1"/>
          <p:nvPr/>
        </p:nvSpPr>
        <p:spPr>
          <a:xfrm>
            <a:off x="640080" y="2916936"/>
            <a:ext cx="20116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Atlas $599</a:t>
            </a:r>
          </a:p>
        </p:txBody>
      </p:sp>
      <p:sp>
        <p:nvSpPr>
          <p:cNvPr id="22" name="TextBox 21"/>
          <p:cNvSpPr txBox="1"/>
          <p:nvPr/>
        </p:nvSpPr>
        <p:spPr>
          <a:xfrm>
            <a:off x="2788920" y="2916936"/>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$413 incl. NRE → 25% at $549</a:t>
            </a:r>
          </a:p>
        </p:txBody>
      </p:sp>
      <p:sp>
        <p:nvSpPr>
          <p:cNvPr id="23" name="TextBox 22"/>
          <p:cNvSpPr txBox="1"/>
          <p:nvPr/>
        </p:nvSpPr>
        <p:spPr>
          <a:xfrm>
            <a:off x="5394960" y="2916936"/>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D8 price $599; D12 13.5 mm</a:t>
            </a:r>
          </a:p>
        </p:txBody>
      </p:sp>
      <p:sp>
        <p:nvSpPr>
          <p:cNvPr id="24" name="TextBox 23"/>
          <p:cNvSpPr txBox="1"/>
          <p:nvPr/>
        </p:nvSpPr>
        <p:spPr>
          <a:xfrm>
            <a:off x="8001000" y="2916936"/>
            <a:ext cx="356616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C4623A"/>
                </a:solidFill>
                <a:latin typeface="Inter"/>
              </a:rPr>
              <a:t>Margin engine</a:t>
            </a:r>
          </a:p>
        </p:txBody>
      </p:sp>
      <p:sp>
        <p:nvSpPr>
          <p:cNvPr id="25" name="Rectangle 24"/>
          <p:cNvSpPr/>
          <p:nvPr/>
        </p:nvSpPr>
        <p:spPr>
          <a:xfrm>
            <a:off x="548640" y="3355848"/>
            <a:ext cx="11064240" cy="438912"/>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355848"/>
            <a:ext cx="201168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Any SKU, China FATP</a:t>
            </a:r>
          </a:p>
        </p:txBody>
      </p:sp>
      <p:sp>
        <p:nvSpPr>
          <p:cNvPr id="27" name="TextBox 26"/>
          <p:cNvSpPr txBox="1"/>
          <p:nvPr/>
        </p:nvSpPr>
        <p:spPr>
          <a:xfrm>
            <a:off x="2788920" y="3355848"/>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Square $343 landed (tariffs)</a:t>
            </a:r>
          </a:p>
        </p:txBody>
      </p:sp>
      <p:sp>
        <p:nvSpPr>
          <p:cNvPr id="28" name="TextBox 27"/>
          <p:cNvSpPr txBox="1"/>
          <p:nvPr/>
        </p:nvSpPr>
        <p:spPr>
          <a:xfrm>
            <a:off x="5394960" y="3355848"/>
            <a:ext cx="2468880" cy="438912"/>
          </a:xfrm>
          <a:prstGeom prst="rect">
            <a:avLst/>
          </a:prstGeom>
          <a:noFill/>
        </p:spPr>
        <p:txBody>
          <a:bodyPr wrap="square" lIns="0" rIns="0" tIns="0" bIns="0" anchor="ctr">
            <a:spAutoFit/>
          </a:bodyPr>
          <a:lstStyle/>
          <a:p>
            <a:pPr algn="l">
              <a:lnSpc>
                <a:spcPct val="110000"/>
              </a:lnSpc>
              <a:spcAft>
                <a:spcPts val="400"/>
              </a:spcAft>
            </a:pPr>
            <a:r>
              <a:rPr sz="1050" b="0" i="0">
                <a:solidFill>
                  <a:srgbClr val="14161A"/>
                </a:solidFill>
                <a:latin typeface="Inter"/>
              </a:rPr>
              <a:t>D13: Vietnam / Malaysia</a:t>
            </a:r>
          </a:p>
        </p:txBody>
      </p:sp>
      <p:sp>
        <p:nvSpPr>
          <p:cNvPr id="29" name="TextBox 28"/>
          <p:cNvSpPr txBox="1"/>
          <p:nvPr/>
        </p:nvSpPr>
        <p:spPr>
          <a:xfrm>
            <a:off x="8001000" y="3355848"/>
            <a:ext cx="3566160" cy="438912"/>
          </a:xfrm>
          <a:prstGeom prst="rect">
            <a:avLst/>
          </a:prstGeom>
          <a:noFill/>
        </p:spPr>
        <p:txBody>
          <a:bodyPr wrap="square" lIns="0" rIns="0" tIns="0" bIns="0" anchor="ctr">
            <a:spAutoFit/>
          </a:bodyPr>
          <a:lstStyle/>
          <a:p>
            <a:pPr algn="l">
              <a:lnSpc>
                <a:spcPct val="110000"/>
              </a:lnSpc>
              <a:spcAft>
                <a:spcPts val="400"/>
              </a:spcAft>
            </a:pPr>
            <a:r>
              <a:rPr sz="1050" b="1" i="0">
                <a:solidFill>
                  <a:srgbClr val="C4623A"/>
                </a:solidFill>
                <a:latin typeface="Inter"/>
              </a:rPr>
              <a:t>0% duty assumed</a:t>
            </a:r>
          </a:p>
        </p:txBody>
      </p:sp>
      <p:sp>
        <p:nvSpPr>
          <p:cNvPr id="30" name="Rectangle 29"/>
          <p:cNvSpPr/>
          <p:nvPr/>
        </p:nvSpPr>
        <p:spPr>
          <a:xfrm>
            <a:off x="548640" y="3794760"/>
            <a:ext cx="11064240" cy="9000"/>
          </a:xfrm>
          <a:prstGeom prst="rect">
            <a:avLst/>
          </a:prstGeom>
          <a:solidFill>
            <a:srgbClr val="DD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6675120" cy="2103120"/>
          </a:xfrm>
          <a:prstGeom prst="rect">
            <a:avLst/>
          </a:prstGeom>
          <a:solidFill>
            <a:srgbClr val="FFFFFF"/>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unit_economics_waterfall.png"/>
          <p:cNvPicPr>
            <a:picLocks noChangeAspect="1"/>
          </p:cNvPicPr>
          <p:nvPr/>
        </p:nvPicPr>
        <p:blipFill>
          <a:blip r:embed="rId3"/>
          <a:stretch>
            <a:fillRect/>
          </a:stretch>
        </p:blipFill>
        <p:spPr>
          <a:xfrm>
            <a:off x="1143000" y="3977639"/>
            <a:ext cx="5486400" cy="2011680"/>
          </a:xfrm>
          <a:prstGeom prst="rect">
            <a:avLst/>
          </a:prstGeom>
        </p:spPr>
      </p:pic>
      <p:sp>
        <p:nvSpPr>
          <p:cNvPr id="33" name="TextBox 32"/>
          <p:cNvSpPr txBox="1"/>
          <p:nvPr/>
        </p:nvSpPr>
        <p:spPr>
          <a:xfrm>
            <a:off x="7406640" y="3931920"/>
            <a:ext cx="4251960" cy="2103120"/>
          </a:xfrm>
          <a:prstGeom prst="rect">
            <a:avLst/>
          </a:prstGeom>
          <a:noFill/>
        </p:spPr>
        <p:txBody>
          <a:bodyPr wrap="square" lIns="0" rIns="0" tIns="0" bIns="0" anchor="t">
            <a:spAutoFit/>
          </a:bodyPr>
          <a:lstStyle/>
          <a:p>
            <a:pPr>
              <a:lnSpc>
                <a:spcPct val="112000"/>
              </a:lnSpc>
              <a:spcAft>
                <a:spcPts val="600"/>
              </a:spcAft>
            </a:pPr>
            <a:r>
              <a:rPr sz="1100" b="1">
                <a:solidFill>
                  <a:srgbClr val="14161A"/>
                </a:solidFill>
                <a:latin typeface="Inter"/>
              </a:rPr>
              <a:t>DTC hardware GM (H2-2028 cost): </a:t>
            </a:r>
            <a:r>
              <a:rPr sz="1100" b="0">
                <a:solidFill>
                  <a:srgbClr val="5A5D63"/>
                </a:solidFill>
                <a:latin typeface="Inter"/>
              </a:rPr>
              <a:t>Pebble 42% · Square 23% · Atlas 37%. At launch, before the D11 cost-down, Square is only 7%.</a:t>
            </a:r>
          </a:p>
          <a:p>
            <a:pPr>
              <a:lnSpc>
                <a:spcPct val="112000"/>
              </a:lnSpc>
              <a:spcAft>
                <a:spcPts val="600"/>
              </a:spcAft>
            </a:pPr>
            <a:r>
              <a:rPr sz="1100" b="1">
                <a:solidFill>
                  <a:srgbClr val="14161A"/>
                </a:solidFill>
                <a:latin typeface="Inter"/>
              </a:rPr>
              <a:t>Lifetime contribution per device: </a:t>
            </a:r>
            <a:r>
              <a:rPr sz="1100" b="0">
                <a:solidFill>
                  <a:srgbClr val="5A5D63"/>
                </a:solidFill>
                <a:latin typeface="Inter"/>
              </a:rPr>
              <a:t>$42 / $57 / $211 incl. LORE Pass, accessories and affiliate, after $60 paid CAC.</a:t>
            </a:r>
          </a:p>
          <a:p>
            <a:pPr>
              <a:lnSpc>
                <a:spcPct val="112000"/>
              </a:lnSpc>
              <a:spcAft>
                <a:spcPts val="600"/>
              </a:spcAft>
            </a:pPr>
            <a:r>
              <a:rPr sz="1100" b="1">
                <a:solidFill>
                  <a:srgbClr val="14161A"/>
                </a:solidFill>
                <a:latin typeface="Inter"/>
              </a:rPr>
              <a:t>LORE Pass GM ≈69% </a:t>
            </a:r>
            <a:r>
              <a:rPr sz="1100" b="0">
                <a:solidFill>
                  <a:srgbClr val="5A5D63"/>
                </a:solidFill>
                <a:latin typeface="Inter"/>
              </a:rPr>
              <a:t>(2028) → ≈75% (2031); cloud + data ≈ $2.02 per paid user-month.</a:t>
            </a:r>
          </a:p>
          <a:p>
            <a:pPr>
              <a:lnSpc>
                <a:spcPct val="112000"/>
              </a:lnSpc>
              <a:spcAft>
                <a:spcPts val="600"/>
              </a:spcAft>
            </a:pPr>
            <a:r>
              <a:rPr sz="1100" b="1">
                <a:solidFill>
                  <a:srgbClr val="14161A"/>
                </a:solidFill>
                <a:latin typeface="Inter"/>
              </a:rPr>
              <a:t>Biggest swing: </a:t>
            </a:r>
            <a:r>
              <a:rPr sz="1100" b="0">
                <a:solidFill>
                  <a:srgbClr val="5A5D63"/>
                </a:solidFill>
                <a:latin typeface="Inter"/>
              </a:rPr>
              <a:t>if the Square cost-down fails, FY31 EBITDA is −$8.3M not +$0.8M. DVT gate Sep-2027: &gt;$205 ex-NRE → price $329. Square is DTC-only until landed ≤$200 (D15).</a:t>
            </a:r>
          </a:p>
        </p:txBody>
      </p:sp>
      <p:sp>
        <p:nvSpPr>
          <p:cNvPr id="34" name="TextBox 33"/>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hardware/README.md + hardware/bom/BOM.md (estimates, 2026 DRAM prices), finance/unit-economics.md, company/decisions-log.md D10-D13.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GO-TO-MARKET AND KICKSTARTER</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Stories sell; safety justifies; Kickstarter proves demand.</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12</a:t>
            </a:r>
          </a:p>
        </p:txBody>
      </p:sp>
      <p:sp>
        <p:nvSpPr>
          <p:cNvPr id="7" name="Rectangle 6"/>
          <p:cNvSpPr/>
          <p:nvPr/>
        </p:nvSpPr>
        <p:spPr>
          <a:xfrm>
            <a:off x="548640" y="1645920"/>
            <a:ext cx="1783080" cy="114300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1554480" cy="274320"/>
          </a:xfrm>
          <a:prstGeom prst="rect">
            <a:avLst/>
          </a:prstGeom>
          <a:noFill/>
        </p:spPr>
        <p:txBody>
          <a:bodyPr wrap="square" lIns="0" rIns="0" tIns="0" bIns="0" anchor="t">
            <a:spAutoFit/>
          </a:bodyPr>
          <a:lstStyle/>
          <a:p>
            <a:pPr algn="l">
              <a:lnSpc>
                <a:spcPct val="110000"/>
              </a:lnSpc>
              <a:spcAft>
                <a:spcPts val="400"/>
              </a:spcAft>
            </a:pPr>
            <a:r>
              <a:rPr sz="950" b="1" i="0">
                <a:solidFill>
                  <a:srgbClr val="B8935A"/>
                </a:solidFill>
                <a:latin typeface="Inter"/>
              </a:rPr>
              <a:t>Nov 26-Jan 27</a:t>
            </a:r>
          </a:p>
        </p:txBody>
      </p:sp>
      <p:sp>
        <p:nvSpPr>
          <p:cNvPr id="9" name="TextBox 8"/>
          <p:cNvSpPr txBox="1"/>
          <p:nvPr/>
        </p:nvSpPr>
        <p:spPr>
          <a:xfrm>
            <a:off x="685800" y="1993392"/>
            <a:ext cx="155448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Waitlist</a:t>
            </a:r>
          </a:p>
        </p:txBody>
      </p:sp>
      <p:sp>
        <p:nvSpPr>
          <p:cNvPr id="10" name="TextBox 9"/>
          <p:cNvSpPr txBox="1"/>
          <p:nvPr/>
        </p:nvSpPr>
        <p:spPr>
          <a:xfrm>
            <a:off x="685800" y="2359152"/>
            <a:ext cx="155448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5A5D63"/>
                </a:solidFill>
                <a:latin typeface="Inter"/>
              </a:rPr>
              <a:t>5k sign-ups</a:t>
            </a:r>
          </a:p>
        </p:txBody>
      </p:sp>
      <p:sp>
        <p:nvSpPr>
          <p:cNvPr id="11" name="Rectangle 10"/>
          <p:cNvSpPr/>
          <p:nvPr/>
        </p:nvSpPr>
        <p:spPr>
          <a:xfrm>
            <a:off x="2404872" y="1645920"/>
            <a:ext cx="1783080" cy="114300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2032" y="1737360"/>
            <a:ext cx="1554480" cy="274320"/>
          </a:xfrm>
          <a:prstGeom prst="rect">
            <a:avLst/>
          </a:prstGeom>
          <a:noFill/>
        </p:spPr>
        <p:txBody>
          <a:bodyPr wrap="square" lIns="0" rIns="0" tIns="0" bIns="0" anchor="t">
            <a:spAutoFit/>
          </a:bodyPr>
          <a:lstStyle/>
          <a:p>
            <a:pPr algn="l">
              <a:lnSpc>
                <a:spcPct val="110000"/>
              </a:lnSpc>
              <a:spcAft>
                <a:spcPts val="400"/>
              </a:spcAft>
            </a:pPr>
            <a:r>
              <a:rPr sz="950" b="1" i="0">
                <a:solidFill>
                  <a:srgbClr val="B8935A"/>
                </a:solidFill>
                <a:latin typeface="Inter"/>
              </a:rPr>
              <a:t>Feb-Apr 27</a:t>
            </a:r>
          </a:p>
        </p:txBody>
      </p:sp>
      <p:sp>
        <p:nvSpPr>
          <p:cNvPr id="13" name="TextBox 12"/>
          <p:cNvSpPr txBox="1"/>
          <p:nvPr/>
        </p:nvSpPr>
        <p:spPr>
          <a:xfrm>
            <a:off x="2542032" y="1993392"/>
            <a:ext cx="155448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Rome beta</a:t>
            </a:r>
          </a:p>
        </p:txBody>
      </p:sp>
      <p:sp>
        <p:nvSpPr>
          <p:cNvPr id="14" name="TextBox 13"/>
          <p:cNvSpPr txBox="1"/>
          <p:nvPr/>
        </p:nvSpPr>
        <p:spPr>
          <a:xfrm>
            <a:off x="2542032" y="2359152"/>
            <a:ext cx="155448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5A5D63"/>
                </a:solidFill>
                <a:latin typeface="Inter"/>
              </a:rPr>
              <a:t>50 EVT units</a:t>
            </a:r>
          </a:p>
        </p:txBody>
      </p:sp>
      <p:sp>
        <p:nvSpPr>
          <p:cNvPr id="15" name="Rectangle 14"/>
          <p:cNvSpPr/>
          <p:nvPr/>
        </p:nvSpPr>
        <p:spPr>
          <a:xfrm>
            <a:off x="4261104" y="1645920"/>
            <a:ext cx="1783080" cy="114300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8264" y="1737360"/>
            <a:ext cx="1554480" cy="274320"/>
          </a:xfrm>
          <a:prstGeom prst="rect">
            <a:avLst/>
          </a:prstGeom>
          <a:noFill/>
        </p:spPr>
        <p:txBody>
          <a:bodyPr wrap="square" lIns="0" rIns="0" tIns="0" bIns="0" anchor="t">
            <a:spAutoFit/>
          </a:bodyPr>
          <a:lstStyle/>
          <a:p>
            <a:pPr algn="l">
              <a:lnSpc>
                <a:spcPct val="110000"/>
              </a:lnSpc>
              <a:spcAft>
                <a:spcPts val="400"/>
              </a:spcAft>
            </a:pPr>
            <a:r>
              <a:rPr sz="950" b="1" i="0">
                <a:solidFill>
                  <a:srgbClr val="B8935A"/>
                </a:solidFill>
                <a:latin typeface="Inter"/>
              </a:rPr>
              <a:t>Pre-launch</a:t>
            </a:r>
          </a:p>
        </p:txBody>
      </p:sp>
      <p:sp>
        <p:nvSpPr>
          <p:cNvPr id="17" name="TextBox 16"/>
          <p:cNvSpPr txBox="1"/>
          <p:nvPr/>
        </p:nvSpPr>
        <p:spPr>
          <a:xfrm>
            <a:off x="4398264" y="1993392"/>
            <a:ext cx="155448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List + VIPs</a:t>
            </a:r>
          </a:p>
        </p:txBody>
      </p:sp>
      <p:sp>
        <p:nvSpPr>
          <p:cNvPr id="18" name="TextBox 17"/>
          <p:cNvSpPr txBox="1"/>
          <p:nvPr/>
        </p:nvSpPr>
        <p:spPr>
          <a:xfrm>
            <a:off x="4398264" y="2359152"/>
            <a:ext cx="155448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5A5D63"/>
                </a:solidFill>
                <a:latin typeface="Inter"/>
              </a:rPr>
              <a:t>20k emails, 2k $1 VIPs</a:t>
            </a:r>
          </a:p>
        </p:txBody>
      </p:sp>
      <p:sp>
        <p:nvSpPr>
          <p:cNvPr id="19" name="Rectangle 18"/>
          <p:cNvSpPr/>
          <p:nvPr/>
        </p:nvSpPr>
        <p:spPr>
          <a:xfrm>
            <a:off x="6117336" y="1645920"/>
            <a:ext cx="1783080" cy="1143000"/>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4496" y="1737360"/>
            <a:ext cx="1554480" cy="274320"/>
          </a:xfrm>
          <a:prstGeom prst="rect">
            <a:avLst/>
          </a:prstGeom>
          <a:noFill/>
        </p:spPr>
        <p:txBody>
          <a:bodyPr wrap="square" lIns="0" rIns="0" tIns="0" bIns="0" anchor="t">
            <a:spAutoFit/>
          </a:bodyPr>
          <a:lstStyle/>
          <a:p>
            <a:pPr algn="l">
              <a:lnSpc>
                <a:spcPct val="110000"/>
              </a:lnSpc>
              <a:spcAft>
                <a:spcPts val="400"/>
              </a:spcAft>
            </a:pPr>
            <a:r>
              <a:rPr sz="950" b="1" i="0">
                <a:solidFill>
                  <a:srgbClr val="B8935A"/>
                </a:solidFill>
                <a:latin typeface="Inter"/>
              </a:rPr>
              <a:t>25 May-24 Jun 27</a:t>
            </a:r>
          </a:p>
        </p:txBody>
      </p:sp>
      <p:sp>
        <p:nvSpPr>
          <p:cNvPr id="21" name="TextBox 20"/>
          <p:cNvSpPr txBox="1"/>
          <p:nvPr/>
        </p:nvSpPr>
        <p:spPr>
          <a:xfrm>
            <a:off x="6254496" y="1993392"/>
            <a:ext cx="155448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F3EEE6"/>
                </a:solidFill>
                <a:latin typeface="Inter"/>
              </a:rPr>
              <a:t>Kickstarter</a:t>
            </a:r>
          </a:p>
        </p:txBody>
      </p:sp>
      <p:sp>
        <p:nvSpPr>
          <p:cNvPr id="22" name="TextBox 21"/>
          <p:cNvSpPr txBox="1"/>
          <p:nvPr/>
        </p:nvSpPr>
        <p:spPr>
          <a:xfrm>
            <a:off x="6254496" y="2359152"/>
            <a:ext cx="155448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9AA0A6"/>
                </a:solidFill>
                <a:latin typeface="Inter"/>
              </a:rPr>
              <a:t>$250k goal</a:t>
            </a:r>
          </a:p>
        </p:txBody>
      </p:sp>
      <p:sp>
        <p:nvSpPr>
          <p:cNvPr id="23" name="Rectangle 22"/>
          <p:cNvSpPr/>
          <p:nvPr/>
        </p:nvSpPr>
        <p:spPr>
          <a:xfrm>
            <a:off x="7973568" y="1645920"/>
            <a:ext cx="1783080" cy="114300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10728" y="1737360"/>
            <a:ext cx="1554480" cy="274320"/>
          </a:xfrm>
          <a:prstGeom prst="rect">
            <a:avLst/>
          </a:prstGeom>
          <a:noFill/>
        </p:spPr>
        <p:txBody>
          <a:bodyPr wrap="square" lIns="0" rIns="0" tIns="0" bIns="0" anchor="t">
            <a:spAutoFit/>
          </a:bodyPr>
          <a:lstStyle/>
          <a:p>
            <a:pPr algn="l">
              <a:lnSpc>
                <a:spcPct val="110000"/>
              </a:lnSpc>
              <a:spcAft>
                <a:spcPts val="400"/>
              </a:spcAft>
            </a:pPr>
            <a:r>
              <a:rPr sz="950" b="1" i="0">
                <a:solidFill>
                  <a:srgbClr val="B8935A"/>
                </a:solidFill>
                <a:latin typeface="Inter"/>
              </a:rPr>
              <a:t>Q4 27</a:t>
            </a:r>
          </a:p>
        </p:txBody>
      </p:sp>
      <p:sp>
        <p:nvSpPr>
          <p:cNvPr id="25" name="TextBox 24"/>
          <p:cNvSpPr txBox="1"/>
          <p:nvPr/>
        </p:nvSpPr>
        <p:spPr>
          <a:xfrm>
            <a:off x="8110728" y="1993392"/>
            <a:ext cx="155448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DTC</a:t>
            </a:r>
          </a:p>
        </p:txBody>
      </p:sp>
      <p:sp>
        <p:nvSpPr>
          <p:cNvPr id="26" name="TextBox 25"/>
          <p:cNvSpPr txBox="1"/>
          <p:nvPr/>
        </p:nvSpPr>
        <p:spPr>
          <a:xfrm>
            <a:off x="8110728" y="2359152"/>
            <a:ext cx="155448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5A5D63"/>
                </a:solidFill>
                <a:latin typeface="Inter"/>
              </a:rPr>
              <a:t>First 5k units</a:t>
            </a:r>
          </a:p>
        </p:txBody>
      </p:sp>
      <p:sp>
        <p:nvSpPr>
          <p:cNvPr id="27" name="Rectangle 26"/>
          <p:cNvSpPr/>
          <p:nvPr/>
        </p:nvSpPr>
        <p:spPr>
          <a:xfrm>
            <a:off x="9829800" y="1645920"/>
            <a:ext cx="1783080" cy="114300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0" y="1737360"/>
            <a:ext cx="1554480" cy="274320"/>
          </a:xfrm>
          <a:prstGeom prst="rect">
            <a:avLst/>
          </a:prstGeom>
          <a:noFill/>
        </p:spPr>
        <p:txBody>
          <a:bodyPr wrap="square" lIns="0" rIns="0" tIns="0" bIns="0" anchor="t">
            <a:spAutoFit/>
          </a:bodyPr>
          <a:lstStyle/>
          <a:p>
            <a:pPr algn="l">
              <a:lnSpc>
                <a:spcPct val="110000"/>
              </a:lnSpc>
              <a:spcAft>
                <a:spcPts val="400"/>
              </a:spcAft>
            </a:pPr>
            <a:r>
              <a:rPr sz="950" b="1" i="0">
                <a:solidFill>
                  <a:srgbClr val="B8935A"/>
                </a:solidFill>
                <a:latin typeface="Inter"/>
              </a:rPr>
              <a:t>2028</a:t>
            </a:r>
          </a:p>
        </p:txBody>
      </p:sp>
      <p:sp>
        <p:nvSpPr>
          <p:cNvPr id="29" name="TextBox 28"/>
          <p:cNvSpPr txBox="1"/>
          <p:nvPr/>
        </p:nvSpPr>
        <p:spPr>
          <a:xfrm>
            <a:off x="9966960" y="1993392"/>
            <a:ext cx="1554480" cy="365760"/>
          </a:xfrm>
          <a:prstGeom prst="rect">
            <a:avLst/>
          </a:prstGeom>
          <a:noFill/>
        </p:spPr>
        <p:txBody>
          <a:bodyPr wrap="square" lIns="0" rIns="0" tIns="0" bIns="0" anchor="t">
            <a:spAutoFit/>
          </a:bodyPr>
          <a:lstStyle/>
          <a:p>
            <a:pPr algn="l">
              <a:lnSpc>
                <a:spcPct val="110000"/>
              </a:lnSpc>
              <a:spcAft>
                <a:spcPts val="400"/>
              </a:spcAft>
            </a:pPr>
            <a:r>
              <a:rPr sz="1400" b="1" i="0">
                <a:solidFill>
                  <a:srgbClr val="14161A"/>
                </a:solidFill>
                <a:latin typeface="Inter"/>
              </a:rPr>
              <a:t>Retail / airport</a:t>
            </a:r>
          </a:p>
        </p:txBody>
      </p:sp>
      <p:sp>
        <p:nvSpPr>
          <p:cNvPr id="30" name="TextBox 29"/>
          <p:cNvSpPr txBox="1"/>
          <p:nvPr/>
        </p:nvSpPr>
        <p:spPr>
          <a:xfrm>
            <a:off x="9966960" y="2359152"/>
            <a:ext cx="1554480" cy="365760"/>
          </a:xfrm>
          <a:prstGeom prst="rect">
            <a:avLst/>
          </a:prstGeom>
          <a:noFill/>
        </p:spPr>
        <p:txBody>
          <a:bodyPr wrap="square" lIns="0" rIns="0" tIns="0" bIns="0" anchor="t">
            <a:spAutoFit/>
          </a:bodyPr>
          <a:lstStyle/>
          <a:p>
            <a:pPr algn="l">
              <a:lnSpc>
                <a:spcPct val="110000"/>
              </a:lnSpc>
              <a:spcAft>
                <a:spcPts val="400"/>
              </a:spcAft>
            </a:pPr>
            <a:r>
              <a:rPr sz="1000" b="0" i="0">
                <a:solidFill>
                  <a:srgbClr val="5A5D63"/>
                </a:solidFill>
                <a:latin typeface="Inter"/>
              </a:rPr>
              <a:t>after returns &lt;5%</a:t>
            </a:r>
          </a:p>
        </p:txBody>
      </p:sp>
      <p:sp>
        <p:nvSpPr>
          <p:cNvPr id="31" name="TextBox 30"/>
          <p:cNvSpPr txBox="1"/>
          <p:nvPr/>
        </p:nvSpPr>
        <p:spPr>
          <a:xfrm>
            <a:off x="548640" y="3063240"/>
            <a:ext cx="2560320" cy="640080"/>
          </a:xfrm>
          <a:prstGeom prst="rect">
            <a:avLst/>
          </a:prstGeom>
          <a:noFill/>
        </p:spPr>
        <p:txBody>
          <a:bodyPr wrap="square" lIns="0" rIns="0" tIns="0" bIns="0" anchor="t">
            <a:spAutoFit/>
          </a:bodyPr>
          <a:lstStyle/>
          <a:p>
            <a:pPr algn="l">
              <a:lnSpc>
                <a:spcPct val="110000"/>
              </a:lnSpc>
              <a:spcAft>
                <a:spcPts val="400"/>
              </a:spcAft>
            </a:pPr>
            <a:r>
              <a:rPr sz="3400" b="0" i="0">
                <a:solidFill>
                  <a:srgbClr val="C4623A"/>
                </a:solidFill>
                <a:latin typeface="Fraunces"/>
              </a:rPr>
              <a:t>$1.04M</a:t>
            </a:r>
          </a:p>
        </p:txBody>
      </p:sp>
      <p:sp>
        <p:nvSpPr>
          <p:cNvPr id="32" name="TextBox 31"/>
          <p:cNvSpPr txBox="1"/>
          <p:nvPr/>
        </p:nvSpPr>
        <p:spPr>
          <a:xfrm>
            <a:off x="548640" y="3721608"/>
            <a:ext cx="256032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Kickstarter base case: 4,600 backers × $225 avg pledge (plan, not a result)</a:t>
            </a:r>
          </a:p>
        </p:txBody>
      </p:sp>
      <p:sp>
        <p:nvSpPr>
          <p:cNvPr id="33" name="TextBox 32"/>
          <p:cNvSpPr txBox="1"/>
          <p:nvPr/>
        </p:nvSpPr>
        <p:spPr>
          <a:xfrm>
            <a:off x="3337560" y="3063240"/>
            <a:ext cx="2560320" cy="640080"/>
          </a:xfrm>
          <a:prstGeom prst="rect">
            <a:avLst/>
          </a:prstGeom>
          <a:noFill/>
        </p:spPr>
        <p:txBody>
          <a:bodyPr wrap="square" lIns="0" rIns="0" tIns="0" bIns="0" anchor="t">
            <a:spAutoFit/>
          </a:bodyPr>
          <a:lstStyle/>
          <a:p>
            <a:pPr algn="l">
              <a:lnSpc>
                <a:spcPct val="110000"/>
              </a:lnSpc>
              <a:spcAft>
                <a:spcPts val="400"/>
              </a:spcAft>
            </a:pPr>
            <a:r>
              <a:rPr sz="3400" b="0" i="0">
                <a:solidFill>
                  <a:srgbClr val="C4623A"/>
                </a:solidFill>
                <a:latin typeface="Fraunces"/>
              </a:rPr>
              <a:t>≈$50</a:t>
            </a:r>
          </a:p>
        </p:txBody>
      </p:sp>
      <p:sp>
        <p:nvSpPr>
          <p:cNvPr id="34" name="TextBox 33"/>
          <p:cNvSpPr txBox="1"/>
          <p:nvPr/>
        </p:nvSpPr>
        <p:spPr>
          <a:xfrm>
            <a:off x="3337560" y="3721608"/>
            <a:ext cx="256032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Cost per backer on $230k marketing (Gate G2 needs &lt;$60)</a:t>
            </a:r>
          </a:p>
        </p:txBody>
      </p:sp>
      <p:sp>
        <p:nvSpPr>
          <p:cNvPr id="35" name="TextBox 34"/>
          <p:cNvSpPr txBox="1"/>
          <p:nvPr/>
        </p:nvSpPr>
        <p:spPr>
          <a:xfrm>
            <a:off x="6126480" y="3063240"/>
            <a:ext cx="2560320" cy="640080"/>
          </a:xfrm>
          <a:prstGeom prst="rect">
            <a:avLst/>
          </a:prstGeom>
          <a:noFill/>
        </p:spPr>
        <p:txBody>
          <a:bodyPr wrap="square" lIns="0" rIns="0" tIns="0" bIns="0" anchor="t">
            <a:spAutoFit/>
          </a:bodyPr>
          <a:lstStyle/>
          <a:p>
            <a:pPr algn="l">
              <a:lnSpc>
                <a:spcPct val="110000"/>
              </a:lnSpc>
              <a:spcAft>
                <a:spcPts val="400"/>
              </a:spcAft>
            </a:pPr>
            <a:r>
              <a:rPr sz="3400" b="0" i="0">
                <a:solidFill>
                  <a:srgbClr val="C4623A"/>
                </a:solidFill>
                <a:latin typeface="Fraunces"/>
              </a:rPr>
              <a:t>$554k</a:t>
            </a:r>
          </a:p>
        </p:txBody>
      </p:sp>
      <p:sp>
        <p:nvSpPr>
          <p:cNvPr id="36" name="TextBox 35"/>
          <p:cNvSpPr txBox="1"/>
          <p:nvPr/>
        </p:nvSpPr>
        <p:spPr>
          <a:xfrm>
            <a:off x="6126480" y="3721608"/>
            <a:ext cx="256032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Conservative case: misses $1M; escalation playbook ready</a:t>
            </a:r>
          </a:p>
        </p:txBody>
      </p:sp>
      <p:sp>
        <p:nvSpPr>
          <p:cNvPr id="37" name="TextBox 36"/>
          <p:cNvSpPr txBox="1"/>
          <p:nvPr/>
        </p:nvSpPr>
        <p:spPr>
          <a:xfrm>
            <a:off x="8915400" y="3063240"/>
            <a:ext cx="2651760" cy="640080"/>
          </a:xfrm>
          <a:prstGeom prst="rect">
            <a:avLst/>
          </a:prstGeom>
          <a:noFill/>
        </p:spPr>
        <p:txBody>
          <a:bodyPr wrap="square" lIns="0" rIns="0" tIns="0" bIns="0" anchor="t">
            <a:spAutoFit/>
          </a:bodyPr>
          <a:lstStyle/>
          <a:p>
            <a:pPr algn="l">
              <a:lnSpc>
                <a:spcPct val="110000"/>
              </a:lnSpc>
              <a:spcAft>
                <a:spcPts val="400"/>
              </a:spcAft>
            </a:pPr>
            <a:r>
              <a:rPr sz="3400" b="0" i="0">
                <a:solidFill>
                  <a:srgbClr val="C4623A"/>
                </a:solidFill>
                <a:latin typeface="Fraunces"/>
              </a:rPr>
              <a:t>$70</a:t>
            </a:r>
          </a:p>
        </p:txBody>
      </p:sp>
      <p:sp>
        <p:nvSpPr>
          <p:cNvPr id="38" name="TextBox 37"/>
          <p:cNvSpPr txBox="1"/>
          <p:nvPr/>
        </p:nvSpPr>
        <p:spPr>
          <a:xfrm>
            <a:off x="8915400" y="3721608"/>
            <a:ext cx="2651760" cy="640080"/>
          </a:xfrm>
          <a:prstGeom prst="rect">
            <a:avLst/>
          </a:prstGeom>
          <a:noFill/>
        </p:spPr>
        <p:txBody>
          <a:bodyPr wrap="square" lIns="0" rIns="0" tIns="0" bIns="0" anchor="t">
            <a:spAutoFit/>
          </a:bodyPr>
          <a:lstStyle/>
          <a:p>
            <a:pPr algn="l">
              <a:lnSpc>
                <a:spcPct val="110000"/>
              </a:lnSpc>
              <a:spcAft>
                <a:spcPts val="400"/>
              </a:spcAft>
            </a:pPr>
            <a:r>
              <a:rPr sz="1100" b="0" i="0">
                <a:solidFill>
                  <a:srgbClr val="5A5D63"/>
                </a:solidFill>
                <a:latin typeface="Inter"/>
              </a:rPr>
              <a:t>DTC blended CAC ceiling after launch</a:t>
            </a:r>
          </a:p>
        </p:txBody>
      </p:sp>
      <p:sp>
        <p:nvSpPr>
          <p:cNvPr id="39" name="TextBox 38"/>
          <p:cNvSpPr txBox="1"/>
          <p:nvPr/>
        </p:nvSpPr>
        <p:spPr>
          <a:xfrm>
            <a:off x="548640" y="4480560"/>
            <a:ext cx="11064240" cy="1463040"/>
          </a:xfrm>
          <a:prstGeom prst="rect">
            <a:avLst/>
          </a:prstGeom>
          <a:noFill/>
        </p:spPr>
        <p:txBody>
          <a:bodyPr wrap="square" lIns="0" rIns="0" tIns="0" bIns="0" anchor="t">
            <a:spAutoFit/>
          </a:bodyPr>
          <a:lstStyle/>
          <a:p>
            <a:pPr algn="l">
              <a:lnSpc>
                <a:spcPct val="112000"/>
              </a:lnSpc>
              <a:spcAft>
                <a:spcPts val="600"/>
              </a:spcAft>
            </a:pPr>
            <a:r>
              <a:rPr sz="1150" b="1" i="0">
                <a:solidFill>
                  <a:srgbClr val="14161A"/>
                </a:solidFill>
                <a:latin typeface="Inter"/>
              </a:rPr>
              <a:t>Channels: </a:t>
            </a:r>
            <a:r>
              <a:rPr sz="1150" b="0" i="0">
                <a:solidFill>
                  <a:srgbClr val="5A5D63"/>
                </a:solidFill>
                <a:latin typeface="Inter"/>
              </a:rPr>
              <a:t>TikTok/IG organic ('Secrets of Rome') → paid lead gen ($2.75 CPL target) → creators (≤$45 CPB) → PR (15+ tier-1/2 articles) → email (8% list conversion).</a:t>
            </a:r>
          </a:p>
          <a:p>
            <a:pPr algn="l">
              <a:lnSpc>
                <a:spcPct val="112000"/>
              </a:lnSpc>
              <a:spcAft>
                <a:spcPts val="600"/>
              </a:spcAft>
            </a:pPr>
            <a:r>
              <a:rPr sz="1150" b="1" i="0">
                <a:solidFill>
                  <a:srgbClr val="14161A"/>
                </a:solidFill>
                <a:latin typeface="Inter"/>
              </a:rPr>
              <a:t>Messaging: </a:t>
            </a:r>
            <a:r>
              <a:rPr sz="1150" b="0" i="0">
                <a:solidFill>
                  <a:srgbClr val="5A5D63"/>
                </a:solidFill>
                <a:latin typeface="Inter"/>
              </a:rPr>
              <a:t>Look up · True stories · Go anywhere, safely. Lead with experience, justify with safety.</a:t>
            </a:r>
          </a:p>
          <a:p>
            <a:pPr algn="l">
              <a:lnSpc>
                <a:spcPct val="112000"/>
              </a:lnSpc>
              <a:spcAft>
                <a:spcPts val="600"/>
              </a:spcAft>
            </a:pPr>
            <a:r>
              <a:rPr sz="1150" b="1" i="0">
                <a:solidFill>
                  <a:srgbClr val="C4623A"/>
                </a:solidFill>
                <a:latin typeface="Inter"/>
              </a:rPr>
              <a:t>Honesty: </a:t>
            </a:r>
            <a:r>
              <a:rPr sz="1150" b="0" i="0">
                <a:solidFill>
                  <a:srgbClr val="5A5D63"/>
                </a:solidFill>
                <a:latin typeface="Inter"/>
              </a:rPr>
              <a:t>no partners, customers or pre-orders exist yet; all named companies are targets.</a:t>
            </a:r>
          </a:p>
        </p:txBody>
      </p:sp>
      <p:sp>
        <p:nvSpPr>
          <p:cNvPr id="40" name="TextBox 39"/>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gtm/README.md, gtm/gtm-strategy.md, gtm/kickstarter/, finance/kickstarter-economics.md.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ROADMAP, MILESTONES AND GATES</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Each stage removes the biggest risk before we spend on the next.</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13</a:t>
            </a:r>
          </a:p>
        </p:txBody>
      </p:sp>
      <p:sp>
        <p:nvSpPr>
          <p:cNvPr id="7" name="Rectangle 6"/>
          <p:cNvSpPr/>
          <p:nvPr/>
        </p:nvSpPr>
        <p:spPr>
          <a:xfrm>
            <a:off x="548640" y="1645920"/>
            <a:ext cx="2697480" cy="73152"/>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10512"/>
            <a:ext cx="2697480" cy="274320"/>
          </a:xfrm>
          <a:prstGeom prst="rect">
            <a:avLst/>
          </a:prstGeom>
          <a:noFill/>
        </p:spPr>
        <p:txBody>
          <a:bodyPr wrap="square" lIns="0" rIns="0" tIns="0" bIns="0" anchor="t">
            <a:spAutoFit/>
          </a:bodyPr>
          <a:lstStyle/>
          <a:p>
            <a:pPr algn="l">
              <a:lnSpc>
                <a:spcPct val="110000"/>
              </a:lnSpc>
              <a:spcAft>
                <a:spcPts val="400"/>
              </a:spcAft>
            </a:pPr>
            <a:r>
              <a:rPr sz="1000" b="1" i="0">
                <a:solidFill>
                  <a:srgbClr val="C4623A"/>
                </a:solidFill>
                <a:latin typeface="Inter"/>
              </a:rPr>
              <a:t>Stage 0 · Nov 26-Jan 27</a:t>
            </a:r>
          </a:p>
        </p:txBody>
      </p:sp>
      <p:sp>
        <p:nvSpPr>
          <p:cNvPr id="9" name="TextBox 8"/>
          <p:cNvSpPr txBox="1"/>
          <p:nvPr/>
        </p:nvSpPr>
        <p:spPr>
          <a:xfrm>
            <a:off x="548640" y="2084831"/>
            <a:ext cx="2697480" cy="411480"/>
          </a:xfrm>
          <a:prstGeom prst="rect">
            <a:avLst/>
          </a:prstGeom>
          <a:noFill/>
        </p:spPr>
        <p:txBody>
          <a:bodyPr wrap="square" lIns="0" rIns="0" tIns="0" bIns="0" anchor="t">
            <a:spAutoFit/>
          </a:bodyPr>
          <a:lstStyle/>
          <a:p>
            <a:pPr algn="l">
              <a:lnSpc>
                <a:spcPct val="110000"/>
              </a:lnSpc>
              <a:spcAft>
                <a:spcPts val="400"/>
              </a:spcAft>
            </a:pPr>
            <a:r>
              <a:rPr sz="1900" b="0" i="0">
                <a:solidFill>
                  <a:srgbClr val="14161A"/>
                </a:solidFill>
                <a:latin typeface="Fraunces"/>
              </a:rPr>
              <a:t>Prove the magic</a:t>
            </a:r>
          </a:p>
        </p:txBody>
      </p:sp>
      <p:sp>
        <p:nvSpPr>
          <p:cNvPr id="10" name="TextBox 9"/>
          <p:cNvSpPr txBox="1"/>
          <p:nvPr/>
        </p:nvSpPr>
        <p:spPr>
          <a:xfrm>
            <a:off x="548640" y="2578608"/>
            <a:ext cx="2697480" cy="128016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Phone PWA + Rome pack (300+ places hand-checked); 20 Rome walks; n≥500 survey</a:t>
            </a:r>
          </a:p>
        </p:txBody>
      </p:sp>
      <p:sp>
        <p:nvSpPr>
          <p:cNvPr id="11" name="Rectangle 10"/>
          <p:cNvSpPr/>
          <p:nvPr/>
        </p:nvSpPr>
        <p:spPr>
          <a:xfrm>
            <a:off x="548640" y="3520440"/>
            <a:ext cx="2697480" cy="132588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611880"/>
            <a:ext cx="2423160" cy="1188720"/>
          </a:xfrm>
          <a:prstGeom prst="rect">
            <a:avLst/>
          </a:prstGeom>
          <a:noFill/>
        </p:spPr>
        <p:txBody>
          <a:bodyPr wrap="square" lIns="0" rIns="0" tIns="0" bIns="0" anchor="t">
            <a:spAutoFit/>
          </a:bodyPr>
          <a:lstStyle/>
          <a:p>
            <a:pPr algn="l">
              <a:lnSpc>
                <a:spcPct val="115000"/>
              </a:lnSpc>
              <a:spcAft>
                <a:spcPts val="400"/>
              </a:spcAft>
            </a:pPr>
            <a:r>
              <a:rPr sz="1100" b="1" i="0">
                <a:solidFill>
                  <a:srgbClr val="14161A"/>
                </a:solidFill>
                <a:latin typeface="Inter"/>
              </a:rPr>
              <a:t>G0: ≥40% 'very disappointed'; ≥60% finish a 30-min walk; ≥25% would pay $149+</a:t>
            </a:r>
          </a:p>
        </p:txBody>
      </p:sp>
      <p:sp>
        <p:nvSpPr>
          <p:cNvPr id="13" name="Rectangle 12"/>
          <p:cNvSpPr/>
          <p:nvPr/>
        </p:nvSpPr>
        <p:spPr>
          <a:xfrm>
            <a:off x="3337560" y="1645920"/>
            <a:ext cx="2697480" cy="73152"/>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810512"/>
            <a:ext cx="2697480" cy="274320"/>
          </a:xfrm>
          <a:prstGeom prst="rect">
            <a:avLst/>
          </a:prstGeom>
          <a:noFill/>
        </p:spPr>
        <p:txBody>
          <a:bodyPr wrap="square" lIns="0" rIns="0" tIns="0" bIns="0" anchor="t">
            <a:spAutoFit/>
          </a:bodyPr>
          <a:lstStyle/>
          <a:p>
            <a:pPr algn="l">
              <a:lnSpc>
                <a:spcPct val="110000"/>
              </a:lnSpc>
              <a:spcAft>
                <a:spcPts val="400"/>
              </a:spcAft>
            </a:pPr>
            <a:r>
              <a:rPr sz="1000" b="1" i="0">
                <a:solidFill>
                  <a:srgbClr val="C4623A"/>
                </a:solidFill>
                <a:latin typeface="Inter"/>
              </a:rPr>
              <a:t>Stage 1 · Feb-May 27</a:t>
            </a:r>
          </a:p>
        </p:txBody>
      </p:sp>
      <p:sp>
        <p:nvSpPr>
          <p:cNvPr id="15" name="TextBox 14"/>
          <p:cNvSpPr txBox="1"/>
          <p:nvPr/>
        </p:nvSpPr>
        <p:spPr>
          <a:xfrm>
            <a:off x="3337560" y="2084831"/>
            <a:ext cx="2697480" cy="411480"/>
          </a:xfrm>
          <a:prstGeom prst="rect">
            <a:avLst/>
          </a:prstGeom>
          <a:noFill/>
        </p:spPr>
        <p:txBody>
          <a:bodyPr wrap="square" lIns="0" rIns="0" tIns="0" bIns="0" anchor="t">
            <a:spAutoFit/>
          </a:bodyPr>
          <a:lstStyle/>
          <a:p>
            <a:pPr algn="l">
              <a:lnSpc>
                <a:spcPct val="110000"/>
              </a:lnSpc>
              <a:spcAft>
                <a:spcPts val="400"/>
              </a:spcAft>
            </a:pPr>
            <a:r>
              <a:rPr sz="1900" b="0" i="0">
                <a:solidFill>
                  <a:srgbClr val="14161A"/>
                </a:solidFill>
                <a:latin typeface="Fraunces"/>
              </a:rPr>
              <a:t>Prove the device</a:t>
            </a:r>
          </a:p>
        </p:txBody>
      </p:sp>
      <p:sp>
        <p:nvSpPr>
          <p:cNvPr id="16" name="TextBox 15"/>
          <p:cNvSpPr txBox="1"/>
          <p:nvPr/>
        </p:nvSpPr>
        <p:spPr>
          <a:xfrm>
            <a:off x="3337560" y="2578608"/>
            <a:ext cx="2697480" cy="128016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50 EVT units; ODM selected (VN/MY); SoC locked; pre-seed closes; first hires</a:t>
            </a:r>
          </a:p>
        </p:txBody>
      </p:sp>
      <p:sp>
        <p:nvSpPr>
          <p:cNvPr id="17" name="Rectangle 16"/>
          <p:cNvSpPr/>
          <p:nvPr/>
        </p:nvSpPr>
        <p:spPr>
          <a:xfrm>
            <a:off x="3337560" y="3520440"/>
            <a:ext cx="2697480" cy="132588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3611880"/>
            <a:ext cx="2423160" cy="1188720"/>
          </a:xfrm>
          <a:prstGeom prst="rect">
            <a:avLst/>
          </a:prstGeom>
          <a:noFill/>
        </p:spPr>
        <p:txBody>
          <a:bodyPr wrap="square" lIns="0" rIns="0" tIns="0" bIns="0" anchor="t">
            <a:spAutoFit/>
          </a:bodyPr>
          <a:lstStyle/>
          <a:p>
            <a:pPr algn="l">
              <a:lnSpc>
                <a:spcPct val="115000"/>
              </a:lnSpc>
              <a:spcAft>
                <a:spcPts val="400"/>
              </a:spcAft>
            </a:pPr>
            <a:r>
              <a:rPr sz="1100" b="1" i="0">
                <a:solidFill>
                  <a:srgbClr val="14161A"/>
                </a:solidFill>
                <a:latin typeface="Inter"/>
              </a:rPr>
              <a:t>G1: battery ≥1.5 days measured; left/right ≥90% on walks; beta use ≥3 days/week</a:t>
            </a:r>
          </a:p>
        </p:txBody>
      </p:sp>
      <p:sp>
        <p:nvSpPr>
          <p:cNvPr id="19" name="Rectangle 18"/>
          <p:cNvSpPr/>
          <p:nvPr/>
        </p:nvSpPr>
        <p:spPr>
          <a:xfrm>
            <a:off x="6126480" y="1645920"/>
            <a:ext cx="2697480" cy="73152"/>
          </a:xfrm>
          <a:prstGeom prst="rect">
            <a:avLst/>
          </a:prstGeom>
          <a:solidFill>
            <a:srgbClr val="5E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1810512"/>
            <a:ext cx="2697480" cy="274320"/>
          </a:xfrm>
          <a:prstGeom prst="rect">
            <a:avLst/>
          </a:prstGeom>
          <a:noFill/>
        </p:spPr>
        <p:txBody>
          <a:bodyPr wrap="square" lIns="0" rIns="0" tIns="0" bIns="0" anchor="t">
            <a:spAutoFit/>
          </a:bodyPr>
          <a:lstStyle/>
          <a:p>
            <a:pPr algn="l">
              <a:lnSpc>
                <a:spcPct val="110000"/>
              </a:lnSpc>
              <a:spcAft>
                <a:spcPts val="400"/>
              </a:spcAft>
            </a:pPr>
            <a:r>
              <a:rPr sz="1000" b="1" i="0">
                <a:solidFill>
                  <a:srgbClr val="C4623A"/>
                </a:solidFill>
                <a:latin typeface="Inter"/>
              </a:rPr>
              <a:t>Stage 2 · Jun-Aug 27</a:t>
            </a:r>
          </a:p>
        </p:txBody>
      </p:sp>
      <p:sp>
        <p:nvSpPr>
          <p:cNvPr id="21" name="TextBox 20"/>
          <p:cNvSpPr txBox="1"/>
          <p:nvPr/>
        </p:nvSpPr>
        <p:spPr>
          <a:xfrm>
            <a:off x="6126480" y="2084831"/>
            <a:ext cx="2697480" cy="411480"/>
          </a:xfrm>
          <a:prstGeom prst="rect">
            <a:avLst/>
          </a:prstGeom>
          <a:noFill/>
        </p:spPr>
        <p:txBody>
          <a:bodyPr wrap="square" lIns="0" rIns="0" tIns="0" bIns="0" anchor="t">
            <a:spAutoFit/>
          </a:bodyPr>
          <a:lstStyle/>
          <a:p>
            <a:pPr algn="l">
              <a:lnSpc>
                <a:spcPct val="110000"/>
              </a:lnSpc>
              <a:spcAft>
                <a:spcPts val="400"/>
              </a:spcAft>
            </a:pPr>
            <a:r>
              <a:rPr sz="1900" b="0" i="0">
                <a:solidFill>
                  <a:srgbClr val="14161A"/>
                </a:solidFill>
                <a:latin typeface="Fraunces"/>
              </a:rPr>
              <a:t>Prove demand</a:t>
            </a:r>
          </a:p>
        </p:txBody>
      </p:sp>
      <p:sp>
        <p:nvSpPr>
          <p:cNvPr id="22" name="TextBox 21"/>
          <p:cNvSpPr txBox="1"/>
          <p:nvPr/>
        </p:nvSpPr>
        <p:spPr>
          <a:xfrm>
            <a:off x="6126480" y="2578608"/>
            <a:ext cx="2697480" cy="128016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Kickstarter (25 May-24 Jun); 20k list; DVT; certification starts</a:t>
            </a:r>
          </a:p>
        </p:txBody>
      </p:sp>
      <p:sp>
        <p:nvSpPr>
          <p:cNvPr id="23" name="Rectangle 22"/>
          <p:cNvSpPr/>
          <p:nvPr/>
        </p:nvSpPr>
        <p:spPr>
          <a:xfrm>
            <a:off x="6126480" y="3520440"/>
            <a:ext cx="2697480" cy="132588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611880"/>
            <a:ext cx="2423160" cy="1188720"/>
          </a:xfrm>
          <a:prstGeom prst="rect">
            <a:avLst/>
          </a:prstGeom>
          <a:noFill/>
        </p:spPr>
        <p:txBody>
          <a:bodyPr wrap="square" lIns="0" rIns="0" tIns="0" bIns="0" anchor="t">
            <a:spAutoFit/>
          </a:bodyPr>
          <a:lstStyle/>
          <a:p>
            <a:pPr algn="l">
              <a:lnSpc>
                <a:spcPct val="115000"/>
              </a:lnSpc>
              <a:spcAft>
                <a:spcPts val="400"/>
              </a:spcAft>
            </a:pPr>
            <a:r>
              <a:rPr sz="1100" b="1" i="0">
                <a:solidFill>
                  <a:srgbClr val="14161A"/>
                </a:solidFill>
                <a:latin typeface="Inter"/>
              </a:rPr>
              <a:t>G2: ≥$1M pledged; ≥3,000 backers; CPB &lt;$60</a:t>
            </a:r>
          </a:p>
        </p:txBody>
      </p:sp>
      <p:sp>
        <p:nvSpPr>
          <p:cNvPr id="25" name="Rectangle 24"/>
          <p:cNvSpPr/>
          <p:nvPr/>
        </p:nvSpPr>
        <p:spPr>
          <a:xfrm>
            <a:off x="8915400" y="1645920"/>
            <a:ext cx="2697480" cy="73152"/>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1810512"/>
            <a:ext cx="2697480" cy="274320"/>
          </a:xfrm>
          <a:prstGeom prst="rect">
            <a:avLst/>
          </a:prstGeom>
          <a:noFill/>
        </p:spPr>
        <p:txBody>
          <a:bodyPr wrap="square" lIns="0" rIns="0" tIns="0" bIns="0" anchor="t">
            <a:spAutoFit/>
          </a:bodyPr>
          <a:lstStyle/>
          <a:p>
            <a:pPr algn="l">
              <a:lnSpc>
                <a:spcPct val="110000"/>
              </a:lnSpc>
              <a:spcAft>
                <a:spcPts val="400"/>
              </a:spcAft>
            </a:pPr>
            <a:r>
              <a:rPr sz="1000" b="1" i="0">
                <a:solidFill>
                  <a:srgbClr val="C4623A"/>
                </a:solidFill>
                <a:latin typeface="Inter"/>
              </a:rPr>
              <a:t>Stage 3 · Sep 27-Apr 28</a:t>
            </a:r>
          </a:p>
        </p:txBody>
      </p:sp>
      <p:sp>
        <p:nvSpPr>
          <p:cNvPr id="27" name="TextBox 26"/>
          <p:cNvSpPr txBox="1"/>
          <p:nvPr/>
        </p:nvSpPr>
        <p:spPr>
          <a:xfrm>
            <a:off x="8915400" y="2084831"/>
            <a:ext cx="2697480" cy="411480"/>
          </a:xfrm>
          <a:prstGeom prst="rect">
            <a:avLst/>
          </a:prstGeom>
          <a:noFill/>
        </p:spPr>
        <p:txBody>
          <a:bodyPr wrap="square" lIns="0" rIns="0" tIns="0" bIns="0" anchor="t">
            <a:spAutoFit/>
          </a:bodyPr>
          <a:lstStyle/>
          <a:p>
            <a:pPr algn="l">
              <a:lnSpc>
                <a:spcPct val="110000"/>
              </a:lnSpc>
              <a:spcAft>
                <a:spcPts val="400"/>
              </a:spcAft>
            </a:pPr>
            <a:r>
              <a:rPr sz="1900" b="0" i="0">
                <a:solidFill>
                  <a:srgbClr val="14161A"/>
                </a:solidFill>
                <a:latin typeface="Fraunces"/>
              </a:rPr>
              <a:t>Ship</a:t>
            </a:r>
          </a:p>
        </p:txBody>
      </p:sp>
      <p:sp>
        <p:nvSpPr>
          <p:cNvPr id="28" name="TextBox 27"/>
          <p:cNvSpPr txBox="1"/>
          <p:nvPr/>
        </p:nvSpPr>
        <p:spPr>
          <a:xfrm>
            <a:off x="8915400" y="2578608"/>
            <a:ext cx="2697480" cy="1280160"/>
          </a:xfrm>
          <a:prstGeom prst="rect">
            <a:avLst/>
          </a:prstGeom>
          <a:noFill/>
        </p:spPr>
        <p:txBody>
          <a:bodyPr wrap="square" lIns="0" rIns="0" tIns="0" bIns="0" anchor="t">
            <a:spAutoFit/>
          </a:bodyPr>
          <a:lstStyle/>
          <a:p>
            <a:pPr algn="l">
              <a:lnSpc>
                <a:spcPct val="115000"/>
              </a:lnSpc>
              <a:spcAft>
                <a:spcPts val="400"/>
              </a:spcAft>
            </a:pPr>
            <a:r>
              <a:rPr sz="1100" b="0" i="0">
                <a:solidFill>
                  <a:srgbClr val="5A5D63"/>
                </a:solidFill>
                <a:latin typeface="Inter"/>
              </a:rPr>
              <a:t>$6M seed; PVT → first 5k units; FCC/CE/UKCA/carriers; 1 → 8 cities; B2B pilots</a:t>
            </a:r>
          </a:p>
        </p:txBody>
      </p:sp>
      <p:sp>
        <p:nvSpPr>
          <p:cNvPr id="29" name="Rectangle 28"/>
          <p:cNvSpPr/>
          <p:nvPr/>
        </p:nvSpPr>
        <p:spPr>
          <a:xfrm>
            <a:off x="8915400" y="3520440"/>
            <a:ext cx="2697480" cy="132588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60" y="3611880"/>
            <a:ext cx="2423160" cy="1188720"/>
          </a:xfrm>
          <a:prstGeom prst="rect">
            <a:avLst/>
          </a:prstGeom>
          <a:noFill/>
        </p:spPr>
        <p:txBody>
          <a:bodyPr wrap="square" lIns="0" rIns="0" tIns="0" bIns="0" anchor="t">
            <a:spAutoFit/>
          </a:bodyPr>
          <a:lstStyle/>
          <a:p>
            <a:pPr algn="l">
              <a:lnSpc>
                <a:spcPct val="115000"/>
              </a:lnSpc>
              <a:spcAft>
                <a:spcPts val="400"/>
              </a:spcAft>
            </a:pPr>
            <a:r>
              <a:rPr sz="1100" b="1" i="0">
                <a:solidFill>
                  <a:srgbClr val="14161A"/>
                </a:solidFill>
                <a:latin typeface="Inter"/>
              </a:rPr>
              <a:t>G3: returns &lt;5%; attach &gt;55%; churn &lt;6%/mo; NPS &gt;50</a:t>
            </a:r>
          </a:p>
        </p:txBody>
      </p:sp>
      <p:sp>
        <p:nvSpPr>
          <p:cNvPr id="31" name="TextBox 30"/>
          <p:cNvSpPr txBox="1"/>
          <p:nvPr/>
        </p:nvSpPr>
        <p:spPr>
          <a:xfrm>
            <a:off x="548640" y="5120640"/>
            <a:ext cx="11064240" cy="548640"/>
          </a:xfrm>
          <a:prstGeom prst="rect">
            <a:avLst/>
          </a:prstGeom>
          <a:noFill/>
        </p:spPr>
        <p:txBody>
          <a:bodyPr wrap="square" lIns="0" rIns="0" tIns="0" bIns="0" anchor="t">
            <a:spAutoFit/>
          </a:bodyPr>
          <a:lstStyle/>
          <a:p>
            <a:pPr algn="l">
              <a:lnSpc>
                <a:spcPct val="110000"/>
              </a:lnSpc>
              <a:spcAft>
                <a:spcPts val="400"/>
              </a:spcAft>
            </a:pPr>
            <a:r>
              <a:rPr sz="1150" b="1" i="0">
                <a:solidFill>
                  <a:srgbClr val="14161A"/>
                </a:solidFill>
                <a:latin typeface="Inter"/>
              </a:rPr>
              <a:t>What we will not do: </a:t>
            </a:r>
            <a:r>
              <a:rPr sz="1150" b="0" i="0">
                <a:solidFill>
                  <a:srgbClr val="5A5D63"/>
                </a:solidFill>
                <a:latin typeface="Inter"/>
              </a:rPr>
              <a:t>no glasses; no camera before Atlas; ≤1 new city/month until City Pack quality is measured; no retail before DTC returns &lt;5%. 2028: retail + 20 cities.</a:t>
            </a:r>
          </a:p>
        </p:txBody>
      </p:sp>
      <p:sp>
        <p:nvSpPr>
          <p:cNvPr id="32" name="TextBox 31"/>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 company/operating-plan.md, COMPANY.md timeline, gtm/README.md.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TEAM AND HIRING</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2600" b="0" i="0">
                <a:solidFill>
                  <a:srgbClr val="14161A"/>
                </a:solidFill>
                <a:latin typeface="Fraunces"/>
              </a:rPr>
              <a:t>Founder-led today; the pre-seed buys the founding team.</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14</a:t>
            </a:r>
          </a:p>
        </p:txBody>
      </p:sp>
      <p:sp>
        <p:nvSpPr>
          <p:cNvPr id="7" name="Rectangle 6"/>
          <p:cNvSpPr/>
          <p:nvPr/>
        </p:nvSpPr>
        <p:spPr>
          <a:xfrm>
            <a:off x="548640" y="1645920"/>
            <a:ext cx="3657600" cy="210312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45920"/>
            <a:ext cx="54864" cy="2103120"/>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92224"/>
            <a:ext cx="3255264"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Nimit Jain, Founder &amp; CEO</a:t>
            </a:r>
          </a:p>
        </p:txBody>
      </p:sp>
      <p:sp>
        <p:nvSpPr>
          <p:cNvPr id="10" name="TextBox 9"/>
          <p:cNvSpPr txBox="1"/>
          <p:nvPr/>
        </p:nvSpPr>
        <p:spPr>
          <a:xfrm>
            <a:off x="749808" y="2176272"/>
            <a:ext cx="3255264" cy="1481328"/>
          </a:xfrm>
          <a:prstGeom prst="rect">
            <a:avLst/>
          </a:prstGeom>
          <a:noFill/>
        </p:spPr>
        <p:txBody>
          <a:bodyPr wrap="square" lIns="0" rIns="0" tIns="0" bIns="0" anchor="t">
            <a:spAutoFit/>
          </a:bodyPr>
          <a:lstStyle/>
          <a:p>
            <a:pPr algn="l">
              <a:lnSpc>
                <a:spcPct val="112000"/>
              </a:lnSpc>
              <a:spcAft>
                <a:spcPts val="400"/>
              </a:spcAft>
            </a:pPr>
            <a:r>
              <a:rPr sz="1100" b="0" i="0">
                <a:solidFill>
                  <a:srgbClr val="5A5D63"/>
                </a:solidFill>
                <a:latin typeface="Inter"/>
              </a:rPr>
              <a:t>Product, fundraising and story quality. Today every department (research, brand, design, hardware, software, finance, GTM, legal/ops, IR) is run as an AI-agent team with founder sign-off on every output; this deck is built from their files.</a:t>
            </a:r>
          </a:p>
        </p:txBody>
      </p:sp>
      <p:sp>
        <p:nvSpPr>
          <p:cNvPr id="11" name="Rectangle 10"/>
          <p:cNvSpPr/>
          <p:nvPr/>
        </p:nvSpPr>
        <p:spPr>
          <a:xfrm>
            <a:off x="548640" y="3886200"/>
            <a:ext cx="3657600" cy="1920240"/>
          </a:xfrm>
          <a:prstGeom prst="rect">
            <a:avLst/>
          </a:prstGeom>
          <a:solidFill>
            <a:srgbClr val="FBF8F3"/>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86200"/>
            <a:ext cx="54864" cy="1920240"/>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4032504"/>
            <a:ext cx="3255264" cy="457200"/>
          </a:xfrm>
          <a:prstGeom prst="rect">
            <a:avLst/>
          </a:prstGeom>
          <a:noFill/>
        </p:spPr>
        <p:txBody>
          <a:bodyPr wrap="square" lIns="0" rIns="0" tIns="0" bIns="0" anchor="t">
            <a:spAutoFit/>
          </a:bodyPr>
          <a:lstStyle/>
          <a:p>
            <a:pPr algn="l">
              <a:lnSpc>
                <a:spcPct val="110000"/>
              </a:lnSpc>
              <a:spcAft>
                <a:spcPts val="400"/>
              </a:spcAft>
            </a:pPr>
            <a:r>
              <a:rPr sz="1500" b="1" i="0">
                <a:solidFill>
                  <a:srgbClr val="14161A"/>
                </a:solidFill>
                <a:latin typeface="Inter"/>
              </a:rPr>
              <a:t>Contract-first, to de-risk</a:t>
            </a:r>
          </a:p>
        </p:txBody>
      </p:sp>
      <p:sp>
        <p:nvSpPr>
          <p:cNvPr id="14" name="TextBox 13"/>
          <p:cNvSpPr txBox="1"/>
          <p:nvPr/>
        </p:nvSpPr>
        <p:spPr>
          <a:xfrm>
            <a:off x="749808" y="4416552"/>
            <a:ext cx="3255264" cy="1298448"/>
          </a:xfrm>
          <a:prstGeom prst="rect">
            <a:avLst/>
          </a:prstGeom>
          <a:noFill/>
        </p:spPr>
        <p:txBody>
          <a:bodyPr wrap="square" lIns="0" rIns="0" tIns="0" bIns="0" anchor="t">
            <a:spAutoFit/>
          </a:bodyPr>
          <a:lstStyle/>
          <a:p>
            <a:pPr algn="l">
              <a:lnSpc>
                <a:spcPct val="112000"/>
              </a:lnSpc>
              <a:spcAft>
                <a:spcPts val="400"/>
              </a:spcAft>
            </a:pPr>
            <a:r>
              <a:rPr sz="1100" b="0" i="0">
                <a:solidFill>
                  <a:srgbClr val="5A5D63"/>
                </a:solidFill>
                <a:latin typeface="Inter"/>
              </a:rPr>
              <a:t>Industrial-design studio, EE/RF consultancy, ODM programme manager, fractional CFO and GC, patent/TM attorneys. Pre-seed team 6-8 people in 2027; ~20 at seed (2028).</a:t>
            </a:r>
          </a:p>
        </p:txBody>
      </p:sp>
      <p:sp>
        <p:nvSpPr>
          <p:cNvPr id="15" name="Rectangle 14"/>
          <p:cNvSpPr/>
          <p:nvPr/>
        </p:nvSpPr>
        <p:spPr>
          <a:xfrm>
            <a:off x="4434840" y="1645920"/>
            <a:ext cx="7223760" cy="384048"/>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645920"/>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F3EEE6"/>
                </a:solidFill>
                <a:latin typeface="Inter"/>
              </a:rPr>
              <a:t>#</a:t>
            </a:r>
          </a:p>
        </p:txBody>
      </p:sp>
      <p:sp>
        <p:nvSpPr>
          <p:cNvPr id="17" name="TextBox 16"/>
          <p:cNvSpPr txBox="1"/>
          <p:nvPr/>
        </p:nvSpPr>
        <p:spPr>
          <a:xfrm>
            <a:off x="4937760" y="1645920"/>
            <a:ext cx="498348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F3EEE6"/>
                </a:solidFill>
                <a:latin typeface="Inter"/>
              </a:rPr>
              <a:t>First hires (pre-seed)</a:t>
            </a:r>
          </a:p>
        </p:txBody>
      </p:sp>
      <p:sp>
        <p:nvSpPr>
          <p:cNvPr id="18" name="TextBox 17"/>
          <p:cNvSpPr txBox="1"/>
          <p:nvPr/>
        </p:nvSpPr>
        <p:spPr>
          <a:xfrm>
            <a:off x="10058400" y="1645920"/>
            <a:ext cx="155448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F3EEE6"/>
                </a:solidFill>
                <a:latin typeface="Inter"/>
              </a:rPr>
              <a:t>When</a:t>
            </a:r>
          </a:p>
        </p:txBody>
      </p:sp>
      <p:sp>
        <p:nvSpPr>
          <p:cNvPr id="19" name="TextBox 18"/>
          <p:cNvSpPr txBox="1"/>
          <p:nvPr/>
        </p:nvSpPr>
        <p:spPr>
          <a:xfrm>
            <a:off x="4526280" y="2029968"/>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1</a:t>
            </a:r>
          </a:p>
        </p:txBody>
      </p:sp>
      <p:sp>
        <p:nvSpPr>
          <p:cNvPr id="20" name="TextBox 19"/>
          <p:cNvSpPr txBox="1"/>
          <p:nvPr/>
        </p:nvSpPr>
        <p:spPr>
          <a:xfrm>
            <a:off x="4937760" y="2029968"/>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Founding Embedded / Firmware Lead</a:t>
            </a:r>
          </a:p>
        </p:txBody>
      </p:sp>
      <p:sp>
        <p:nvSpPr>
          <p:cNvPr id="21" name="TextBox 20"/>
          <p:cNvSpPr txBox="1"/>
          <p:nvPr/>
        </p:nvSpPr>
        <p:spPr>
          <a:xfrm>
            <a:off x="10058400" y="2029968"/>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Nov 2026</a:t>
            </a:r>
          </a:p>
        </p:txBody>
      </p:sp>
      <p:sp>
        <p:nvSpPr>
          <p:cNvPr id="22" name="Rectangle 21"/>
          <p:cNvSpPr/>
          <p:nvPr/>
        </p:nvSpPr>
        <p:spPr>
          <a:xfrm>
            <a:off x="4434840" y="2414016"/>
            <a:ext cx="7223760" cy="38404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2414016"/>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2</a:t>
            </a:r>
          </a:p>
        </p:txBody>
      </p:sp>
      <p:sp>
        <p:nvSpPr>
          <p:cNvPr id="24" name="TextBox 23"/>
          <p:cNvSpPr txBox="1"/>
          <p:nvPr/>
        </p:nvSpPr>
        <p:spPr>
          <a:xfrm>
            <a:off x="4937760" y="2414016"/>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Founding ML / Story-Engine Engineer</a:t>
            </a:r>
          </a:p>
        </p:txBody>
      </p:sp>
      <p:sp>
        <p:nvSpPr>
          <p:cNvPr id="25" name="TextBox 24"/>
          <p:cNvSpPr txBox="1"/>
          <p:nvPr/>
        </p:nvSpPr>
        <p:spPr>
          <a:xfrm>
            <a:off x="10058400" y="2414016"/>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Nov 2026</a:t>
            </a:r>
          </a:p>
        </p:txBody>
      </p:sp>
      <p:sp>
        <p:nvSpPr>
          <p:cNvPr id="26" name="TextBox 25"/>
          <p:cNvSpPr txBox="1"/>
          <p:nvPr/>
        </p:nvSpPr>
        <p:spPr>
          <a:xfrm>
            <a:off x="4526280" y="2798064"/>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3</a:t>
            </a:r>
          </a:p>
        </p:txBody>
      </p:sp>
      <p:sp>
        <p:nvSpPr>
          <p:cNvPr id="27" name="TextBox 26"/>
          <p:cNvSpPr txBox="1"/>
          <p:nvPr/>
        </p:nvSpPr>
        <p:spPr>
          <a:xfrm>
            <a:off x="4937760" y="2798064"/>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Mobile + Backend Engineer</a:t>
            </a:r>
          </a:p>
        </p:txBody>
      </p:sp>
      <p:sp>
        <p:nvSpPr>
          <p:cNvPr id="28" name="TextBox 27"/>
          <p:cNvSpPr txBox="1"/>
          <p:nvPr/>
        </p:nvSpPr>
        <p:spPr>
          <a:xfrm>
            <a:off x="10058400" y="2798064"/>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Dec 2026</a:t>
            </a:r>
          </a:p>
        </p:txBody>
      </p:sp>
      <p:sp>
        <p:nvSpPr>
          <p:cNvPr id="29" name="Rectangle 28"/>
          <p:cNvSpPr/>
          <p:nvPr/>
        </p:nvSpPr>
        <p:spPr>
          <a:xfrm>
            <a:off x="4434840" y="3182112"/>
            <a:ext cx="7223760" cy="38404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3182112"/>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4</a:t>
            </a:r>
          </a:p>
        </p:txBody>
      </p:sp>
      <p:sp>
        <p:nvSpPr>
          <p:cNvPr id="31" name="TextBox 30"/>
          <p:cNvSpPr txBox="1"/>
          <p:nvPr/>
        </p:nvSpPr>
        <p:spPr>
          <a:xfrm>
            <a:off x="4937760" y="3182112"/>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Hardware / Electrical Lead (contract first)</a:t>
            </a:r>
          </a:p>
        </p:txBody>
      </p:sp>
      <p:sp>
        <p:nvSpPr>
          <p:cNvPr id="32" name="TextBox 31"/>
          <p:cNvSpPr txBox="1"/>
          <p:nvPr/>
        </p:nvSpPr>
        <p:spPr>
          <a:xfrm>
            <a:off x="10058400" y="3182112"/>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Jan 2027</a:t>
            </a:r>
          </a:p>
        </p:txBody>
      </p:sp>
      <p:sp>
        <p:nvSpPr>
          <p:cNvPr id="33" name="TextBox 32"/>
          <p:cNvSpPr txBox="1"/>
          <p:nvPr/>
        </p:nvSpPr>
        <p:spPr>
          <a:xfrm>
            <a:off x="4526280" y="3566160"/>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5</a:t>
            </a:r>
          </a:p>
        </p:txBody>
      </p:sp>
      <p:sp>
        <p:nvSpPr>
          <p:cNvPr id="34" name="TextBox 33"/>
          <p:cNvSpPr txBox="1"/>
          <p:nvPr/>
        </p:nvSpPr>
        <p:spPr>
          <a:xfrm>
            <a:off x="4937760" y="3566160"/>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Sensor-Fusion / Map Vision Engineer</a:t>
            </a:r>
          </a:p>
        </p:txBody>
      </p:sp>
      <p:sp>
        <p:nvSpPr>
          <p:cNvPr id="35" name="TextBox 34"/>
          <p:cNvSpPr txBox="1"/>
          <p:nvPr/>
        </p:nvSpPr>
        <p:spPr>
          <a:xfrm>
            <a:off x="10058400" y="3566160"/>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Jan 2027</a:t>
            </a:r>
          </a:p>
        </p:txBody>
      </p:sp>
      <p:sp>
        <p:nvSpPr>
          <p:cNvPr id="36" name="Rectangle 35"/>
          <p:cNvSpPr/>
          <p:nvPr/>
        </p:nvSpPr>
        <p:spPr>
          <a:xfrm>
            <a:off x="4434840" y="3950208"/>
            <a:ext cx="7223760" cy="38404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3950208"/>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6</a:t>
            </a:r>
          </a:p>
        </p:txBody>
      </p:sp>
      <p:sp>
        <p:nvSpPr>
          <p:cNvPr id="38" name="TextBox 37"/>
          <p:cNvSpPr txBox="1"/>
          <p:nvPr/>
        </p:nvSpPr>
        <p:spPr>
          <a:xfrm>
            <a:off x="4937760" y="3950208"/>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Content Editor-in-Chief (City Packs)</a:t>
            </a:r>
          </a:p>
        </p:txBody>
      </p:sp>
      <p:sp>
        <p:nvSpPr>
          <p:cNvPr id="39" name="TextBox 38"/>
          <p:cNvSpPr txBox="1"/>
          <p:nvPr/>
        </p:nvSpPr>
        <p:spPr>
          <a:xfrm>
            <a:off x="10058400" y="3950208"/>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Jan 2027</a:t>
            </a:r>
          </a:p>
        </p:txBody>
      </p:sp>
      <p:sp>
        <p:nvSpPr>
          <p:cNvPr id="40" name="TextBox 39"/>
          <p:cNvSpPr txBox="1"/>
          <p:nvPr/>
        </p:nvSpPr>
        <p:spPr>
          <a:xfrm>
            <a:off x="4526280" y="4334256"/>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7</a:t>
            </a:r>
          </a:p>
        </p:txBody>
      </p:sp>
      <p:sp>
        <p:nvSpPr>
          <p:cNvPr id="41" name="TextBox 40"/>
          <p:cNvSpPr txBox="1"/>
          <p:nvPr/>
        </p:nvSpPr>
        <p:spPr>
          <a:xfrm>
            <a:off x="4937760" y="4334256"/>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Growth &amp; Community Lead (Kickstarter)</a:t>
            </a:r>
          </a:p>
        </p:txBody>
      </p:sp>
      <p:sp>
        <p:nvSpPr>
          <p:cNvPr id="42" name="TextBox 41"/>
          <p:cNvSpPr txBox="1"/>
          <p:nvPr/>
        </p:nvSpPr>
        <p:spPr>
          <a:xfrm>
            <a:off x="10058400" y="4334256"/>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Feb 2027</a:t>
            </a:r>
          </a:p>
        </p:txBody>
      </p:sp>
      <p:sp>
        <p:nvSpPr>
          <p:cNvPr id="43" name="Rectangle 42"/>
          <p:cNvSpPr/>
          <p:nvPr/>
        </p:nvSpPr>
        <p:spPr>
          <a:xfrm>
            <a:off x="4434840" y="4718304"/>
            <a:ext cx="7223760" cy="38404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4718304"/>
            <a:ext cx="274320" cy="384048"/>
          </a:xfrm>
          <a:prstGeom prst="rect">
            <a:avLst/>
          </a:prstGeom>
          <a:noFill/>
        </p:spPr>
        <p:txBody>
          <a:bodyPr wrap="square" lIns="0" rIns="0" tIns="0" bIns="0" anchor="ctr">
            <a:spAutoFit/>
          </a:bodyPr>
          <a:lstStyle/>
          <a:p>
            <a:pPr algn="l">
              <a:lnSpc>
                <a:spcPct val="110000"/>
              </a:lnSpc>
              <a:spcAft>
                <a:spcPts val="400"/>
              </a:spcAft>
            </a:pPr>
            <a:r>
              <a:rPr sz="1100" b="1" i="0">
                <a:solidFill>
                  <a:srgbClr val="14161A"/>
                </a:solidFill>
                <a:latin typeface="Inter"/>
              </a:rPr>
              <a:t>8</a:t>
            </a:r>
          </a:p>
        </p:txBody>
      </p:sp>
      <p:sp>
        <p:nvSpPr>
          <p:cNvPr id="45" name="TextBox 44"/>
          <p:cNvSpPr txBox="1"/>
          <p:nvPr/>
        </p:nvSpPr>
        <p:spPr>
          <a:xfrm>
            <a:off x="4937760" y="4718304"/>
            <a:ext cx="4983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Supply Chain &amp; Quality Manager</a:t>
            </a:r>
          </a:p>
        </p:txBody>
      </p:sp>
      <p:sp>
        <p:nvSpPr>
          <p:cNvPr id="46" name="TextBox 45"/>
          <p:cNvSpPr txBox="1"/>
          <p:nvPr/>
        </p:nvSpPr>
        <p:spPr>
          <a:xfrm>
            <a:off x="10058400" y="4718304"/>
            <a:ext cx="1554480" cy="384048"/>
          </a:xfrm>
          <a:prstGeom prst="rect">
            <a:avLst/>
          </a:prstGeom>
          <a:noFill/>
        </p:spPr>
        <p:txBody>
          <a:bodyPr wrap="square" lIns="0" rIns="0" tIns="0" bIns="0" anchor="ctr">
            <a:spAutoFit/>
          </a:bodyPr>
          <a:lstStyle/>
          <a:p>
            <a:pPr algn="l">
              <a:lnSpc>
                <a:spcPct val="110000"/>
              </a:lnSpc>
              <a:spcAft>
                <a:spcPts val="400"/>
              </a:spcAft>
            </a:pPr>
            <a:r>
              <a:rPr sz="1100" b="0" i="0">
                <a:solidFill>
                  <a:srgbClr val="14161A"/>
                </a:solidFill>
                <a:latin typeface="Inter"/>
              </a:rPr>
              <a:t>Mar 2027</a:t>
            </a:r>
          </a:p>
        </p:txBody>
      </p:sp>
      <p:sp>
        <p:nvSpPr>
          <p:cNvPr id="47" name="Rectangle 46"/>
          <p:cNvSpPr/>
          <p:nvPr/>
        </p:nvSpPr>
        <p:spPr>
          <a:xfrm>
            <a:off x="4434840" y="5102352"/>
            <a:ext cx="7223760" cy="9000"/>
          </a:xfrm>
          <a:prstGeom prst="rect">
            <a:avLst/>
          </a:prstGeom>
          <a:solidFill>
            <a:srgbClr val="DD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34840" y="5212080"/>
            <a:ext cx="7223760" cy="640080"/>
          </a:xfrm>
          <a:prstGeom prst="rect">
            <a:avLst/>
          </a:prstGeom>
          <a:noFill/>
        </p:spPr>
        <p:txBody>
          <a:bodyPr wrap="square" lIns="0" rIns="0" tIns="0" bIns="0" anchor="t">
            <a:spAutoFit/>
          </a:bodyPr>
          <a:lstStyle/>
          <a:p>
            <a:pPr algn="l">
              <a:lnSpc>
                <a:spcPct val="110000"/>
              </a:lnSpc>
              <a:spcAft>
                <a:spcPts val="400"/>
              </a:spcAft>
            </a:pPr>
            <a:r>
              <a:rPr sz="1050" b="0" i="0">
                <a:solidFill>
                  <a:srgbClr val="5A5D63"/>
                </a:solidFill>
                <a:latin typeface="Inter"/>
              </a:rPr>
              <a:t>We are not claiming hires, advisors or investors that do not exist. Roles, salary bands (US/EU/IN) and equity bands: legal-ops/hr-hiring.md. 12% option pool planned.</a:t>
            </a:r>
          </a:p>
        </p:txBody>
      </p:sp>
      <p:sp>
        <p:nvSpPr>
          <p:cNvPr id="49" name="TextBox 48"/>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Sources: company/org-chart.md, legal-ops/hr-hiring.md, legal-ops/README.md.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EE6"/>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FINANCIALS</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lnSpc>
                <a:spcPct val="100000"/>
              </a:lnSpc>
              <a:spcAft>
                <a:spcPts val="400"/>
              </a:spcAft>
            </a:pPr>
            <a:r>
              <a:rPr sz="3000" b="0" i="0">
                <a:solidFill>
                  <a:srgbClr val="14161A"/>
                </a:solidFill>
                <a:latin typeface="Fraunces"/>
              </a:rPr>
              <a:t>Base case: $111M revenue and EBITDA-positive in FY2031.</a:t>
            </a:r>
          </a:p>
        </p:txBody>
      </p:sp>
      <p:pic>
        <p:nvPicPr>
          <p:cNvPr id="4" name="Picture 3" descr="lore-lockup-horizontal-ink-1600w.png"/>
          <p:cNvPicPr>
            <a:picLocks noChangeAspect="1"/>
          </p:cNvPicPr>
          <p:nvPr/>
        </p:nvPicPr>
        <p:blipFill>
          <a:blip r:embed="rId2"/>
          <a:stretch>
            <a:fillRect/>
          </a:stretch>
        </p:blipFill>
        <p:spPr>
          <a:xfrm>
            <a:off x="548640" y="6429032"/>
            <a:ext cx="822960" cy="199567"/>
          </a:xfrm>
          <a:prstGeom prst="rect">
            <a:avLst/>
          </a:prstGeom>
        </p:spPr>
      </p:pic>
      <p:sp>
        <p:nvSpPr>
          <p:cNvPr id="5" name="TextBox 4"/>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6" name="TextBox 5"/>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15</a:t>
            </a:r>
          </a:p>
        </p:txBody>
      </p:sp>
      <p:sp>
        <p:nvSpPr>
          <p:cNvPr id="7" name="Rectangle 6"/>
          <p:cNvSpPr/>
          <p:nvPr/>
        </p:nvSpPr>
        <p:spPr>
          <a:xfrm>
            <a:off x="548640" y="1600200"/>
            <a:ext cx="6080760" cy="384048"/>
          </a:xfrm>
          <a:prstGeom prst="rect">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1463040" cy="384048"/>
          </a:xfrm>
          <a:prstGeom prst="rect">
            <a:avLst/>
          </a:prstGeom>
          <a:noFill/>
        </p:spPr>
        <p:txBody>
          <a:bodyPr wrap="square" lIns="0" rIns="0" tIns="0" bIns="0" anchor="ctr">
            <a:spAutoFit/>
          </a:bodyPr>
          <a:lstStyle/>
          <a:p>
            <a:pPr algn="l">
              <a:lnSpc>
                <a:spcPct val="110000"/>
              </a:lnSpc>
              <a:spcAft>
                <a:spcPts val="400"/>
              </a:spcAft>
            </a:pPr>
            <a:r>
              <a:rPr sz="1050" b="1" i="0">
                <a:solidFill>
                  <a:srgbClr val="F3EEE6"/>
                </a:solidFill>
                <a:latin typeface="Inter"/>
              </a:rPr>
              <a:t>Base case</a:t>
            </a:r>
          </a:p>
        </p:txBody>
      </p:sp>
      <p:sp>
        <p:nvSpPr>
          <p:cNvPr id="9" name="TextBox 8"/>
          <p:cNvSpPr txBox="1"/>
          <p:nvPr/>
        </p:nvSpPr>
        <p:spPr>
          <a:xfrm>
            <a:off x="2240280" y="1600200"/>
            <a:ext cx="758952" cy="384048"/>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FY27</a:t>
            </a:r>
          </a:p>
        </p:txBody>
      </p:sp>
      <p:sp>
        <p:nvSpPr>
          <p:cNvPr id="10" name="TextBox 9"/>
          <p:cNvSpPr txBox="1"/>
          <p:nvPr/>
        </p:nvSpPr>
        <p:spPr>
          <a:xfrm>
            <a:off x="3136392" y="1600200"/>
            <a:ext cx="758952" cy="384048"/>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FY28</a:t>
            </a:r>
          </a:p>
        </p:txBody>
      </p:sp>
      <p:sp>
        <p:nvSpPr>
          <p:cNvPr id="11" name="TextBox 10"/>
          <p:cNvSpPr txBox="1"/>
          <p:nvPr/>
        </p:nvSpPr>
        <p:spPr>
          <a:xfrm>
            <a:off x="4032504" y="1600200"/>
            <a:ext cx="758952" cy="384048"/>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FY29</a:t>
            </a:r>
          </a:p>
        </p:txBody>
      </p:sp>
      <p:sp>
        <p:nvSpPr>
          <p:cNvPr id="12" name="TextBox 11"/>
          <p:cNvSpPr txBox="1"/>
          <p:nvPr/>
        </p:nvSpPr>
        <p:spPr>
          <a:xfrm>
            <a:off x="4928616" y="1600200"/>
            <a:ext cx="758952" cy="384048"/>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FY30</a:t>
            </a:r>
          </a:p>
        </p:txBody>
      </p:sp>
      <p:sp>
        <p:nvSpPr>
          <p:cNvPr id="13" name="TextBox 12"/>
          <p:cNvSpPr txBox="1"/>
          <p:nvPr/>
        </p:nvSpPr>
        <p:spPr>
          <a:xfrm>
            <a:off x="5824728" y="1600200"/>
            <a:ext cx="758952" cy="384048"/>
          </a:xfrm>
          <a:prstGeom prst="rect">
            <a:avLst/>
          </a:prstGeom>
          <a:noFill/>
        </p:spPr>
        <p:txBody>
          <a:bodyPr wrap="square" lIns="0" rIns="0" tIns="0" bIns="0" anchor="ctr">
            <a:spAutoFit/>
          </a:bodyPr>
          <a:lstStyle/>
          <a:p>
            <a:pPr algn="r">
              <a:lnSpc>
                <a:spcPct val="110000"/>
              </a:lnSpc>
              <a:spcAft>
                <a:spcPts val="400"/>
              </a:spcAft>
            </a:pPr>
            <a:r>
              <a:rPr sz="1050" b="1" i="0">
                <a:solidFill>
                  <a:srgbClr val="F3EEE6"/>
                </a:solidFill>
                <a:latin typeface="Inter"/>
              </a:rPr>
              <a:t>FY31</a:t>
            </a:r>
          </a:p>
        </p:txBody>
      </p:sp>
      <p:sp>
        <p:nvSpPr>
          <p:cNvPr id="14" name="TextBox 13"/>
          <p:cNvSpPr txBox="1"/>
          <p:nvPr/>
        </p:nvSpPr>
        <p:spPr>
          <a:xfrm>
            <a:off x="640080" y="1984248"/>
            <a:ext cx="1463040" cy="384048"/>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Units</a:t>
            </a:r>
          </a:p>
        </p:txBody>
      </p:sp>
      <p:sp>
        <p:nvSpPr>
          <p:cNvPr id="15" name="TextBox 14"/>
          <p:cNvSpPr txBox="1"/>
          <p:nvPr/>
        </p:nvSpPr>
        <p:spPr>
          <a:xfrm>
            <a:off x="2240280" y="1984248"/>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3.4k</a:t>
            </a:r>
          </a:p>
        </p:txBody>
      </p:sp>
      <p:sp>
        <p:nvSpPr>
          <p:cNvPr id="16" name="TextBox 15"/>
          <p:cNvSpPr txBox="1"/>
          <p:nvPr/>
        </p:nvSpPr>
        <p:spPr>
          <a:xfrm>
            <a:off x="3136392" y="1984248"/>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40k</a:t>
            </a:r>
          </a:p>
        </p:txBody>
      </p:sp>
      <p:sp>
        <p:nvSpPr>
          <p:cNvPr id="17" name="TextBox 16"/>
          <p:cNvSpPr txBox="1"/>
          <p:nvPr/>
        </p:nvSpPr>
        <p:spPr>
          <a:xfrm>
            <a:off x="4032504" y="1984248"/>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120k</a:t>
            </a:r>
          </a:p>
        </p:txBody>
      </p:sp>
      <p:sp>
        <p:nvSpPr>
          <p:cNvPr id="18" name="TextBox 17"/>
          <p:cNvSpPr txBox="1"/>
          <p:nvPr/>
        </p:nvSpPr>
        <p:spPr>
          <a:xfrm>
            <a:off x="4928616" y="1984248"/>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250k</a:t>
            </a:r>
          </a:p>
        </p:txBody>
      </p:sp>
      <p:sp>
        <p:nvSpPr>
          <p:cNvPr id="19" name="TextBox 18"/>
          <p:cNvSpPr txBox="1"/>
          <p:nvPr/>
        </p:nvSpPr>
        <p:spPr>
          <a:xfrm>
            <a:off x="5824728" y="1984248"/>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400k</a:t>
            </a:r>
          </a:p>
        </p:txBody>
      </p:sp>
      <p:sp>
        <p:nvSpPr>
          <p:cNvPr id="20" name="Rectangle 19"/>
          <p:cNvSpPr/>
          <p:nvPr/>
        </p:nvSpPr>
        <p:spPr>
          <a:xfrm>
            <a:off x="548640" y="2368296"/>
            <a:ext cx="6080760" cy="38404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368296"/>
            <a:ext cx="1463040" cy="384048"/>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Revenue</a:t>
            </a:r>
          </a:p>
        </p:txBody>
      </p:sp>
      <p:sp>
        <p:nvSpPr>
          <p:cNvPr id="22" name="TextBox 21"/>
          <p:cNvSpPr txBox="1"/>
          <p:nvPr/>
        </p:nvSpPr>
        <p:spPr>
          <a:xfrm>
            <a:off x="2240280" y="2368296"/>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$596k</a:t>
            </a:r>
          </a:p>
        </p:txBody>
      </p:sp>
      <p:sp>
        <p:nvSpPr>
          <p:cNvPr id="23" name="TextBox 22"/>
          <p:cNvSpPr txBox="1"/>
          <p:nvPr/>
        </p:nvSpPr>
        <p:spPr>
          <a:xfrm>
            <a:off x="3136392" y="2368296"/>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$10.1M</a:t>
            </a:r>
          </a:p>
        </p:txBody>
      </p:sp>
      <p:sp>
        <p:nvSpPr>
          <p:cNvPr id="24" name="TextBox 23"/>
          <p:cNvSpPr txBox="1"/>
          <p:nvPr/>
        </p:nvSpPr>
        <p:spPr>
          <a:xfrm>
            <a:off x="4032504" y="2368296"/>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$31.6M</a:t>
            </a:r>
          </a:p>
        </p:txBody>
      </p:sp>
      <p:sp>
        <p:nvSpPr>
          <p:cNvPr id="25" name="TextBox 24"/>
          <p:cNvSpPr txBox="1"/>
          <p:nvPr/>
        </p:nvSpPr>
        <p:spPr>
          <a:xfrm>
            <a:off x="4928616" y="2368296"/>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$67.1M</a:t>
            </a:r>
          </a:p>
        </p:txBody>
      </p:sp>
      <p:sp>
        <p:nvSpPr>
          <p:cNvPr id="26" name="TextBox 25"/>
          <p:cNvSpPr txBox="1"/>
          <p:nvPr/>
        </p:nvSpPr>
        <p:spPr>
          <a:xfrm>
            <a:off x="5824728" y="2368296"/>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$111.3M</a:t>
            </a:r>
          </a:p>
        </p:txBody>
      </p:sp>
      <p:sp>
        <p:nvSpPr>
          <p:cNvPr id="27" name="TextBox 26"/>
          <p:cNvSpPr txBox="1"/>
          <p:nvPr/>
        </p:nvSpPr>
        <p:spPr>
          <a:xfrm>
            <a:off x="640080" y="2752344"/>
            <a:ext cx="1463040" cy="384048"/>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Gross margin</a:t>
            </a:r>
          </a:p>
        </p:txBody>
      </p:sp>
      <p:sp>
        <p:nvSpPr>
          <p:cNvPr id="28" name="TextBox 27"/>
          <p:cNvSpPr txBox="1"/>
          <p:nvPr/>
        </p:nvSpPr>
        <p:spPr>
          <a:xfrm>
            <a:off x="2240280" y="2752344"/>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11%</a:t>
            </a:r>
          </a:p>
        </p:txBody>
      </p:sp>
      <p:sp>
        <p:nvSpPr>
          <p:cNvPr id="29" name="TextBox 28"/>
          <p:cNvSpPr txBox="1"/>
          <p:nvPr/>
        </p:nvSpPr>
        <p:spPr>
          <a:xfrm>
            <a:off x="3136392" y="2752344"/>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27%</a:t>
            </a:r>
          </a:p>
        </p:txBody>
      </p:sp>
      <p:sp>
        <p:nvSpPr>
          <p:cNvPr id="30" name="TextBox 29"/>
          <p:cNvSpPr txBox="1"/>
          <p:nvPr/>
        </p:nvSpPr>
        <p:spPr>
          <a:xfrm>
            <a:off x="4032504" y="2752344"/>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33%</a:t>
            </a:r>
          </a:p>
        </p:txBody>
      </p:sp>
      <p:sp>
        <p:nvSpPr>
          <p:cNvPr id="31" name="TextBox 30"/>
          <p:cNvSpPr txBox="1"/>
          <p:nvPr/>
        </p:nvSpPr>
        <p:spPr>
          <a:xfrm>
            <a:off x="4928616" y="2752344"/>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38%</a:t>
            </a:r>
          </a:p>
        </p:txBody>
      </p:sp>
      <p:sp>
        <p:nvSpPr>
          <p:cNvPr id="32" name="TextBox 31"/>
          <p:cNvSpPr txBox="1"/>
          <p:nvPr/>
        </p:nvSpPr>
        <p:spPr>
          <a:xfrm>
            <a:off x="5824728" y="2752344"/>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41%</a:t>
            </a:r>
          </a:p>
        </p:txBody>
      </p:sp>
      <p:sp>
        <p:nvSpPr>
          <p:cNvPr id="33" name="Rectangle 32"/>
          <p:cNvSpPr/>
          <p:nvPr/>
        </p:nvSpPr>
        <p:spPr>
          <a:xfrm>
            <a:off x="548640" y="3136392"/>
            <a:ext cx="6080760" cy="384048"/>
          </a:xfrm>
          <a:prstGeom prst="rect">
            <a:avLst/>
          </a:prstGeom>
          <a:solidFill>
            <a:srgbClr val="FB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136392"/>
            <a:ext cx="1463040" cy="384048"/>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EBITDA</a:t>
            </a:r>
          </a:p>
        </p:txBody>
      </p:sp>
      <p:sp>
        <p:nvSpPr>
          <p:cNvPr id="35" name="TextBox 34"/>
          <p:cNvSpPr txBox="1"/>
          <p:nvPr/>
        </p:nvSpPr>
        <p:spPr>
          <a:xfrm>
            <a:off x="2240280" y="3136392"/>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-$4.2M</a:t>
            </a:r>
          </a:p>
        </p:txBody>
      </p:sp>
      <p:sp>
        <p:nvSpPr>
          <p:cNvPr id="36" name="TextBox 35"/>
          <p:cNvSpPr txBox="1"/>
          <p:nvPr/>
        </p:nvSpPr>
        <p:spPr>
          <a:xfrm>
            <a:off x="3136392" y="3136392"/>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-$4.3M</a:t>
            </a:r>
          </a:p>
        </p:txBody>
      </p:sp>
      <p:sp>
        <p:nvSpPr>
          <p:cNvPr id="37" name="TextBox 36"/>
          <p:cNvSpPr txBox="1"/>
          <p:nvPr/>
        </p:nvSpPr>
        <p:spPr>
          <a:xfrm>
            <a:off x="4032504" y="3136392"/>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-$7.2M</a:t>
            </a:r>
          </a:p>
        </p:txBody>
      </p:sp>
      <p:sp>
        <p:nvSpPr>
          <p:cNvPr id="38" name="TextBox 37"/>
          <p:cNvSpPr txBox="1"/>
          <p:nvPr/>
        </p:nvSpPr>
        <p:spPr>
          <a:xfrm>
            <a:off x="4928616" y="3136392"/>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-$5.4M</a:t>
            </a:r>
          </a:p>
        </p:txBody>
      </p:sp>
      <p:sp>
        <p:nvSpPr>
          <p:cNvPr id="39" name="TextBox 38"/>
          <p:cNvSpPr txBox="1"/>
          <p:nvPr/>
        </p:nvSpPr>
        <p:spPr>
          <a:xfrm>
            <a:off x="5824728" y="3136392"/>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$836k</a:t>
            </a:r>
          </a:p>
        </p:txBody>
      </p:sp>
      <p:sp>
        <p:nvSpPr>
          <p:cNvPr id="40" name="TextBox 39"/>
          <p:cNvSpPr txBox="1"/>
          <p:nvPr/>
        </p:nvSpPr>
        <p:spPr>
          <a:xfrm>
            <a:off x="640080" y="3520440"/>
            <a:ext cx="1463040" cy="384048"/>
          </a:xfrm>
          <a:prstGeom prst="rect">
            <a:avLst/>
          </a:prstGeom>
          <a:noFill/>
        </p:spPr>
        <p:txBody>
          <a:bodyPr wrap="square" lIns="0" rIns="0" tIns="0" bIns="0" anchor="ctr">
            <a:spAutoFit/>
          </a:bodyPr>
          <a:lstStyle/>
          <a:p>
            <a:pPr algn="l">
              <a:lnSpc>
                <a:spcPct val="110000"/>
              </a:lnSpc>
              <a:spcAft>
                <a:spcPts val="400"/>
              </a:spcAft>
            </a:pPr>
            <a:r>
              <a:rPr sz="1050" b="1" i="0">
                <a:solidFill>
                  <a:srgbClr val="14161A"/>
                </a:solidFill>
                <a:latin typeface="Inter"/>
              </a:rPr>
              <a:t>Subscription ARR</a:t>
            </a:r>
          </a:p>
        </p:txBody>
      </p:sp>
      <p:sp>
        <p:nvSpPr>
          <p:cNvPr id="41" name="TextBox 40"/>
          <p:cNvSpPr txBox="1"/>
          <p:nvPr/>
        </p:nvSpPr>
        <p:spPr>
          <a:xfrm>
            <a:off x="2240280" y="3520440"/>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$0</a:t>
            </a:r>
          </a:p>
        </p:txBody>
      </p:sp>
      <p:sp>
        <p:nvSpPr>
          <p:cNvPr id="42" name="TextBox 41"/>
          <p:cNvSpPr txBox="1"/>
          <p:nvPr/>
        </p:nvSpPr>
        <p:spPr>
          <a:xfrm>
            <a:off x="3136392" y="3520440"/>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$798k</a:t>
            </a:r>
          </a:p>
        </p:txBody>
      </p:sp>
      <p:sp>
        <p:nvSpPr>
          <p:cNvPr id="43" name="TextBox 42"/>
          <p:cNvSpPr txBox="1"/>
          <p:nvPr/>
        </p:nvSpPr>
        <p:spPr>
          <a:xfrm>
            <a:off x="4032504" y="3520440"/>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$3.3M</a:t>
            </a:r>
          </a:p>
        </p:txBody>
      </p:sp>
      <p:sp>
        <p:nvSpPr>
          <p:cNvPr id="44" name="TextBox 43"/>
          <p:cNvSpPr txBox="1"/>
          <p:nvPr/>
        </p:nvSpPr>
        <p:spPr>
          <a:xfrm>
            <a:off x="4928616" y="3520440"/>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$7.6M</a:t>
            </a:r>
          </a:p>
        </p:txBody>
      </p:sp>
      <p:sp>
        <p:nvSpPr>
          <p:cNvPr id="45" name="TextBox 44"/>
          <p:cNvSpPr txBox="1"/>
          <p:nvPr/>
        </p:nvSpPr>
        <p:spPr>
          <a:xfrm>
            <a:off x="5824728" y="3520440"/>
            <a:ext cx="758952" cy="384048"/>
          </a:xfrm>
          <a:prstGeom prst="rect">
            <a:avLst/>
          </a:prstGeom>
          <a:noFill/>
        </p:spPr>
        <p:txBody>
          <a:bodyPr wrap="square" lIns="0" rIns="0" tIns="0" bIns="0" anchor="ctr">
            <a:spAutoFit/>
          </a:bodyPr>
          <a:lstStyle/>
          <a:p>
            <a:pPr algn="r">
              <a:lnSpc>
                <a:spcPct val="110000"/>
              </a:lnSpc>
              <a:spcAft>
                <a:spcPts val="400"/>
              </a:spcAft>
            </a:pPr>
            <a:r>
              <a:rPr sz="1050" b="0" i="0">
                <a:solidFill>
                  <a:srgbClr val="14161A"/>
                </a:solidFill>
                <a:latin typeface="Inter"/>
              </a:rPr>
              <a:t>$13.6M</a:t>
            </a:r>
          </a:p>
        </p:txBody>
      </p:sp>
      <p:sp>
        <p:nvSpPr>
          <p:cNvPr id="46" name="Rectangle 45"/>
          <p:cNvSpPr/>
          <p:nvPr/>
        </p:nvSpPr>
        <p:spPr>
          <a:xfrm>
            <a:off x="548640" y="3904488"/>
            <a:ext cx="6080760" cy="9000"/>
          </a:xfrm>
          <a:prstGeom prst="rect">
            <a:avLst/>
          </a:prstGeom>
          <a:solidFill>
            <a:srgbClr val="DD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4069080"/>
            <a:ext cx="6126480" cy="1828800"/>
          </a:xfrm>
          <a:prstGeom prst="rect">
            <a:avLst/>
          </a:prstGeom>
          <a:noFill/>
        </p:spPr>
        <p:txBody>
          <a:bodyPr wrap="square" lIns="0" rIns="0" tIns="0" bIns="0" anchor="t">
            <a:spAutoFit/>
          </a:bodyPr>
          <a:lstStyle/>
          <a:p>
            <a:pPr algn="l">
              <a:lnSpc>
                <a:spcPct val="112000"/>
              </a:lnSpc>
              <a:spcAft>
                <a:spcPts val="600"/>
              </a:spcAft>
            </a:pPr>
            <a:r>
              <a:rPr sz="1100" b="1" i="0">
                <a:solidFill>
                  <a:srgbClr val="14161A"/>
                </a:solidFill>
                <a:latin typeface="Inter"/>
              </a:rPr>
              <a:t>Scenarios FY31 revenue: </a:t>
            </a:r>
            <a:r>
              <a:rPr sz="1100" b="0" i="0">
                <a:solidFill>
                  <a:srgbClr val="5A5D63"/>
                </a:solidFill>
                <a:latin typeface="Inter"/>
              </a:rPr>
              <a:t>Bear $56.2M · Base $111.3M · Bull $166.1M.</a:t>
            </a:r>
          </a:p>
          <a:p>
            <a:pPr algn="l">
              <a:lnSpc>
                <a:spcPct val="112000"/>
              </a:lnSpc>
              <a:spcAft>
                <a:spcPts val="600"/>
              </a:spcAft>
            </a:pPr>
            <a:r>
              <a:rPr sz="1100" b="1" i="0">
                <a:solidFill>
                  <a:srgbClr val="14161A"/>
                </a:solidFill>
                <a:latin typeface="Inter"/>
              </a:rPr>
              <a:t>Funding need: </a:t>
            </a:r>
            <a:r>
              <a:rPr sz="1100" b="0" i="0">
                <a:solidFill>
                  <a:srgbClr val="5A5D63"/>
                </a:solidFill>
                <a:latin typeface="Inter"/>
              </a:rPr>
              <a:t>$55.5M total equity to break-even (D16): pre-seed → $6M seed → $3M seed-2 → $25M A → $20M B. Bear case needs ≈$72M. At $1.5M the pre-seed bottomed at $278k in Jun-27, so the round is now $1.75M (D14).</a:t>
            </a:r>
          </a:p>
          <a:p>
            <a:pPr algn="l">
              <a:lnSpc>
                <a:spcPct val="112000"/>
              </a:lnSpc>
              <a:spcAft>
                <a:spcPts val="600"/>
              </a:spcAft>
            </a:pPr>
            <a:r>
              <a:rPr sz="1100" b="1" i="0">
                <a:solidFill>
                  <a:srgbClr val="14161A"/>
                </a:solidFill>
                <a:latin typeface="Inter"/>
              </a:rPr>
              <a:t>Research cross-check: </a:t>
            </a:r>
            <a:r>
              <a:rPr sz="1100" b="0" i="0">
                <a:solidFill>
                  <a:srgbClr val="5A5D63"/>
                </a:solidFill>
                <a:latin typeface="Inter"/>
              </a:rPr>
              <a:t>SOM 2030 base $93M (bear $46M / bull $148M).</a:t>
            </a:r>
          </a:p>
        </p:txBody>
      </p:sp>
      <p:sp>
        <p:nvSpPr>
          <p:cNvPr id="48" name="Rectangle 47"/>
          <p:cNvSpPr/>
          <p:nvPr/>
        </p:nvSpPr>
        <p:spPr>
          <a:xfrm>
            <a:off x="6903720" y="1600200"/>
            <a:ext cx="4754880" cy="2194560"/>
          </a:xfrm>
          <a:prstGeom prst="rect">
            <a:avLst/>
          </a:prstGeom>
          <a:solidFill>
            <a:srgbClr val="FFFFFF"/>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revenue_by_stream.png"/>
          <p:cNvPicPr>
            <a:picLocks noChangeAspect="1"/>
          </p:cNvPicPr>
          <p:nvPr/>
        </p:nvPicPr>
        <p:blipFill>
          <a:blip r:embed="rId3"/>
          <a:stretch>
            <a:fillRect/>
          </a:stretch>
        </p:blipFill>
        <p:spPr>
          <a:xfrm>
            <a:off x="7388352" y="1645920"/>
            <a:ext cx="3785616" cy="2103120"/>
          </a:xfrm>
          <a:prstGeom prst="rect">
            <a:avLst/>
          </a:prstGeom>
        </p:spPr>
      </p:pic>
      <p:sp>
        <p:nvSpPr>
          <p:cNvPr id="50" name="Rectangle 49"/>
          <p:cNvSpPr/>
          <p:nvPr/>
        </p:nvSpPr>
        <p:spPr>
          <a:xfrm>
            <a:off x="6903720" y="3886200"/>
            <a:ext cx="4754880" cy="2103120"/>
          </a:xfrm>
          <a:prstGeom prst="rect">
            <a:avLst/>
          </a:prstGeom>
          <a:solidFill>
            <a:srgbClr val="FFFFFF"/>
          </a:solidFill>
          <a:ln w="9525">
            <a:solidFill>
              <a:srgbClr val="DD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cash_runway.png"/>
          <p:cNvPicPr>
            <a:picLocks noChangeAspect="1"/>
          </p:cNvPicPr>
          <p:nvPr/>
        </p:nvPicPr>
        <p:blipFill>
          <a:blip r:embed="rId4"/>
          <a:stretch>
            <a:fillRect/>
          </a:stretch>
        </p:blipFill>
        <p:spPr>
          <a:xfrm>
            <a:off x="7269480" y="3931920"/>
            <a:ext cx="4023360" cy="2011680"/>
          </a:xfrm>
          <a:prstGeom prst="rect">
            <a:avLst/>
          </a:prstGeom>
        </p:spPr>
      </p:pic>
      <p:sp>
        <p:nvSpPr>
          <p:cNvPr id="52" name="TextBox 51"/>
          <p:cNvSpPr txBox="1"/>
          <p:nvPr/>
        </p:nvSpPr>
        <p:spPr>
          <a:xfrm>
            <a:off x="548640" y="6108192"/>
            <a:ext cx="11064240" cy="274320"/>
          </a:xfrm>
          <a:prstGeom prst="rect">
            <a:avLst/>
          </a:prstGeom>
          <a:noFill/>
        </p:spPr>
        <p:txBody>
          <a:bodyPr wrap="square" lIns="0" rIns="0" tIns="0" bIns="0" anchor="t">
            <a:spAutoFit/>
          </a:bodyPr>
          <a:lstStyle/>
          <a:p>
            <a:pPr algn="l">
              <a:lnSpc>
                <a:spcPct val="110000"/>
              </a:lnSpc>
              <a:spcAft>
                <a:spcPts val="400"/>
              </a:spcAft>
            </a:pPr>
            <a:r>
              <a:rPr sz="850" b="0" i="0">
                <a:solidFill>
                  <a:srgbClr val="5A5D63"/>
                </a:solidFill>
                <a:latin typeface="Inter"/>
              </a:rPr>
              <a:t>Source: finance/LORE_Financial_Model.xlsx via finance/model_summary.json; finance/charts. All projections are estimates.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10000"/>
              </a:lnSpc>
              <a:spcAft>
                <a:spcPts val="400"/>
              </a:spcAft>
            </a:pPr>
            <a:r>
              <a:rPr sz="1100" b="1" i="0">
                <a:solidFill>
                  <a:srgbClr val="C4623A"/>
                </a:solidFill>
                <a:latin typeface="Inter"/>
              </a:rPr>
              <a:t>THE ASK</a:t>
            </a:r>
          </a:p>
        </p:txBody>
      </p:sp>
      <p:sp>
        <p:nvSpPr>
          <p:cNvPr id="3" name="TextBox 2"/>
          <p:cNvSpPr txBox="1"/>
          <p:nvPr/>
        </p:nvSpPr>
        <p:spPr>
          <a:xfrm>
            <a:off x="548640" y="658368"/>
            <a:ext cx="6400800" cy="1280160"/>
          </a:xfrm>
          <a:prstGeom prst="rect">
            <a:avLst/>
          </a:prstGeom>
          <a:noFill/>
        </p:spPr>
        <p:txBody>
          <a:bodyPr wrap="square" lIns="0" rIns="0" tIns="0" bIns="0" anchor="t">
            <a:spAutoFit/>
          </a:bodyPr>
          <a:lstStyle/>
          <a:p>
            <a:pPr algn="l">
              <a:lnSpc>
                <a:spcPct val="100000"/>
              </a:lnSpc>
              <a:spcAft>
                <a:spcPts val="400"/>
              </a:spcAft>
            </a:pPr>
            <a:r>
              <a:rPr sz="3400" b="0" i="0">
                <a:solidFill>
                  <a:srgbClr val="F3EEE6"/>
                </a:solidFill>
                <a:latin typeface="Fraunces"/>
              </a:rPr>
              <a:t>$1.75M pre-seed SAFE
$12M post-money cap</a:t>
            </a:r>
          </a:p>
        </p:txBody>
      </p:sp>
      <p:sp>
        <p:nvSpPr>
          <p:cNvPr id="4" name="TextBox 3"/>
          <p:cNvSpPr txBox="1"/>
          <p:nvPr/>
        </p:nvSpPr>
        <p:spPr>
          <a:xfrm>
            <a:off x="548640" y="1965960"/>
            <a:ext cx="5669280" cy="1463040"/>
          </a:xfrm>
          <a:prstGeom prst="rect">
            <a:avLst/>
          </a:prstGeom>
          <a:noFill/>
        </p:spPr>
        <p:txBody>
          <a:bodyPr wrap="square" lIns="0" rIns="0" tIns="0" bIns="0" anchor="t">
            <a:spAutoFit/>
          </a:bodyPr>
          <a:lstStyle/>
          <a:p>
            <a:pPr algn="l">
              <a:lnSpc>
                <a:spcPct val="115000"/>
              </a:lnSpc>
              <a:spcAft>
                <a:spcPts val="600"/>
              </a:spcAft>
            </a:pPr>
            <a:r>
              <a:rPr sz="1250" b="1" i="0">
                <a:solidFill>
                  <a:srgbClr val="F3EEE6"/>
                </a:solidFill>
                <a:latin typeface="Inter"/>
              </a:rPr>
              <a:t>Gets us to: </a:t>
            </a:r>
            <a:r>
              <a:rPr sz="1250" b="0" i="0">
                <a:solidFill>
                  <a:srgbClr val="9AA0A6"/>
                </a:solidFill>
                <a:latin typeface="Inter"/>
              </a:rPr>
              <a:t>Gate G0 (product love), 50 EVT units and Gate G1, a $1M+ Kickstarter (Gate G2), and the $6M seed.</a:t>
            </a:r>
          </a:p>
          <a:p>
            <a:pPr algn="l">
              <a:lnSpc>
                <a:spcPct val="115000"/>
              </a:lnSpc>
              <a:spcAft>
                <a:spcPts val="600"/>
              </a:spcAft>
            </a:pPr>
            <a:r>
              <a:rPr sz="1250" b="1" i="0">
                <a:solidFill>
                  <a:srgbClr val="F3EEE6"/>
                </a:solidFill>
                <a:latin typeface="Inter"/>
              </a:rPr>
              <a:t>Investor owns: </a:t>
            </a:r>
            <a:r>
              <a:rPr sz="1250" b="0" i="0">
                <a:solidFill>
                  <a:srgbClr val="9AA0A6"/>
                </a:solidFill>
                <a:latin typeface="Inter"/>
              </a:rPr>
              <a:t>≈14.6% at the $12M post-money cap. $1.5M + $250k top-up (D14).</a:t>
            </a:r>
          </a:p>
          <a:p>
            <a:pPr algn="l">
              <a:lnSpc>
                <a:spcPct val="115000"/>
              </a:lnSpc>
              <a:spcAft>
                <a:spcPts val="600"/>
              </a:spcAft>
            </a:pPr>
            <a:r>
              <a:rPr sz="1250" b="0" i="0">
                <a:solidFill>
                  <a:srgbClr val="9AA0A6"/>
                </a:solidFill>
                <a:latin typeface="Inter"/>
              </a:rPr>
              <a:t>Runway: Nov 2026 to the Kickstarter payout (Jun/Jul 2027) and the $6M seed (Aug 2027). The $250k top-up (D14) lifts the Jun-27 cash low from ~$278k to ~$0.5M.</a:t>
            </a:r>
          </a:p>
        </p:txBody>
      </p:sp>
      <p:sp>
        <p:nvSpPr>
          <p:cNvPr id="5" name="TextBox 4"/>
          <p:cNvSpPr txBox="1"/>
          <p:nvPr/>
        </p:nvSpPr>
        <p:spPr>
          <a:xfrm>
            <a:off x="6675120" y="685800"/>
            <a:ext cx="4937760" cy="365760"/>
          </a:xfrm>
          <a:prstGeom prst="rect">
            <a:avLst/>
          </a:prstGeom>
          <a:noFill/>
        </p:spPr>
        <p:txBody>
          <a:bodyPr wrap="square" lIns="0" rIns="0" tIns="0" bIns="0" anchor="t">
            <a:spAutoFit/>
          </a:bodyPr>
          <a:lstStyle/>
          <a:p>
            <a:pPr algn="l">
              <a:lnSpc>
                <a:spcPct val="110000"/>
              </a:lnSpc>
              <a:spcAft>
                <a:spcPts val="400"/>
              </a:spcAft>
            </a:pPr>
            <a:r>
              <a:rPr sz="1600" b="1" i="0">
                <a:solidFill>
                  <a:srgbClr val="F3EEE6"/>
                </a:solidFill>
                <a:latin typeface="Inter"/>
              </a:rPr>
              <a:t>Use of funds</a:t>
            </a:r>
          </a:p>
        </p:txBody>
      </p:sp>
      <p:sp>
        <p:nvSpPr>
          <p:cNvPr id="6" name="TextBox 5"/>
          <p:cNvSpPr txBox="1"/>
          <p:nvPr/>
        </p:nvSpPr>
        <p:spPr>
          <a:xfrm>
            <a:off x="6675120" y="1097280"/>
            <a:ext cx="347472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F3EEE6"/>
                </a:solidFill>
                <a:latin typeface="Inter"/>
              </a:rPr>
              <a:t>Founding engineering team</a:t>
            </a:r>
          </a:p>
        </p:txBody>
      </p:sp>
      <p:sp>
        <p:nvSpPr>
          <p:cNvPr id="7" name="TextBox 6"/>
          <p:cNvSpPr txBox="1"/>
          <p:nvPr/>
        </p:nvSpPr>
        <p:spPr>
          <a:xfrm>
            <a:off x="10149840" y="1097280"/>
            <a:ext cx="1463040" cy="274320"/>
          </a:xfrm>
          <a:prstGeom prst="rect">
            <a:avLst/>
          </a:prstGeom>
          <a:noFill/>
        </p:spPr>
        <p:txBody>
          <a:bodyPr wrap="square" lIns="0" rIns="0" tIns="0" bIns="0" anchor="t">
            <a:spAutoFit/>
          </a:bodyPr>
          <a:lstStyle/>
          <a:p>
            <a:pPr algn="r">
              <a:lnSpc>
                <a:spcPct val="110000"/>
              </a:lnSpc>
              <a:spcAft>
                <a:spcPts val="400"/>
              </a:spcAft>
            </a:pPr>
            <a:r>
              <a:rPr sz="1200" b="0" i="0">
                <a:solidFill>
                  <a:srgbClr val="B8935A"/>
                </a:solidFill>
                <a:latin typeface="Inter"/>
              </a:rPr>
              <a:t>$500k · 29%</a:t>
            </a:r>
          </a:p>
        </p:txBody>
      </p:sp>
      <p:sp>
        <p:nvSpPr>
          <p:cNvPr id="8" name="Rectangle 7"/>
          <p:cNvSpPr/>
          <p:nvPr/>
        </p:nvSpPr>
        <p:spPr>
          <a:xfrm>
            <a:off x="6675120" y="1399032"/>
            <a:ext cx="4937760" cy="82296"/>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1399032"/>
            <a:ext cx="1410788" cy="82296"/>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508760"/>
            <a:ext cx="493776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R&amp;D salaries + burden ($464k), dev tools &amp; ML compute ($36k)</a:t>
            </a:r>
          </a:p>
        </p:txBody>
      </p:sp>
      <p:sp>
        <p:nvSpPr>
          <p:cNvPr id="11" name="TextBox 10"/>
          <p:cNvSpPr txBox="1"/>
          <p:nvPr/>
        </p:nvSpPr>
        <p:spPr>
          <a:xfrm>
            <a:off x="6675120" y="1719072"/>
            <a:ext cx="347472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F3EEE6"/>
                </a:solidFill>
                <a:latin typeface="Inter"/>
              </a:rPr>
              <a:t>Kickstarter, brand &amp; community</a:t>
            </a:r>
          </a:p>
        </p:txBody>
      </p:sp>
      <p:sp>
        <p:nvSpPr>
          <p:cNvPr id="12" name="TextBox 11"/>
          <p:cNvSpPr txBox="1"/>
          <p:nvPr/>
        </p:nvSpPr>
        <p:spPr>
          <a:xfrm>
            <a:off x="10149840" y="1719072"/>
            <a:ext cx="1463040" cy="274320"/>
          </a:xfrm>
          <a:prstGeom prst="rect">
            <a:avLst/>
          </a:prstGeom>
          <a:noFill/>
        </p:spPr>
        <p:txBody>
          <a:bodyPr wrap="square" lIns="0" rIns="0" tIns="0" bIns="0" anchor="t">
            <a:spAutoFit/>
          </a:bodyPr>
          <a:lstStyle/>
          <a:p>
            <a:pPr algn="r">
              <a:lnSpc>
                <a:spcPct val="110000"/>
              </a:lnSpc>
              <a:spcAft>
                <a:spcPts val="400"/>
              </a:spcAft>
            </a:pPr>
            <a:r>
              <a:rPr sz="1200" b="0" i="0">
                <a:solidFill>
                  <a:srgbClr val="B8935A"/>
                </a:solidFill>
                <a:latin typeface="Inter"/>
              </a:rPr>
              <a:t>$322k · 18%</a:t>
            </a:r>
          </a:p>
        </p:txBody>
      </p:sp>
      <p:sp>
        <p:nvSpPr>
          <p:cNvPr id="13" name="Rectangle 12"/>
          <p:cNvSpPr/>
          <p:nvPr/>
        </p:nvSpPr>
        <p:spPr>
          <a:xfrm>
            <a:off x="6675120" y="2020824"/>
            <a:ext cx="4937760" cy="82296"/>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2020824"/>
            <a:ext cx="908547" cy="82296"/>
          </a:xfrm>
          <a:prstGeom prst="rect">
            <a:avLst/>
          </a:prstGeom>
          <a:solidFill>
            <a:srgbClr val="B89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130552"/>
            <a:ext cx="493776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Campaign marketing $230k, growth lead, brand/PR</a:t>
            </a:r>
          </a:p>
        </p:txBody>
      </p:sp>
      <p:sp>
        <p:nvSpPr>
          <p:cNvPr id="16" name="TextBox 15"/>
          <p:cNvSpPr txBox="1"/>
          <p:nvPr/>
        </p:nvSpPr>
        <p:spPr>
          <a:xfrm>
            <a:off x="6675120" y="2340864"/>
            <a:ext cx="347472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F3EEE6"/>
                </a:solidFill>
                <a:latin typeface="Inter"/>
              </a:rPr>
              <a:t>Hardware: ID, ODM NRE, 50 EVT</a:t>
            </a:r>
          </a:p>
        </p:txBody>
      </p:sp>
      <p:sp>
        <p:nvSpPr>
          <p:cNvPr id="17" name="TextBox 16"/>
          <p:cNvSpPr txBox="1"/>
          <p:nvPr/>
        </p:nvSpPr>
        <p:spPr>
          <a:xfrm>
            <a:off x="10149840" y="2340864"/>
            <a:ext cx="1463040" cy="274320"/>
          </a:xfrm>
          <a:prstGeom prst="rect">
            <a:avLst/>
          </a:prstGeom>
          <a:noFill/>
        </p:spPr>
        <p:txBody>
          <a:bodyPr wrap="square" lIns="0" rIns="0" tIns="0" bIns="0" anchor="t">
            <a:spAutoFit/>
          </a:bodyPr>
          <a:lstStyle/>
          <a:p>
            <a:pPr algn="r">
              <a:lnSpc>
                <a:spcPct val="110000"/>
              </a:lnSpc>
              <a:spcAft>
                <a:spcPts val="400"/>
              </a:spcAft>
            </a:pPr>
            <a:r>
              <a:rPr sz="1200" b="0" i="0">
                <a:solidFill>
                  <a:srgbClr val="B8935A"/>
                </a:solidFill>
                <a:latin typeface="Inter"/>
              </a:rPr>
              <a:t>$210k · 12%</a:t>
            </a:r>
          </a:p>
        </p:txBody>
      </p:sp>
      <p:sp>
        <p:nvSpPr>
          <p:cNvPr id="18" name="Rectangle 17"/>
          <p:cNvSpPr/>
          <p:nvPr/>
        </p:nvSpPr>
        <p:spPr>
          <a:xfrm>
            <a:off x="6675120" y="2642616"/>
            <a:ext cx="4937760" cy="82296"/>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75120" y="2642616"/>
            <a:ext cx="592531" cy="82296"/>
          </a:xfrm>
          <a:prstGeom prst="rect">
            <a:avLst/>
          </a:prstGeom>
          <a:solidFill>
            <a:srgbClr val="5E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2752344"/>
            <a:ext cx="493776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ID/ME/CMF agency $95k, ODM NRE $80k, EVT build $35k</a:t>
            </a:r>
          </a:p>
        </p:txBody>
      </p:sp>
      <p:sp>
        <p:nvSpPr>
          <p:cNvPr id="21" name="TextBox 20"/>
          <p:cNvSpPr txBox="1"/>
          <p:nvPr/>
        </p:nvSpPr>
        <p:spPr>
          <a:xfrm>
            <a:off x="6675120" y="2962656"/>
            <a:ext cx="347472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F3EEE6"/>
                </a:solidFill>
                <a:latin typeface="Inter"/>
              </a:rPr>
              <a:t>G&amp;A, legal, IP, insurance</a:t>
            </a:r>
          </a:p>
        </p:txBody>
      </p:sp>
      <p:sp>
        <p:nvSpPr>
          <p:cNvPr id="22" name="TextBox 21"/>
          <p:cNvSpPr txBox="1"/>
          <p:nvPr/>
        </p:nvSpPr>
        <p:spPr>
          <a:xfrm>
            <a:off x="10149840" y="2962656"/>
            <a:ext cx="1463040" cy="274320"/>
          </a:xfrm>
          <a:prstGeom prst="rect">
            <a:avLst/>
          </a:prstGeom>
          <a:noFill/>
        </p:spPr>
        <p:txBody>
          <a:bodyPr wrap="square" lIns="0" rIns="0" tIns="0" bIns="0" anchor="t">
            <a:spAutoFit/>
          </a:bodyPr>
          <a:lstStyle/>
          <a:p>
            <a:pPr algn="r">
              <a:lnSpc>
                <a:spcPct val="110000"/>
              </a:lnSpc>
              <a:spcAft>
                <a:spcPts val="400"/>
              </a:spcAft>
            </a:pPr>
            <a:r>
              <a:rPr sz="1200" b="0" i="0">
                <a:solidFill>
                  <a:srgbClr val="B8935A"/>
                </a:solidFill>
                <a:latin typeface="Inter"/>
              </a:rPr>
              <a:t>$168k · 10%</a:t>
            </a:r>
          </a:p>
        </p:txBody>
      </p:sp>
      <p:sp>
        <p:nvSpPr>
          <p:cNvPr id="23" name="Rectangle 22"/>
          <p:cNvSpPr/>
          <p:nvPr/>
        </p:nvSpPr>
        <p:spPr>
          <a:xfrm>
            <a:off x="6675120" y="3264408"/>
            <a:ext cx="4937760" cy="82296"/>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3264408"/>
            <a:ext cx="474024" cy="82296"/>
          </a:xfrm>
          <a:prstGeom prst="rect">
            <a:avLst/>
          </a:prstGeom>
          <a:solidFill>
            <a:srgbClr val="9AA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3374136"/>
            <a:ext cx="493776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Founder salary, formation, trademarks, provisionals, SaaS</a:t>
            </a:r>
          </a:p>
        </p:txBody>
      </p:sp>
      <p:sp>
        <p:nvSpPr>
          <p:cNvPr id="26" name="TextBox 25"/>
          <p:cNvSpPr txBox="1"/>
          <p:nvPr/>
        </p:nvSpPr>
        <p:spPr>
          <a:xfrm>
            <a:off x="6675120" y="3584448"/>
            <a:ext cx="347472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F3EEE6"/>
                </a:solidFill>
                <a:latin typeface="Inter"/>
              </a:rPr>
              <a:t>City Pack content (Rome, London)</a:t>
            </a:r>
          </a:p>
        </p:txBody>
      </p:sp>
      <p:sp>
        <p:nvSpPr>
          <p:cNvPr id="27" name="TextBox 26"/>
          <p:cNvSpPr txBox="1"/>
          <p:nvPr/>
        </p:nvSpPr>
        <p:spPr>
          <a:xfrm>
            <a:off x="10149840" y="3584448"/>
            <a:ext cx="1463040" cy="274320"/>
          </a:xfrm>
          <a:prstGeom prst="rect">
            <a:avLst/>
          </a:prstGeom>
          <a:noFill/>
        </p:spPr>
        <p:txBody>
          <a:bodyPr wrap="square" lIns="0" rIns="0" tIns="0" bIns="0" anchor="t">
            <a:spAutoFit/>
          </a:bodyPr>
          <a:lstStyle/>
          <a:p>
            <a:pPr algn="r">
              <a:lnSpc>
                <a:spcPct val="110000"/>
              </a:lnSpc>
              <a:spcAft>
                <a:spcPts val="400"/>
              </a:spcAft>
            </a:pPr>
            <a:r>
              <a:rPr sz="1200" b="0" i="0">
                <a:solidFill>
                  <a:srgbClr val="B8935A"/>
                </a:solidFill>
                <a:latin typeface="Inter"/>
              </a:rPr>
              <a:t>$40k · 2%</a:t>
            </a:r>
          </a:p>
        </p:txBody>
      </p:sp>
      <p:sp>
        <p:nvSpPr>
          <p:cNvPr id="28" name="Rectangle 27"/>
          <p:cNvSpPr/>
          <p:nvPr/>
        </p:nvSpPr>
        <p:spPr>
          <a:xfrm>
            <a:off x="6675120" y="3886200"/>
            <a:ext cx="4937760" cy="82296"/>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75120" y="3886200"/>
            <a:ext cx="112863" cy="82296"/>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3995928"/>
            <a:ext cx="493776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Editorial fact-checking and storytellers</a:t>
            </a:r>
          </a:p>
        </p:txBody>
      </p:sp>
      <p:sp>
        <p:nvSpPr>
          <p:cNvPr id="31" name="TextBox 30"/>
          <p:cNvSpPr txBox="1"/>
          <p:nvPr/>
        </p:nvSpPr>
        <p:spPr>
          <a:xfrm>
            <a:off x="6675120" y="4206240"/>
            <a:ext cx="3474720" cy="274320"/>
          </a:xfrm>
          <a:prstGeom prst="rect">
            <a:avLst/>
          </a:prstGeom>
          <a:noFill/>
        </p:spPr>
        <p:txBody>
          <a:bodyPr wrap="square" lIns="0" rIns="0" tIns="0" bIns="0" anchor="t">
            <a:spAutoFit/>
          </a:bodyPr>
          <a:lstStyle/>
          <a:p>
            <a:pPr algn="l">
              <a:lnSpc>
                <a:spcPct val="110000"/>
              </a:lnSpc>
              <a:spcAft>
                <a:spcPts val="400"/>
              </a:spcAft>
            </a:pPr>
            <a:r>
              <a:rPr sz="1200" b="1" i="0">
                <a:solidFill>
                  <a:srgbClr val="F3EEE6"/>
                </a:solidFill>
                <a:latin typeface="Inter"/>
              </a:rPr>
              <a:t>Cash buffer through Kickstarter</a:t>
            </a:r>
          </a:p>
        </p:txBody>
      </p:sp>
      <p:sp>
        <p:nvSpPr>
          <p:cNvPr id="32" name="TextBox 31"/>
          <p:cNvSpPr txBox="1"/>
          <p:nvPr/>
        </p:nvSpPr>
        <p:spPr>
          <a:xfrm>
            <a:off x="10149840" y="4206240"/>
            <a:ext cx="1463040" cy="274320"/>
          </a:xfrm>
          <a:prstGeom prst="rect">
            <a:avLst/>
          </a:prstGeom>
          <a:noFill/>
        </p:spPr>
        <p:txBody>
          <a:bodyPr wrap="square" lIns="0" rIns="0" tIns="0" bIns="0" anchor="t">
            <a:spAutoFit/>
          </a:bodyPr>
          <a:lstStyle/>
          <a:p>
            <a:pPr algn="r">
              <a:lnSpc>
                <a:spcPct val="110000"/>
              </a:lnSpc>
              <a:spcAft>
                <a:spcPts val="400"/>
              </a:spcAft>
            </a:pPr>
            <a:r>
              <a:rPr sz="1200" b="0" i="0">
                <a:solidFill>
                  <a:srgbClr val="B8935A"/>
                </a:solidFill>
                <a:latin typeface="Inter"/>
              </a:rPr>
              <a:t>$510k · 29%</a:t>
            </a:r>
          </a:p>
        </p:txBody>
      </p:sp>
      <p:sp>
        <p:nvSpPr>
          <p:cNvPr id="33" name="Rectangle 32"/>
          <p:cNvSpPr/>
          <p:nvPr/>
        </p:nvSpPr>
        <p:spPr>
          <a:xfrm>
            <a:off x="6675120" y="4507992"/>
            <a:ext cx="4937760" cy="82296"/>
          </a:xfrm>
          <a:prstGeom prst="rect">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75120" y="4507992"/>
            <a:ext cx="1439004" cy="82296"/>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4617720"/>
            <a:ext cx="493776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Low point ~$528k in Jun-27 with the D14 top-up (was $278k)</a:t>
            </a:r>
          </a:p>
        </p:txBody>
      </p:sp>
      <p:sp>
        <p:nvSpPr>
          <p:cNvPr id="36" name="Rectangle 35"/>
          <p:cNvSpPr/>
          <p:nvPr/>
        </p:nvSpPr>
        <p:spPr>
          <a:xfrm>
            <a:off x="0" y="4892040"/>
            <a:ext cx="12191695" cy="1417320"/>
          </a:xfrm>
          <a:prstGeom prst="rect">
            <a:avLst/>
          </a:prstGeom>
          <a:solidFill>
            <a:srgbClr val="C4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074920"/>
            <a:ext cx="5943600" cy="548640"/>
          </a:xfrm>
          <a:prstGeom prst="rect">
            <a:avLst/>
          </a:prstGeom>
          <a:noFill/>
        </p:spPr>
        <p:txBody>
          <a:bodyPr wrap="square" lIns="0" rIns="0" tIns="0" bIns="0" anchor="t">
            <a:spAutoFit/>
          </a:bodyPr>
          <a:lstStyle/>
          <a:p>
            <a:pPr algn="l">
              <a:lnSpc>
                <a:spcPct val="110000"/>
              </a:lnSpc>
              <a:spcAft>
                <a:spcPts val="400"/>
              </a:spcAft>
            </a:pPr>
            <a:r>
              <a:rPr sz="2600" b="0" i="0">
                <a:solidFill>
                  <a:srgbClr val="F3EEE6"/>
                </a:solidFill>
                <a:latin typeface="Fraunces"/>
              </a:rPr>
              <a:t>Let's walk Rome together.</a:t>
            </a:r>
          </a:p>
        </p:txBody>
      </p:sp>
      <p:sp>
        <p:nvSpPr>
          <p:cNvPr id="38" name="TextBox 37"/>
          <p:cNvSpPr txBox="1"/>
          <p:nvPr/>
        </p:nvSpPr>
        <p:spPr>
          <a:xfrm>
            <a:off x="548640" y="5669280"/>
            <a:ext cx="6400800" cy="457200"/>
          </a:xfrm>
          <a:prstGeom prst="rect">
            <a:avLst/>
          </a:prstGeom>
          <a:noFill/>
        </p:spPr>
        <p:txBody>
          <a:bodyPr wrap="square" lIns="0" rIns="0" tIns="0" bIns="0" anchor="t">
            <a:spAutoFit/>
          </a:bodyPr>
          <a:lstStyle/>
          <a:p>
            <a:pPr algn="l">
              <a:lnSpc>
                <a:spcPct val="110000"/>
              </a:lnSpc>
              <a:spcAft>
                <a:spcPts val="400"/>
              </a:spcAft>
            </a:pPr>
            <a:r>
              <a:rPr sz="1200" b="0" i="0">
                <a:solidFill>
                  <a:srgbClr val="F3EEE6"/>
                </a:solidFill>
                <a:latin typeface="Inter"/>
              </a:rPr>
              <a:t>Live prototype demo on request. Data room index: investor/data-room-index.md</a:t>
            </a:r>
          </a:p>
        </p:txBody>
      </p:sp>
      <p:sp>
        <p:nvSpPr>
          <p:cNvPr id="39" name="TextBox 38"/>
          <p:cNvSpPr txBox="1"/>
          <p:nvPr/>
        </p:nvSpPr>
        <p:spPr>
          <a:xfrm>
            <a:off x="6675120" y="5074920"/>
            <a:ext cx="4937760" cy="1097280"/>
          </a:xfrm>
          <a:prstGeom prst="rect">
            <a:avLst/>
          </a:prstGeom>
          <a:noFill/>
        </p:spPr>
        <p:txBody>
          <a:bodyPr wrap="square" lIns="0" rIns="0" tIns="0" bIns="0" anchor="t">
            <a:spAutoFit/>
          </a:bodyPr>
          <a:lstStyle/>
          <a:p>
            <a:pPr algn="l">
              <a:lnSpc>
                <a:spcPct val="115000"/>
              </a:lnSpc>
              <a:spcAft>
                <a:spcPts val="200"/>
              </a:spcAft>
            </a:pPr>
            <a:r>
              <a:rPr sz="1500" b="1" i="0">
                <a:solidFill>
                  <a:srgbClr val="F3EEE6"/>
                </a:solidFill>
                <a:latin typeface="Inter"/>
              </a:rPr>
              <a:t>Nimit Jain</a:t>
            </a:r>
          </a:p>
          <a:p>
            <a:pPr algn="l">
              <a:lnSpc>
                <a:spcPct val="115000"/>
              </a:lnSpc>
              <a:spcAft>
                <a:spcPts val="200"/>
              </a:spcAft>
            </a:pPr>
            <a:r>
              <a:rPr sz="1200" b="0" i="0">
                <a:solidFill>
                  <a:srgbClr val="F3EEE6"/>
                </a:solidFill>
                <a:latin typeface="Inter"/>
              </a:rPr>
              <a:t>Founder &amp; CEO, LORE Labs, Inc.</a:t>
            </a:r>
          </a:p>
          <a:p>
            <a:pPr algn="l">
              <a:lnSpc>
                <a:spcPct val="115000"/>
              </a:lnSpc>
              <a:spcAft>
                <a:spcPts val="200"/>
              </a:spcAft>
            </a:pPr>
            <a:r>
              <a:rPr sz="1200" b="0" i="0">
                <a:solidFill>
                  <a:srgbClr val="F3EEE6"/>
                </a:solidFill>
                <a:latin typeface="Inter"/>
              </a:rPr>
              <a:t>nimitjain.248@gmail.com  ·  India</a:t>
            </a:r>
          </a:p>
        </p:txBody>
      </p:sp>
      <p:pic>
        <p:nvPicPr>
          <p:cNvPr id="40" name="Picture 39" descr="lore-lockup-horizontal-bone-1600w.png"/>
          <p:cNvPicPr>
            <a:picLocks noChangeAspect="1"/>
          </p:cNvPicPr>
          <p:nvPr/>
        </p:nvPicPr>
        <p:blipFill>
          <a:blip r:embed="rId2"/>
          <a:stretch>
            <a:fillRect/>
          </a:stretch>
        </p:blipFill>
        <p:spPr>
          <a:xfrm>
            <a:off x="548640" y="6429032"/>
            <a:ext cx="822960" cy="199567"/>
          </a:xfrm>
          <a:prstGeom prst="rect">
            <a:avLst/>
          </a:prstGeom>
        </p:spPr>
      </p:pic>
      <p:sp>
        <p:nvSpPr>
          <p:cNvPr id="41" name="TextBox 40"/>
          <p:cNvSpPr txBox="1"/>
          <p:nvPr/>
        </p:nvSpPr>
        <p:spPr>
          <a:xfrm>
            <a:off x="1828800" y="6455664"/>
            <a:ext cx="7315200" cy="228600"/>
          </a:xfrm>
          <a:prstGeom prst="rect">
            <a:avLst/>
          </a:prstGeom>
          <a:noFill/>
        </p:spPr>
        <p:txBody>
          <a:bodyPr wrap="square" lIns="0" rIns="0" tIns="0" bIns="0" anchor="t">
            <a:spAutoFit/>
          </a:bodyPr>
          <a:lstStyle/>
          <a:p>
            <a:pPr algn="l">
              <a:lnSpc>
                <a:spcPct val="110000"/>
              </a:lnSpc>
              <a:spcAft>
                <a:spcPts val="400"/>
              </a:spcAft>
            </a:pPr>
            <a:r>
              <a:rPr sz="900" b="0" i="0">
                <a:solidFill>
                  <a:srgbClr val="9AA0A6"/>
                </a:solidFill>
                <a:latin typeface="Inter"/>
              </a:rPr>
              <a:t>LORE Labs · Pre-seed 2026 · Confidential</a:t>
            </a:r>
          </a:p>
        </p:txBody>
      </p:sp>
      <p:sp>
        <p:nvSpPr>
          <p:cNvPr id="42" name="TextBox 41"/>
          <p:cNvSpPr txBox="1"/>
          <p:nvPr/>
        </p:nvSpPr>
        <p:spPr>
          <a:xfrm>
            <a:off x="10881360" y="6455664"/>
            <a:ext cx="758952" cy="228600"/>
          </a:xfrm>
          <a:prstGeom prst="rect">
            <a:avLst/>
          </a:prstGeom>
          <a:noFill/>
        </p:spPr>
        <p:txBody>
          <a:bodyPr wrap="square" lIns="0" rIns="0" tIns="0" bIns="0" anchor="t">
            <a:spAutoFit/>
          </a:bodyPr>
          <a:lstStyle/>
          <a:p>
            <a:pPr algn="r">
              <a:lnSpc>
                <a:spcPct val="110000"/>
              </a:lnSpc>
              <a:spcAft>
                <a:spcPts val="400"/>
              </a:spcAft>
            </a:pPr>
            <a:r>
              <a:rPr sz="900" b="0" i="0">
                <a:solidFill>
                  <a:srgbClr val="9AA0A6"/>
                </a:solidFill>
                <a:latin typeface="Inter"/>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