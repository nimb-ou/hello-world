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pic>
        <p:nvPicPr>
          <p:cNvPr id="2" name="Picture 1" descr="lore-wordmark-bone-1600w.png"/>
          <p:cNvPicPr>
            <a:picLocks noChangeAspect="1"/>
          </p:cNvPicPr>
          <p:nvPr/>
        </p:nvPicPr>
        <p:blipFill>
          <a:blip r:embed="rId2"/>
          <a:stretch>
            <a:fillRect/>
          </a:stretch>
        </p:blipFill>
        <p:spPr>
          <a:xfrm>
            <a:off x="548640" y="779069"/>
            <a:ext cx="2926080" cy="727862"/>
          </a:xfrm>
          <a:prstGeom prst="rect">
            <a:avLst/>
          </a:prstGeom>
        </p:spPr>
      </p:pic>
      <p:sp>
        <p:nvSpPr>
          <p:cNvPr id="3" name="TextBox 2"/>
          <p:cNvSpPr txBox="1"/>
          <p:nvPr/>
        </p:nvSpPr>
        <p:spPr>
          <a:xfrm>
            <a:off x="548640" y="2011680"/>
            <a:ext cx="5852160" cy="1645920"/>
          </a:xfrm>
          <a:prstGeom prst="rect">
            <a:avLst/>
          </a:prstGeom>
          <a:noFill/>
        </p:spPr>
        <p:txBody>
          <a:bodyPr wrap="square" lIns="0" rIns="0" tIns="0" bIns="0" anchor="t">
            <a:spAutoFit/>
          </a:bodyPr>
          <a:lstStyle/>
          <a:p>
            <a:pPr algn="l">
              <a:lnSpc>
                <a:spcPct val="100000"/>
              </a:lnSpc>
              <a:spcAft>
                <a:spcPts val="400"/>
              </a:spcAft>
            </a:pPr>
            <a:r>
              <a:rPr sz="4400" b="0" i="0">
                <a:solidFill>
                  <a:srgbClr val="F3EEE6"/>
                </a:solidFill>
                <a:latin typeface="Fraunces"/>
              </a:rPr>
              <a:t>Every street has a story.</a:t>
            </a:r>
          </a:p>
        </p:txBody>
      </p:sp>
      <p:sp>
        <p:nvSpPr>
          <p:cNvPr id="4" name="TextBox 3"/>
          <p:cNvSpPr txBox="1"/>
          <p:nvPr/>
        </p:nvSpPr>
        <p:spPr>
          <a:xfrm>
            <a:off x="548640" y="3611880"/>
            <a:ext cx="5486400" cy="1097280"/>
          </a:xfrm>
          <a:prstGeom prst="rect">
            <a:avLst/>
          </a:prstGeom>
          <a:noFill/>
        </p:spPr>
        <p:txBody>
          <a:bodyPr wrap="square" lIns="0" rIns="0" tIns="0" bIns="0" anchor="t">
            <a:spAutoFit/>
          </a:bodyPr>
          <a:lstStyle/>
          <a:p>
            <a:pPr algn="l">
              <a:lnSpc>
                <a:spcPct val="120000"/>
              </a:lnSpc>
              <a:spcAft>
                <a:spcPts val="400"/>
              </a:spcAft>
            </a:pPr>
            <a:r>
              <a:rPr sz="1500" b="0" i="0">
                <a:solidFill>
                  <a:srgbClr val="9AA0A6"/>
                </a:solidFill>
                <a:latin typeface="Inter"/>
              </a:rPr>
              <a:t>A pocket-sized AI travel companion that tells you the true, sourced stories of the city around you, through your own earphones. Online or offline. Phone stays in your pocket.</a:t>
            </a:r>
          </a:p>
        </p:txBody>
      </p:sp>
      <p:sp>
        <p:nvSpPr>
          <p:cNvPr id="5" name="TextBox 4"/>
          <p:cNvSpPr txBox="1"/>
          <p:nvPr/>
        </p:nvSpPr>
        <p:spPr>
          <a:xfrm>
            <a:off x="548640" y="5074920"/>
            <a:ext cx="5486400" cy="365760"/>
          </a:xfrm>
          <a:prstGeom prst="rect">
            <a:avLst/>
          </a:prstGeom>
          <a:noFill/>
        </p:spPr>
        <p:txBody>
          <a:bodyPr wrap="square" lIns="0" rIns="0" tIns="0" bIns="0" anchor="t">
            <a:spAutoFit/>
          </a:bodyPr>
          <a:lstStyle/>
          <a:p>
            <a:pPr algn="l">
              <a:lnSpc>
                <a:spcPct val="110000"/>
              </a:lnSpc>
              <a:spcAft>
                <a:spcPts val="400"/>
              </a:spcAft>
            </a:pPr>
            <a:r>
              <a:rPr sz="1400" b="1" i="0">
                <a:solidFill>
                  <a:srgbClr val="B8935A"/>
                </a:solidFill>
                <a:latin typeface="Inter"/>
              </a:rPr>
              <a:t>Pre-seed  ·  $1.5M SAFE  ·  $12M post-money cap</a:t>
            </a:r>
          </a:p>
        </p:txBody>
      </p:sp>
      <p:sp>
        <p:nvSpPr>
          <p:cNvPr id="6" name="TextBox 5"/>
          <p:cNvSpPr txBox="1"/>
          <p:nvPr/>
        </p:nvSpPr>
        <p:spPr>
          <a:xfrm>
            <a:off x="548640" y="5440680"/>
            <a:ext cx="5486400" cy="365760"/>
          </a:xfrm>
          <a:prstGeom prst="rect">
            <a:avLst/>
          </a:prstGeom>
          <a:noFill/>
        </p:spPr>
        <p:txBody>
          <a:bodyPr wrap="square" lIns="0" rIns="0" tIns="0" bIns="0" anchor="t">
            <a:spAutoFit/>
          </a:bodyPr>
          <a:lstStyle/>
          <a:p>
            <a:pPr algn="l">
              <a:lnSpc>
                <a:spcPct val="110000"/>
              </a:lnSpc>
              <a:spcAft>
                <a:spcPts val="400"/>
              </a:spcAft>
            </a:pPr>
            <a:r>
              <a:rPr sz="1100" b="0" i="0">
                <a:solidFill>
                  <a:srgbClr val="9AA0A6"/>
                </a:solidFill>
                <a:latin typeface="Inter"/>
              </a:rPr>
              <a:t>Nimit Jain, Founder &amp; CEO  ·  LORE Labs, Inc. (Delaware C-corp, planned)  ·  Nov 2026</a:t>
            </a:r>
          </a:p>
        </p:txBody>
      </p:sp>
      <p:sp>
        <p:nvSpPr>
          <p:cNvPr id="7" name="Rectangle 6"/>
          <p:cNvSpPr/>
          <p:nvPr/>
        </p:nvSpPr>
        <p:spPr>
          <a:xfrm>
            <a:off x="6583680" y="548640"/>
            <a:ext cx="5074920" cy="5760720"/>
          </a:xfrm>
          <a:prstGeom prst="rect">
            <a:avLst/>
          </a:prstGeom>
          <a:solidFill>
            <a:srgbClr val="F3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ineup.png"/>
          <p:cNvPicPr>
            <a:picLocks noChangeAspect="1"/>
          </p:cNvPicPr>
          <p:nvPr/>
        </p:nvPicPr>
        <p:blipFill>
          <a:blip r:embed="rId3"/>
          <a:stretch>
            <a:fillRect/>
          </a:stretch>
        </p:blipFill>
        <p:spPr>
          <a:xfrm>
            <a:off x="6675120" y="1992329"/>
            <a:ext cx="4892040" cy="1501742"/>
          </a:xfrm>
          <a:prstGeom prst="rect">
            <a:avLst/>
          </a:prstGeom>
        </p:spPr>
      </p:pic>
      <p:sp>
        <p:nvSpPr>
          <p:cNvPr id="9" name="TextBox 8"/>
          <p:cNvSpPr txBox="1"/>
          <p:nvPr/>
        </p:nvSpPr>
        <p:spPr>
          <a:xfrm>
            <a:off x="6812280" y="4846320"/>
            <a:ext cx="4663440" cy="1097280"/>
          </a:xfrm>
          <a:prstGeom prst="rect">
            <a:avLst/>
          </a:prstGeom>
          <a:noFill/>
        </p:spPr>
        <p:txBody>
          <a:bodyPr wrap="square" lIns="0" rIns="0" tIns="0" bIns="0" anchor="t">
            <a:spAutoFit/>
          </a:bodyPr>
          <a:lstStyle/>
          <a:p>
            <a:pPr algn="ctr">
              <a:lnSpc>
                <a:spcPct val="110000"/>
              </a:lnSpc>
              <a:spcAft>
                <a:spcPts val="400"/>
              </a:spcAft>
            </a:pPr>
            <a:r>
              <a:rPr sz="1150" b="1" i="0">
                <a:solidFill>
                  <a:srgbClr val="14161A"/>
                </a:solidFill>
                <a:latin typeface="Inter"/>
              </a:rPr>
              <a:t>Pebble $149  ·  Square $299  ·  Atlas $599</a:t>
            </a:r>
          </a:p>
          <a:p>
            <a:pPr algn="ctr">
              <a:lnSpc>
                <a:spcPct val="110000"/>
              </a:lnSpc>
              <a:spcAft>
                <a:spcPts val="400"/>
              </a:spcAft>
            </a:pPr>
            <a:r>
              <a:rPr sz="1150" b="0" i="0">
                <a:solidFill>
                  <a:srgbClr val="5A5D63"/>
                </a:solidFill>
                <a:latin typeface="Inter"/>
              </a:rPr>
              <a:t>Industrial-design renders (design/industrial). Not production units.</a:t>
            </a:r>
          </a:p>
        </p:txBody>
      </p:sp>
      <p:pic>
        <p:nvPicPr>
          <p:cNvPr id="10" name="Picture 9" descr="lore-lockup-horizontal-bone-1600w.png"/>
          <p:cNvPicPr>
            <a:picLocks noChangeAspect="1"/>
          </p:cNvPicPr>
          <p:nvPr/>
        </p:nvPicPr>
        <p:blipFill>
          <a:blip r:embed="rId4"/>
          <a:stretch>
            <a:fillRect/>
          </a:stretch>
        </p:blipFill>
        <p:spPr>
          <a:xfrm>
            <a:off x="548640" y="6429032"/>
            <a:ext cx="822960" cy="199567"/>
          </a:xfrm>
          <a:prstGeom prst="rect">
            <a:avLst/>
          </a:prstGeom>
        </p:spPr>
      </p:pic>
      <p:sp>
        <p:nvSpPr>
          <p:cNvPr id="11" name="TextBox 10"/>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12" name="TextBox 11"/>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EEE6"/>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10000"/>
              </a:lnSpc>
              <a:spcAft>
                <a:spcPts val="400"/>
              </a:spcAft>
            </a:pPr>
            <a:r>
              <a:rPr sz="1100" b="1" i="0">
                <a:solidFill>
                  <a:srgbClr val="C4623A"/>
                </a:solidFill>
                <a:latin typeface="Inter"/>
              </a:rPr>
              <a:t>THE PROBLEM</a:t>
            </a:r>
          </a:p>
        </p:txBody>
      </p:sp>
      <p:sp>
        <p:nvSpPr>
          <p:cNvPr id="3" name="TextBox 2"/>
          <p:cNvSpPr txBox="1"/>
          <p:nvPr/>
        </p:nvSpPr>
        <p:spPr>
          <a:xfrm>
            <a:off x="548640" y="658368"/>
            <a:ext cx="11064240" cy="822960"/>
          </a:xfrm>
          <a:prstGeom prst="rect">
            <a:avLst/>
          </a:prstGeom>
          <a:noFill/>
        </p:spPr>
        <p:txBody>
          <a:bodyPr wrap="square" lIns="0" rIns="0" tIns="0" bIns="0" anchor="t">
            <a:spAutoFit/>
          </a:bodyPr>
          <a:lstStyle/>
          <a:p>
            <a:pPr algn="l">
              <a:lnSpc>
                <a:spcPct val="100000"/>
              </a:lnSpc>
              <a:spcAft>
                <a:spcPts val="400"/>
              </a:spcAft>
            </a:pPr>
            <a:r>
              <a:rPr sz="3000" b="0" i="0">
                <a:solidFill>
                  <a:srgbClr val="14161A"/>
                </a:solidFill>
                <a:latin typeface="Fraunces"/>
              </a:rPr>
              <a:t>In a new city, your phone is your guide, your map, your wallet
and your only lifeline. It is bad at all four at once.</a:t>
            </a:r>
          </a:p>
        </p:txBody>
      </p:sp>
      <p:pic>
        <p:nvPicPr>
          <p:cNvPr id="4" name="Picture 3" descr="lore-lockup-horizontal-ink-1600w.png"/>
          <p:cNvPicPr>
            <a:picLocks noChangeAspect="1"/>
          </p:cNvPicPr>
          <p:nvPr/>
        </p:nvPicPr>
        <p:blipFill>
          <a:blip r:embed="rId2"/>
          <a:stretch>
            <a:fillRect/>
          </a:stretch>
        </p:blipFill>
        <p:spPr>
          <a:xfrm>
            <a:off x="548640" y="6429032"/>
            <a:ext cx="822960" cy="199567"/>
          </a:xfrm>
          <a:prstGeom prst="rect">
            <a:avLst/>
          </a:prstGeom>
        </p:spPr>
      </p:pic>
      <p:sp>
        <p:nvSpPr>
          <p:cNvPr id="5" name="TextBox 4"/>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6" name="TextBox 5"/>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02</a:t>
            </a:r>
          </a:p>
        </p:txBody>
      </p:sp>
      <p:sp>
        <p:nvSpPr>
          <p:cNvPr id="7" name="Rectangle 6"/>
          <p:cNvSpPr/>
          <p:nvPr/>
        </p:nvSpPr>
        <p:spPr>
          <a:xfrm>
            <a:off x="548640" y="1965960"/>
            <a:ext cx="2670048" cy="237744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965960"/>
            <a:ext cx="54864" cy="2377440"/>
          </a:xfrm>
          <a:prstGeom prst="rect">
            <a:avLst/>
          </a:prstGeom>
          <a:solidFill>
            <a:srgbClr val="C46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112264"/>
            <a:ext cx="2267712" cy="457200"/>
          </a:xfrm>
          <a:prstGeom prst="rect">
            <a:avLst/>
          </a:prstGeom>
          <a:noFill/>
        </p:spPr>
        <p:txBody>
          <a:bodyPr wrap="square" lIns="0" rIns="0" tIns="0" bIns="0" anchor="t">
            <a:spAutoFit/>
          </a:bodyPr>
          <a:lstStyle/>
          <a:p>
            <a:pPr algn="l">
              <a:lnSpc>
                <a:spcPct val="110000"/>
              </a:lnSpc>
              <a:spcAft>
                <a:spcPts val="400"/>
              </a:spcAft>
            </a:pPr>
            <a:r>
              <a:rPr sz="1500" b="1" i="0">
                <a:solidFill>
                  <a:srgbClr val="14161A"/>
                </a:solidFill>
                <a:latin typeface="Inter"/>
              </a:rPr>
              <a:t>Head down, not looking up</a:t>
            </a:r>
          </a:p>
        </p:txBody>
      </p:sp>
      <p:sp>
        <p:nvSpPr>
          <p:cNvPr id="10" name="TextBox 9"/>
          <p:cNvSpPr txBox="1"/>
          <p:nvPr/>
        </p:nvSpPr>
        <p:spPr>
          <a:xfrm>
            <a:off x="749808" y="2496312"/>
            <a:ext cx="2267712" cy="1755648"/>
          </a:xfrm>
          <a:prstGeom prst="rect">
            <a:avLst/>
          </a:prstGeom>
          <a:noFill/>
        </p:spPr>
        <p:txBody>
          <a:bodyPr wrap="square" lIns="0" rIns="0" tIns="0" bIns="0" anchor="t">
            <a:spAutoFit/>
          </a:bodyPr>
          <a:lstStyle/>
          <a:p>
            <a:pPr algn="l">
              <a:lnSpc>
                <a:spcPct val="112000"/>
              </a:lnSpc>
              <a:spcAft>
                <a:spcPts val="400"/>
              </a:spcAft>
            </a:pPr>
            <a:r>
              <a:rPr sz="1200" b="0" i="0">
                <a:solidFill>
                  <a:srgbClr val="5A5D63"/>
                </a:solidFill>
                <a:latin typeface="Inter"/>
              </a:rPr>
              <a:t>Travellers read Wikipedia in front of monuments and still miss what is there. Generic "top 10" lists and audio guides tied to single sites.</a:t>
            </a:r>
          </a:p>
        </p:txBody>
      </p:sp>
      <p:sp>
        <p:nvSpPr>
          <p:cNvPr id="11" name="Rectangle 10"/>
          <p:cNvSpPr/>
          <p:nvPr/>
        </p:nvSpPr>
        <p:spPr>
          <a:xfrm>
            <a:off x="3355848" y="1965960"/>
            <a:ext cx="2670048" cy="237744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55848" y="1965960"/>
            <a:ext cx="54864" cy="2377440"/>
          </a:xfrm>
          <a:prstGeom prst="rect">
            <a:avLst/>
          </a:prstGeom>
          <a:solidFill>
            <a:srgbClr val="C46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57016" y="2112264"/>
            <a:ext cx="2267712" cy="457200"/>
          </a:xfrm>
          <a:prstGeom prst="rect">
            <a:avLst/>
          </a:prstGeom>
          <a:noFill/>
        </p:spPr>
        <p:txBody>
          <a:bodyPr wrap="square" lIns="0" rIns="0" tIns="0" bIns="0" anchor="t">
            <a:spAutoFit/>
          </a:bodyPr>
          <a:lstStyle/>
          <a:p>
            <a:pPr algn="l">
              <a:lnSpc>
                <a:spcPct val="110000"/>
              </a:lnSpc>
              <a:spcAft>
                <a:spcPts val="400"/>
              </a:spcAft>
            </a:pPr>
            <a:r>
              <a:rPr sz="1500" b="1" i="0">
                <a:solidFill>
                  <a:srgbClr val="14161A"/>
                </a:solidFill>
                <a:latin typeface="Inter"/>
              </a:rPr>
              <a:t>Battery dead by 4 pm</a:t>
            </a:r>
          </a:p>
        </p:txBody>
      </p:sp>
      <p:sp>
        <p:nvSpPr>
          <p:cNvPr id="14" name="TextBox 13"/>
          <p:cNvSpPr txBox="1"/>
          <p:nvPr/>
        </p:nvSpPr>
        <p:spPr>
          <a:xfrm>
            <a:off x="3557016" y="2496312"/>
            <a:ext cx="2267712" cy="1755648"/>
          </a:xfrm>
          <a:prstGeom prst="rect">
            <a:avLst/>
          </a:prstGeom>
          <a:noFill/>
        </p:spPr>
        <p:txBody>
          <a:bodyPr wrap="square" lIns="0" rIns="0" tIns="0" bIns="0" anchor="t">
            <a:spAutoFit/>
          </a:bodyPr>
          <a:lstStyle/>
          <a:p>
            <a:pPr algn="l">
              <a:lnSpc>
                <a:spcPct val="112000"/>
              </a:lnSpc>
              <a:spcAft>
                <a:spcPts val="400"/>
              </a:spcAft>
            </a:pPr>
            <a:r>
              <a:rPr sz="1200" b="0" i="0">
                <a:solidFill>
                  <a:srgbClr val="5A5D63"/>
                </a:solidFill>
                <a:latin typeface="Inter"/>
              </a:rPr>
              <a:t>Maps, camera, tickets and payments all drain one battery. When it dies you lose navigation, payments and the ability to call for help.</a:t>
            </a:r>
          </a:p>
        </p:txBody>
      </p:sp>
      <p:sp>
        <p:nvSpPr>
          <p:cNvPr id="15" name="Rectangle 14"/>
          <p:cNvSpPr/>
          <p:nvPr/>
        </p:nvSpPr>
        <p:spPr>
          <a:xfrm>
            <a:off x="6163056" y="1965960"/>
            <a:ext cx="2670048" cy="237744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63056" y="1965960"/>
            <a:ext cx="54864" cy="2377440"/>
          </a:xfrm>
          <a:prstGeom prst="rect">
            <a:avLst/>
          </a:prstGeom>
          <a:solidFill>
            <a:srgbClr val="C46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4224" y="2112264"/>
            <a:ext cx="2267712" cy="457200"/>
          </a:xfrm>
          <a:prstGeom prst="rect">
            <a:avLst/>
          </a:prstGeom>
          <a:noFill/>
        </p:spPr>
        <p:txBody>
          <a:bodyPr wrap="square" lIns="0" rIns="0" tIns="0" bIns="0" anchor="t">
            <a:spAutoFit/>
          </a:bodyPr>
          <a:lstStyle/>
          <a:p>
            <a:pPr algn="l">
              <a:lnSpc>
                <a:spcPct val="110000"/>
              </a:lnSpc>
              <a:spcAft>
                <a:spcPts val="400"/>
              </a:spcAft>
            </a:pPr>
            <a:r>
              <a:rPr sz="1500" b="1" i="0">
                <a:solidFill>
                  <a:srgbClr val="14161A"/>
                </a:solidFill>
                <a:latin typeface="Inter"/>
              </a:rPr>
              <a:t>Phone out = target</a:t>
            </a:r>
          </a:p>
        </p:txBody>
      </p:sp>
      <p:sp>
        <p:nvSpPr>
          <p:cNvPr id="18" name="TextBox 17"/>
          <p:cNvSpPr txBox="1"/>
          <p:nvPr/>
        </p:nvSpPr>
        <p:spPr>
          <a:xfrm>
            <a:off x="6364224" y="2496312"/>
            <a:ext cx="2267712" cy="1755648"/>
          </a:xfrm>
          <a:prstGeom prst="rect">
            <a:avLst/>
          </a:prstGeom>
          <a:noFill/>
        </p:spPr>
        <p:txBody>
          <a:bodyPr wrap="square" lIns="0" rIns="0" tIns="0" bIns="0" anchor="t">
            <a:spAutoFit/>
          </a:bodyPr>
          <a:lstStyle/>
          <a:p>
            <a:pPr algn="l">
              <a:lnSpc>
                <a:spcPct val="112000"/>
              </a:lnSpc>
              <a:spcAft>
                <a:spcPts val="400"/>
              </a:spcAft>
            </a:pPr>
            <a:r>
              <a:rPr sz="1200" b="0" i="0">
                <a:solidFill>
                  <a:srgbClr val="5A5D63"/>
                </a:solidFill>
                <a:latin typeface="Inter"/>
              </a:rPr>
              <a:t>Greater Rome: 33,455 pickpocketing incidents in 2024 (+68% vs 2019). Holding a phone out marks you as a lost tourist.</a:t>
            </a:r>
          </a:p>
        </p:txBody>
      </p:sp>
      <p:sp>
        <p:nvSpPr>
          <p:cNvPr id="19" name="Rectangle 18"/>
          <p:cNvSpPr/>
          <p:nvPr/>
        </p:nvSpPr>
        <p:spPr>
          <a:xfrm>
            <a:off x="8970264" y="1965960"/>
            <a:ext cx="2670048" cy="237744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70264" y="1965960"/>
            <a:ext cx="54864" cy="2377440"/>
          </a:xfrm>
          <a:prstGeom prst="rect">
            <a:avLst/>
          </a:prstGeom>
          <a:solidFill>
            <a:srgbClr val="C46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71432" y="2112264"/>
            <a:ext cx="2267712" cy="457200"/>
          </a:xfrm>
          <a:prstGeom prst="rect">
            <a:avLst/>
          </a:prstGeom>
          <a:noFill/>
        </p:spPr>
        <p:txBody>
          <a:bodyPr wrap="square" lIns="0" rIns="0" tIns="0" bIns="0" anchor="t">
            <a:spAutoFit/>
          </a:bodyPr>
          <a:lstStyle/>
          <a:p>
            <a:pPr algn="l">
              <a:lnSpc>
                <a:spcPct val="110000"/>
              </a:lnSpc>
              <a:spcAft>
                <a:spcPts val="400"/>
              </a:spcAft>
            </a:pPr>
            <a:r>
              <a:rPr sz="1500" b="1" i="0">
                <a:solidFill>
                  <a:srgbClr val="14161A"/>
                </a:solidFill>
                <a:latin typeface="Inter"/>
              </a:rPr>
              <a:t>Data is still a hassle</a:t>
            </a:r>
          </a:p>
        </p:txBody>
      </p:sp>
      <p:sp>
        <p:nvSpPr>
          <p:cNvPr id="22" name="TextBox 21"/>
          <p:cNvSpPr txBox="1"/>
          <p:nvPr/>
        </p:nvSpPr>
        <p:spPr>
          <a:xfrm>
            <a:off x="9171432" y="2496312"/>
            <a:ext cx="2267712" cy="1755648"/>
          </a:xfrm>
          <a:prstGeom prst="rect">
            <a:avLst/>
          </a:prstGeom>
          <a:noFill/>
        </p:spPr>
        <p:txBody>
          <a:bodyPr wrap="square" lIns="0" rIns="0" tIns="0" bIns="0" anchor="t">
            <a:spAutoFit/>
          </a:bodyPr>
          <a:lstStyle/>
          <a:p>
            <a:pPr algn="l">
              <a:lnSpc>
                <a:spcPct val="112000"/>
              </a:lnSpc>
              <a:spcAft>
                <a:spcPts val="400"/>
              </a:spcAft>
            </a:pPr>
            <a:r>
              <a:rPr sz="1200" b="0" i="0">
                <a:solidFill>
                  <a:srgbClr val="5A5D63"/>
                </a:solidFill>
                <a:latin typeface="Inter"/>
              </a:rPr>
              <a:t>&gt;70% of frequent travellers in one survey had experienced roaming bill shock (avg. &gt;€200). eSIMs help, but need setup per trip.</a:t>
            </a:r>
          </a:p>
        </p:txBody>
      </p:sp>
      <p:sp>
        <p:nvSpPr>
          <p:cNvPr id="23" name="TextBox 22"/>
          <p:cNvSpPr txBox="1"/>
          <p:nvPr/>
        </p:nvSpPr>
        <p:spPr>
          <a:xfrm>
            <a:off x="548640" y="4663440"/>
            <a:ext cx="11064240" cy="1097280"/>
          </a:xfrm>
          <a:prstGeom prst="rect">
            <a:avLst/>
          </a:prstGeom>
          <a:noFill/>
        </p:spPr>
        <p:txBody>
          <a:bodyPr wrap="square" lIns="0" rIns="0" tIns="0" bIns="0" anchor="t">
            <a:spAutoFit/>
          </a:bodyPr>
          <a:lstStyle/>
          <a:p>
            <a:pPr algn="l">
              <a:lnSpc>
                <a:spcPct val="110000"/>
              </a:lnSpc>
              <a:spcAft>
                <a:spcPts val="400"/>
              </a:spcAft>
            </a:pPr>
            <a:r>
              <a:rPr sz="1400" b="1" i="0">
                <a:solidFill>
                  <a:srgbClr val="14161A"/>
                </a:solidFill>
                <a:latin typeface="Inter"/>
              </a:rPr>
              <a:t>Who feels it most: </a:t>
            </a:r>
            <a:r>
              <a:rPr sz="1400" b="0" i="0">
                <a:solidFill>
                  <a:srgbClr val="5A5D63"/>
                </a:solidFill>
                <a:latin typeface="Inter"/>
              </a:rPr>
              <a:t>solo travellers aged 22-45 making 2+ international trips a year. 35-48% of travellers now plan or take solo trips; solo share of Hostelworld bookings is 63%.</a:t>
            </a:r>
          </a:p>
        </p:txBody>
      </p:sp>
      <p:sp>
        <p:nvSpPr>
          <p:cNvPr id="24" name="TextBox 23"/>
          <p:cNvSpPr txBox="1"/>
          <p:nvPr/>
        </p:nvSpPr>
        <p:spPr>
          <a:xfrm>
            <a:off x="548640" y="6108192"/>
            <a:ext cx="11064240" cy="274320"/>
          </a:xfrm>
          <a:prstGeom prst="rect">
            <a:avLst/>
          </a:prstGeom>
          <a:noFill/>
        </p:spPr>
        <p:txBody>
          <a:bodyPr wrap="square" lIns="0" rIns="0" tIns="0" bIns="0" anchor="t">
            <a:spAutoFit/>
          </a:bodyPr>
          <a:lstStyle/>
          <a:p>
            <a:pPr algn="l">
              <a:lnSpc>
                <a:spcPct val="110000"/>
              </a:lnSpc>
              <a:spcAft>
                <a:spcPts val="400"/>
              </a:spcAft>
            </a:pPr>
            <a:r>
              <a:rPr sz="850" b="0" i="0">
                <a:solidFill>
                  <a:srgbClr val="5A5D63"/>
                </a:solidFill>
                <a:latin typeface="Inter"/>
              </a:rPr>
              <a:t>Sources: research/trends.md, research/personas.md, research/README.md (quotezone.co.uk pickpocketing aggregation, telecompaper.com roaming survey, Skyscanner/Global Rescue/IMG). Secondary aggregations; indicative.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EEE6"/>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10000"/>
              </a:lnSpc>
              <a:spcAft>
                <a:spcPts val="400"/>
              </a:spcAft>
            </a:pPr>
            <a:r>
              <a:rPr sz="1100" b="1" i="0">
                <a:solidFill>
                  <a:srgbClr val="C4623A"/>
                </a:solidFill>
                <a:latin typeface="Inter"/>
              </a:rPr>
              <a:t>THE SOLUTION</a:t>
            </a:r>
          </a:p>
        </p:txBody>
      </p:sp>
      <p:sp>
        <p:nvSpPr>
          <p:cNvPr id="3" name="TextBox 2"/>
          <p:cNvSpPr txBox="1"/>
          <p:nvPr/>
        </p:nvSpPr>
        <p:spPr>
          <a:xfrm>
            <a:off x="548640" y="658368"/>
            <a:ext cx="11064240" cy="822960"/>
          </a:xfrm>
          <a:prstGeom prst="rect">
            <a:avLst/>
          </a:prstGeom>
          <a:noFill/>
        </p:spPr>
        <p:txBody>
          <a:bodyPr wrap="square" lIns="0" rIns="0" tIns="0" bIns="0" anchor="t">
            <a:spAutoFit/>
          </a:bodyPr>
          <a:lstStyle/>
          <a:p>
            <a:pPr algn="l">
              <a:lnSpc>
                <a:spcPct val="100000"/>
              </a:lnSpc>
              <a:spcAft>
                <a:spcPts val="400"/>
              </a:spcAft>
            </a:pPr>
            <a:r>
              <a:rPr sz="3000" b="0" i="0">
                <a:solidFill>
                  <a:srgbClr val="14161A"/>
                </a:solidFill>
                <a:latin typeface="Fraunces"/>
              </a:rPr>
              <a:t>Walk with a brilliant local friend who knows the history.</a:t>
            </a:r>
          </a:p>
        </p:txBody>
      </p:sp>
      <p:pic>
        <p:nvPicPr>
          <p:cNvPr id="4" name="Picture 3" descr="lore-lockup-horizontal-ink-1600w.png"/>
          <p:cNvPicPr>
            <a:picLocks noChangeAspect="1"/>
          </p:cNvPicPr>
          <p:nvPr/>
        </p:nvPicPr>
        <p:blipFill>
          <a:blip r:embed="rId2"/>
          <a:stretch>
            <a:fillRect/>
          </a:stretch>
        </p:blipFill>
        <p:spPr>
          <a:xfrm>
            <a:off x="548640" y="6429032"/>
            <a:ext cx="822960" cy="199567"/>
          </a:xfrm>
          <a:prstGeom prst="rect">
            <a:avLst/>
          </a:prstGeom>
        </p:spPr>
      </p:pic>
      <p:sp>
        <p:nvSpPr>
          <p:cNvPr id="5" name="TextBox 4"/>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6" name="TextBox 5"/>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03</a:t>
            </a:r>
          </a:p>
        </p:txBody>
      </p:sp>
      <p:sp>
        <p:nvSpPr>
          <p:cNvPr id="7" name="TextBox 6"/>
          <p:cNvSpPr txBox="1"/>
          <p:nvPr/>
        </p:nvSpPr>
        <p:spPr>
          <a:xfrm>
            <a:off x="548640" y="1691640"/>
            <a:ext cx="2670048" cy="548640"/>
          </a:xfrm>
          <a:prstGeom prst="rect">
            <a:avLst/>
          </a:prstGeom>
          <a:noFill/>
        </p:spPr>
        <p:txBody>
          <a:bodyPr wrap="square" lIns="0" rIns="0" tIns="0" bIns="0" anchor="t">
            <a:spAutoFit/>
          </a:bodyPr>
          <a:lstStyle/>
          <a:p>
            <a:pPr algn="l">
              <a:lnSpc>
                <a:spcPct val="110000"/>
              </a:lnSpc>
              <a:spcAft>
                <a:spcPts val="400"/>
              </a:spcAft>
            </a:pPr>
            <a:r>
              <a:rPr sz="3000" b="0" i="0">
                <a:solidFill>
                  <a:srgbClr val="C4623A"/>
                </a:solidFill>
                <a:latin typeface="Fraunces"/>
              </a:rPr>
              <a:t>01</a:t>
            </a:r>
          </a:p>
        </p:txBody>
      </p:sp>
      <p:sp>
        <p:nvSpPr>
          <p:cNvPr id="8" name="TextBox 7"/>
          <p:cNvSpPr txBox="1"/>
          <p:nvPr/>
        </p:nvSpPr>
        <p:spPr>
          <a:xfrm>
            <a:off x="548640" y="2286000"/>
            <a:ext cx="2670048" cy="457200"/>
          </a:xfrm>
          <a:prstGeom prst="rect">
            <a:avLst/>
          </a:prstGeom>
          <a:noFill/>
        </p:spPr>
        <p:txBody>
          <a:bodyPr wrap="square" lIns="0" rIns="0" tIns="0" bIns="0" anchor="t">
            <a:spAutoFit/>
          </a:bodyPr>
          <a:lstStyle/>
          <a:p>
            <a:pPr algn="l">
              <a:lnSpc>
                <a:spcPct val="110000"/>
              </a:lnSpc>
              <a:spcAft>
                <a:spcPts val="400"/>
              </a:spcAft>
            </a:pPr>
            <a:r>
              <a:rPr sz="1500" b="1" i="0">
                <a:solidFill>
                  <a:srgbClr val="14161A"/>
                </a:solidFill>
                <a:latin typeface="Inter"/>
              </a:rPr>
              <a:t>You walk</a:t>
            </a:r>
          </a:p>
        </p:txBody>
      </p:sp>
      <p:sp>
        <p:nvSpPr>
          <p:cNvPr id="9" name="TextBox 8"/>
          <p:cNvSpPr txBox="1"/>
          <p:nvPr/>
        </p:nvSpPr>
        <p:spPr>
          <a:xfrm>
            <a:off x="548640" y="2697480"/>
            <a:ext cx="2670048" cy="1188720"/>
          </a:xfrm>
          <a:prstGeom prst="rect">
            <a:avLst/>
          </a:prstGeom>
          <a:noFill/>
        </p:spPr>
        <p:txBody>
          <a:bodyPr wrap="square" lIns="0" rIns="0" tIns="0" bIns="0" anchor="t">
            <a:spAutoFit/>
          </a:bodyPr>
          <a:lstStyle/>
          <a:p>
            <a:pPr algn="l">
              <a:lnSpc>
                <a:spcPct val="115000"/>
              </a:lnSpc>
              <a:spcAft>
                <a:spcPts val="400"/>
              </a:spcAft>
            </a:pPr>
            <a:r>
              <a:rPr sz="1200" b="0" i="0">
                <a:solidFill>
                  <a:srgbClr val="5A5D63"/>
                </a:solidFill>
                <a:latin typeface="Inter"/>
              </a:rPr>
              <a:t>Phone in pocket. LORE clipped on or in hand. Your own earphones (LE Audio / A2DP).</a:t>
            </a:r>
          </a:p>
        </p:txBody>
      </p:sp>
      <p:sp>
        <p:nvSpPr>
          <p:cNvPr id="10" name="TextBox 9"/>
          <p:cNvSpPr txBox="1"/>
          <p:nvPr/>
        </p:nvSpPr>
        <p:spPr>
          <a:xfrm>
            <a:off x="3355848" y="1691640"/>
            <a:ext cx="2670048" cy="548640"/>
          </a:xfrm>
          <a:prstGeom prst="rect">
            <a:avLst/>
          </a:prstGeom>
          <a:noFill/>
        </p:spPr>
        <p:txBody>
          <a:bodyPr wrap="square" lIns="0" rIns="0" tIns="0" bIns="0" anchor="t">
            <a:spAutoFit/>
          </a:bodyPr>
          <a:lstStyle/>
          <a:p>
            <a:pPr algn="l">
              <a:lnSpc>
                <a:spcPct val="110000"/>
              </a:lnSpc>
              <a:spcAft>
                <a:spcPts val="400"/>
              </a:spcAft>
            </a:pPr>
            <a:r>
              <a:rPr sz="3000" b="0" i="0">
                <a:solidFill>
                  <a:srgbClr val="C4623A"/>
                </a:solidFill>
                <a:latin typeface="Fraunces"/>
              </a:rPr>
              <a:t>02</a:t>
            </a:r>
          </a:p>
        </p:txBody>
      </p:sp>
      <p:sp>
        <p:nvSpPr>
          <p:cNvPr id="11" name="TextBox 10"/>
          <p:cNvSpPr txBox="1"/>
          <p:nvPr/>
        </p:nvSpPr>
        <p:spPr>
          <a:xfrm>
            <a:off x="3355848" y="2286000"/>
            <a:ext cx="2670048" cy="457200"/>
          </a:xfrm>
          <a:prstGeom prst="rect">
            <a:avLst/>
          </a:prstGeom>
          <a:noFill/>
        </p:spPr>
        <p:txBody>
          <a:bodyPr wrap="square" lIns="0" rIns="0" tIns="0" bIns="0" anchor="t">
            <a:spAutoFit/>
          </a:bodyPr>
          <a:lstStyle/>
          <a:p>
            <a:pPr algn="l">
              <a:lnSpc>
                <a:spcPct val="110000"/>
              </a:lnSpc>
              <a:spcAft>
                <a:spcPts val="400"/>
              </a:spcAft>
            </a:pPr>
            <a:r>
              <a:rPr sz="1500" b="1" i="0">
                <a:solidFill>
                  <a:srgbClr val="14161A"/>
                </a:solidFill>
                <a:latin typeface="Inter"/>
              </a:rPr>
              <a:t>LORE knows where you face</a:t>
            </a:r>
          </a:p>
        </p:txBody>
      </p:sp>
      <p:sp>
        <p:nvSpPr>
          <p:cNvPr id="12" name="TextBox 11"/>
          <p:cNvSpPr txBox="1"/>
          <p:nvPr/>
        </p:nvSpPr>
        <p:spPr>
          <a:xfrm>
            <a:off x="3355848" y="2697480"/>
            <a:ext cx="2670048" cy="1188720"/>
          </a:xfrm>
          <a:prstGeom prst="rect">
            <a:avLst/>
          </a:prstGeom>
          <a:noFill/>
        </p:spPr>
        <p:txBody>
          <a:bodyPr wrap="square" lIns="0" rIns="0" tIns="0" bIns="0" anchor="t">
            <a:spAutoFit/>
          </a:bodyPr>
          <a:lstStyle/>
          <a:p>
            <a:pPr algn="l">
              <a:lnSpc>
                <a:spcPct val="115000"/>
              </a:lnSpc>
              <a:spcAft>
                <a:spcPts val="400"/>
              </a:spcAft>
            </a:pPr>
            <a:r>
              <a:rPr sz="1200" b="0" i="0">
                <a:solidFill>
                  <a:srgbClr val="5A5D63"/>
                </a:solidFill>
                <a:latin typeface="Inter"/>
              </a:rPr>
              <a:t>Map Vision fuses L1+L5 GNSS, 9-axis IMU, steps and building outlines.</a:t>
            </a:r>
          </a:p>
        </p:txBody>
      </p:sp>
      <p:sp>
        <p:nvSpPr>
          <p:cNvPr id="13" name="TextBox 12"/>
          <p:cNvSpPr txBox="1"/>
          <p:nvPr/>
        </p:nvSpPr>
        <p:spPr>
          <a:xfrm>
            <a:off x="6163056" y="1691640"/>
            <a:ext cx="2670048" cy="548640"/>
          </a:xfrm>
          <a:prstGeom prst="rect">
            <a:avLst/>
          </a:prstGeom>
          <a:noFill/>
        </p:spPr>
        <p:txBody>
          <a:bodyPr wrap="square" lIns="0" rIns="0" tIns="0" bIns="0" anchor="t">
            <a:spAutoFit/>
          </a:bodyPr>
          <a:lstStyle/>
          <a:p>
            <a:pPr algn="l">
              <a:lnSpc>
                <a:spcPct val="110000"/>
              </a:lnSpc>
              <a:spcAft>
                <a:spcPts val="400"/>
              </a:spcAft>
            </a:pPr>
            <a:r>
              <a:rPr sz="3000" b="0" i="0">
                <a:solidFill>
                  <a:srgbClr val="C4623A"/>
                </a:solidFill>
                <a:latin typeface="Fraunces"/>
              </a:rPr>
              <a:t>03</a:t>
            </a:r>
          </a:p>
        </p:txBody>
      </p:sp>
      <p:sp>
        <p:nvSpPr>
          <p:cNvPr id="14" name="TextBox 13"/>
          <p:cNvSpPr txBox="1"/>
          <p:nvPr/>
        </p:nvSpPr>
        <p:spPr>
          <a:xfrm>
            <a:off x="6163056" y="2286000"/>
            <a:ext cx="2670048" cy="457200"/>
          </a:xfrm>
          <a:prstGeom prst="rect">
            <a:avLst/>
          </a:prstGeom>
          <a:noFill/>
        </p:spPr>
        <p:txBody>
          <a:bodyPr wrap="square" lIns="0" rIns="0" tIns="0" bIns="0" anchor="t">
            <a:spAutoFit/>
          </a:bodyPr>
          <a:lstStyle/>
          <a:p>
            <a:pPr algn="l">
              <a:lnSpc>
                <a:spcPct val="110000"/>
              </a:lnSpc>
              <a:spcAft>
                <a:spcPts val="400"/>
              </a:spcAft>
            </a:pPr>
            <a:r>
              <a:rPr sz="1500" b="1" i="0">
                <a:solidFill>
                  <a:srgbClr val="14161A"/>
                </a:solidFill>
                <a:latin typeface="Inter"/>
              </a:rPr>
              <a:t>It tells you what's there</a:t>
            </a:r>
          </a:p>
        </p:txBody>
      </p:sp>
      <p:sp>
        <p:nvSpPr>
          <p:cNvPr id="15" name="TextBox 14"/>
          <p:cNvSpPr txBox="1"/>
          <p:nvPr/>
        </p:nvSpPr>
        <p:spPr>
          <a:xfrm>
            <a:off x="6163056" y="2697480"/>
            <a:ext cx="2670048" cy="1188720"/>
          </a:xfrm>
          <a:prstGeom prst="rect">
            <a:avLst/>
          </a:prstGeom>
          <a:noFill/>
        </p:spPr>
        <p:txBody>
          <a:bodyPr wrap="square" lIns="0" rIns="0" tIns="0" bIns="0" anchor="t">
            <a:spAutoFit/>
          </a:bodyPr>
          <a:lstStyle/>
          <a:p>
            <a:pPr algn="l">
              <a:lnSpc>
                <a:spcPct val="115000"/>
              </a:lnSpc>
              <a:spcAft>
                <a:spcPts val="400"/>
              </a:spcAft>
            </a:pPr>
            <a:r>
              <a:rPr sz="1200" b="0" i="0">
                <a:solidFill>
                  <a:srgbClr val="5A5D63"/>
                </a:solidFill>
                <a:latin typeface="Inter"/>
              </a:rPr>
              <a:t>"The building on your right...look up." 20-40 s stories from checked, sourced facts.</a:t>
            </a:r>
          </a:p>
        </p:txBody>
      </p:sp>
      <p:sp>
        <p:nvSpPr>
          <p:cNvPr id="16" name="TextBox 15"/>
          <p:cNvSpPr txBox="1"/>
          <p:nvPr/>
        </p:nvSpPr>
        <p:spPr>
          <a:xfrm>
            <a:off x="8970264" y="1691640"/>
            <a:ext cx="2670048" cy="548640"/>
          </a:xfrm>
          <a:prstGeom prst="rect">
            <a:avLst/>
          </a:prstGeom>
          <a:noFill/>
        </p:spPr>
        <p:txBody>
          <a:bodyPr wrap="square" lIns="0" rIns="0" tIns="0" bIns="0" anchor="t">
            <a:spAutoFit/>
          </a:bodyPr>
          <a:lstStyle/>
          <a:p>
            <a:pPr algn="l">
              <a:lnSpc>
                <a:spcPct val="110000"/>
              </a:lnSpc>
              <a:spcAft>
                <a:spcPts val="400"/>
              </a:spcAft>
            </a:pPr>
            <a:r>
              <a:rPr sz="3000" b="0" i="0">
                <a:solidFill>
                  <a:srgbClr val="C4623A"/>
                </a:solidFill>
                <a:latin typeface="Fraunces"/>
              </a:rPr>
              <a:t>04</a:t>
            </a:r>
          </a:p>
        </p:txBody>
      </p:sp>
      <p:sp>
        <p:nvSpPr>
          <p:cNvPr id="17" name="TextBox 16"/>
          <p:cNvSpPr txBox="1"/>
          <p:nvPr/>
        </p:nvSpPr>
        <p:spPr>
          <a:xfrm>
            <a:off x="8970264" y="2286000"/>
            <a:ext cx="2670048" cy="457200"/>
          </a:xfrm>
          <a:prstGeom prst="rect">
            <a:avLst/>
          </a:prstGeom>
          <a:noFill/>
        </p:spPr>
        <p:txBody>
          <a:bodyPr wrap="square" lIns="0" rIns="0" tIns="0" bIns="0" anchor="t">
            <a:spAutoFit/>
          </a:bodyPr>
          <a:lstStyle/>
          <a:p>
            <a:pPr algn="l">
              <a:lnSpc>
                <a:spcPct val="110000"/>
              </a:lnSpc>
              <a:spcAft>
                <a:spcPts val="400"/>
              </a:spcAft>
            </a:pPr>
            <a:r>
              <a:rPr sz="1500" b="1" i="0">
                <a:solidFill>
                  <a:srgbClr val="14161A"/>
                </a:solidFill>
                <a:latin typeface="Inter"/>
              </a:rPr>
              <a:t>You go deeper, or not</a:t>
            </a:r>
          </a:p>
        </p:txBody>
      </p:sp>
      <p:sp>
        <p:nvSpPr>
          <p:cNvPr id="18" name="TextBox 17"/>
          <p:cNvSpPr txBox="1"/>
          <p:nvPr/>
        </p:nvSpPr>
        <p:spPr>
          <a:xfrm>
            <a:off x="8970264" y="2697480"/>
            <a:ext cx="2670048" cy="1188720"/>
          </a:xfrm>
          <a:prstGeom prst="rect">
            <a:avLst/>
          </a:prstGeom>
          <a:noFill/>
        </p:spPr>
        <p:txBody>
          <a:bodyPr wrap="square" lIns="0" rIns="0" tIns="0" bIns="0" anchor="t">
            <a:spAutoFit/>
          </a:bodyPr>
          <a:lstStyle/>
          <a:p>
            <a:pPr algn="l">
              <a:lnSpc>
                <a:spcPct val="115000"/>
              </a:lnSpc>
              <a:spcAft>
                <a:spcPts val="400"/>
              </a:spcAft>
            </a:pPr>
            <a:r>
              <a:rPr sz="1200" b="0" i="0">
                <a:solidFill>
                  <a:srgbClr val="5A5D63"/>
                </a:solidFill>
                <a:latin typeface="Inter"/>
              </a:rPr>
              <a:t>Press: talk. Double-press: what's around me. Long-press: SOS. Quiet while you cross or talk.</a:t>
            </a:r>
          </a:p>
        </p:txBody>
      </p:sp>
      <p:sp>
        <p:nvSpPr>
          <p:cNvPr id="19" name="Rectangle 18"/>
          <p:cNvSpPr/>
          <p:nvPr/>
        </p:nvSpPr>
        <p:spPr>
          <a:xfrm>
            <a:off x="548640" y="3977639"/>
            <a:ext cx="11064240" cy="1783080"/>
          </a:xfrm>
          <a:prstGeom prst="rect">
            <a:avLst/>
          </a:prstGeom>
          <a:solidFill>
            <a:srgbClr val="14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160520"/>
            <a:ext cx="10424160" cy="1097280"/>
          </a:xfrm>
          <a:prstGeom prst="rect">
            <a:avLst/>
          </a:prstGeom>
          <a:noFill/>
        </p:spPr>
        <p:txBody>
          <a:bodyPr wrap="square" lIns="0" rIns="0" tIns="0" bIns="0" anchor="t">
            <a:spAutoFit/>
          </a:bodyPr>
          <a:lstStyle/>
          <a:p>
            <a:pPr algn="l">
              <a:lnSpc>
                <a:spcPct val="115000"/>
              </a:lnSpc>
              <a:spcAft>
                <a:spcPts val="400"/>
              </a:spcAft>
            </a:pPr>
            <a:r>
              <a:rPr sz="1600" b="0" i="1">
                <a:solidFill>
                  <a:srgbClr val="F3EEE6"/>
                </a:solidFill>
                <a:latin typeface="Fraunces"/>
              </a:rPr>
              <a:t>“See the Pantheon behind you? Turn around and look up. The building you see was rebuilt under the emperor Hadrian around 113 to 125 AD. Yet the inscription on the front credits Marcus Agrippa...”</a:t>
            </a:r>
          </a:p>
        </p:txBody>
      </p:sp>
      <p:sp>
        <p:nvSpPr>
          <p:cNvPr id="21" name="TextBox 20"/>
          <p:cNvSpPr txBox="1"/>
          <p:nvPr/>
        </p:nvSpPr>
        <p:spPr>
          <a:xfrm>
            <a:off x="868680" y="5303520"/>
            <a:ext cx="10424160" cy="365760"/>
          </a:xfrm>
          <a:prstGeom prst="rect">
            <a:avLst/>
          </a:prstGeom>
          <a:noFill/>
        </p:spPr>
        <p:txBody>
          <a:bodyPr wrap="square" lIns="0" rIns="0" tIns="0" bIns="0" anchor="t">
            <a:spAutoFit/>
          </a:bodyPr>
          <a:lstStyle/>
          <a:p>
            <a:pPr algn="l">
              <a:lnSpc>
                <a:spcPct val="110000"/>
              </a:lnSpc>
              <a:spcAft>
                <a:spcPts val="400"/>
              </a:spcAft>
            </a:pPr>
            <a:r>
              <a:rPr sz="1000" b="0" i="0">
                <a:solidFill>
                  <a:srgbClr val="B8935A"/>
                </a:solidFill>
                <a:latin typeface="Inter"/>
              </a:rPr>
              <a:t>Actual output of the Rome prototype (simulated walk, offline template path). Facts rome-pantheon-1..4, source: en.wikipedia.org/wiki/Pantheon,_Rome</a:t>
            </a:r>
          </a:p>
        </p:txBody>
      </p:sp>
      <p:sp>
        <p:nvSpPr>
          <p:cNvPr id="22" name="TextBox 21"/>
          <p:cNvSpPr txBox="1"/>
          <p:nvPr/>
        </p:nvSpPr>
        <p:spPr>
          <a:xfrm>
            <a:off x="548640" y="6108192"/>
            <a:ext cx="11064240" cy="274320"/>
          </a:xfrm>
          <a:prstGeom prst="rect">
            <a:avLst/>
          </a:prstGeom>
          <a:noFill/>
        </p:spPr>
        <p:txBody>
          <a:bodyPr wrap="square" lIns="0" rIns="0" tIns="0" bIns="0" anchor="t">
            <a:spAutoFit/>
          </a:bodyPr>
          <a:lstStyle/>
          <a:p>
            <a:pPr algn="l">
              <a:lnSpc>
                <a:spcPct val="110000"/>
              </a:lnSpc>
              <a:spcAft>
                <a:spcPts val="400"/>
              </a:spcAft>
            </a:pPr>
            <a:r>
              <a:rPr sz="850" b="0" i="0">
                <a:solidFill>
                  <a:srgbClr val="5A5D63"/>
                </a:solidFill>
                <a:latin typeface="Inter"/>
              </a:rPr>
              <a:t>Source: software/simulations/output/rome-walk-transcript.md (SIMULATED sensors). Principle D4: the AI tells the story; it cannot invent history.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EEE6"/>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10000"/>
              </a:lnSpc>
              <a:spcAft>
                <a:spcPts val="400"/>
              </a:spcAft>
            </a:pPr>
            <a:r>
              <a:rPr sz="1100" b="1" i="0">
                <a:solidFill>
                  <a:srgbClr val="C4623A"/>
                </a:solidFill>
                <a:latin typeface="Inter"/>
              </a:rPr>
              <a:t>WHY A DEVICE, NOT JUST AN APP</a:t>
            </a:r>
          </a:p>
        </p:txBody>
      </p:sp>
      <p:sp>
        <p:nvSpPr>
          <p:cNvPr id="3" name="TextBox 2"/>
          <p:cNvSpPr txBox="1"/>
          <p:nvPr/>
        </p:nvSpPr>
        <p:spPr>
          <a:xfrm>
            <a:off x="548640" y="658368"/>
            <a:ext cx="11064240" cy="822960"/>
          </a:xfrm>
          <a:prstGeom prst="rect">
            <a:avLst/>
          </a:prstGeom>
          <a:noFill/>
        </p:spPr>
        <p:txBody>
          <a:bodyPr wrap="square" lIns="0" rIns="0" tIns="0" bIns="0" anchor="t">
            <a:spAutoFit/>
          </a:bodyPr>
          <a:lstStyle/>
          <a:p>
            <a:pPr algn="l">
              <a:lnSpc>
                <a:spcPct val="100000"/>
              </a:lnSpc>
              <a:spcAft>
                <a:spcPts val="400"/>
              </a:spcAft>
            </a:pPr>
            <a:r>
              <a:rPr sz="3000" b="0" i="0">
                <a:solidFill>
                  <a:srgbClr val="14161A"/>
                </a:solidFill>
                <a:latin typeface="Fraunces"/>
              </a:rPr>
              <a:t>Phones are bad at three things travellers need. A device fixes them.</a:t>
            </a:r>
          </a:p>
        </p:txBody>
      </p:sp>
      <p:pic>
        <p:nvPicPr>
          <p:cNvPr id="4" name="Picture 3" descr="lore-lockup-horizontal-ink-1600w.png"/>
          <p:cNvPicPr>
            <a:picLocks noChangeAspect="1"/>
          </p:cNvPicPr>
          <p:nvPr/>
        </p:nvPicPr>
        <p:blipFill>
          <a:blip r:embed="rId2"/>
          <a:stretch>
            <a:fillRect/>
          </a:stretch>
        </p:blipFill>
        <p:spPr>
          <a:xfrm>
            <a:off x="548640" y="6429032"/>
            <a:ext cx="822960" cy="199567"/>
          </a:xfrm>
          <a:prstGeom prst="rect">
            <a:avLst/>
          </a:prstGeom>
        </p:spPr>
      </p:pic>
      <p:sp>
        <p:nvSpPr>
          <p:cNvPr id="5" name="TextBox 4"/>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6" name="TextBox 5"/>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04</a:t>
            </a:r>
          </a:p>
        </p:txBody>
      </p:sp>
      <p:sp>
        <p:nvSpPr>
          <p:cNvPr id="7" name="Rectangle 6"/>
          <p:cNvSpPr/>
          <p:nvPr/>
        </p:nvSpPr>
        <p:spPr>
          <a:xfrm>
            <a:off x="548640" y="1691640"/>
            <a:ext cx="6400800" cy="841248"/>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691640"/>
            <a:ext cx="54864" cy="841248"/>
          </a:xfrm>
          <a:prstGeom prst="rect">
            <a:avLst/>
          </a:prstGeom>
          <a:solidFill>
            <a:srgbClr val="C46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783080"/>
            <a:ext cx="6035040" cy="320040"/>
          </a:xfrm>
          <a:prstGeom prst="rect">
            <a:avLst/>
          </a:prstGeom>
          <a:noFill/>
        </p:spPr>
        <p:txBody>
          <a:bodyPr wrap="square" lIns="0" rIns="0" tIns="0" bIns="0" anchor="t">
            <a:spAutoFit/>
          </a:bodyPr>
          <a:lstStyle/>
          <a:p>
            <a:pPr algn="l">
              <a:lnSpc>
                <a:spcPct val="110000"/>
              </a:lnSpc>
              <a:spcAft>
                <a:spcPts val="400"/>
              </a:spcAft>
            </a:pPr>
            <a:r>
              <a:rPr sz="1400" b="1" i="0">
                <a:solidFill>
                  <a:srgbClr val="14161A"/>
                </a:solidFill>
                <a:latin typeface="Inter"/>
              </a:rPr>
              <a:t>Works when the phone doesn't</a:t>
            </a:r>
          </a:p>
        </p:txBody>
      </p:sp>
      <p:sp>
        <p:nvSpPr>
          <p:cNvPr id="10" name="TextBox 9"/>
          <p:cNvSpPr txBox="1"/>
          <p:nvPr/>
        </p:nvSpPr>
        <p:spPr>
          <a:xfrm>
            <a:off x="777240" y="2075688"/>
            <a:ext cx="6035040" cy="457200"/>
          </a:xfrm>
          <a:prstGeom prst="rect">
            <a:avLst/>
          </a:prstGeom>
          <a:noFill/>
        </p:spPr>
        <p:txBody>
          <a:bodyPr wrap="square" lIns="0" rIns="0" tIns="0" bIns="0" anchor="t">
            <a:spAutoFit/>
          </a:bodyPr>
          <a:lstStyle/>
          <a:p>
            <a:pPr algn="l">
              <a:lnSpc>
                <a:spcPct val="110000"/>
              </a:lnSpc>
              <a:spcAft>
                <a:spcPts val="400"/>
              </a:spcAft>
            </a:pPr>
            <a:r>
              <a:rPr sz="1050" b="0" i="0">
                <a:solidFill>
                  <a:srgbClr val="5A5D63"/>
                </a:solidFill>
                <a:latin typeface="Inter"/>
              </a:rPr>
              <a:t>Built-in global eSIM (Square/Atlas, LTE Cat-1bis, 150+ countries). Phone stolen or flat: you still have stories, maps and SOS.</a:t>
            </a:r>
          </a:p>
        </p:txBody>
      </p:sp>
      <p:sp>
        <p:nvSpPr>
          <p:cNvPr id="11" name="Rectangle 10"/>
          <p:cNvSpPr/>
          <p:nvPr/>
        </p:nvSpPr>
        <p:spPr>
          <a:xfrm>
            <a:off x="548640" y="2651760"/>
            <a:ext cx="6400800" cy="841248"/>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651760"/>
            <a:ext cx="54864" cy="841248"/>
          </a:xfrm>
          <a:prstGeom prst="rect">
            <a:avLst/>
          </a:prstGeom>
          <a:solidFill>
            <a:srgbClr val="C46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743200"/>
            <a:ext cx="6035040" cy="320040"/>
          </a:xfrm>
          <a:prstGeom prst="rect">
            <a:avLst/>
          </a:prstGeom>
          <a:noFill/>
        </p:spPr>
        <p:txBody>
          <a:bodyPr wrap="square" lIns="0" rIns="0" tIns="0" bIns="0" anchor="t">
            <a:spAutoFit/>
          </a:bodyPr>
          <a:lstStyle/>
          <a:p>
            <a:pPr algn="l">
              <a:lnSpc>
                <a:spcPct val="110000"/>
              </a:lnSpc>
              <a:spcAft>
                <a:spcPts val="400"/>
              </a:spcAft>
            </a:pPr>
            <a:r>
              <a:rPr sz="1400" b="1" i="0">
                <a:solidFill>
                  <a:srgbClr val="14161A"/>
                </a:solidFill>
                <a:latin typeface="Inter"/>
              </a:rPr>
              <a:t>2+ day battery, separate from the phone</a:t>
            </a:r>
          </a:p>
        </p:txBody>
      </p:sp>
      <p:sp>
        <p:nvSpPr>
          <p:cNvPr id="14" name="TextBox 13"/>
          <p:cNvSpPr txBox="1"/>
          <p:nvPr/>
        </p:nvSpPr>
        <p:spPr>
          <a:xfrm>
            <a:off x="777240" y="3035808"/>
            <a:ext cx="6035040" cy="457200"/>
          </a:xfrm>
          <a:prstGeom prst="rect">
            <a:avLst/>
          </a:prstGeom>
          <a:noFill/>
        </p:spPr>
        <p:txBody>
          <a:bodyPr wrap="square" lIns="0" rIns="0" tIns="0" bIns="0" anchor="t">
            <a:spAutoFit/>
          </a:bodyPr>
          <a:lstStyle/>
          <a:p>
            <a:pPr algn="l">
              <a:lnSpc>
                <a:spcPct val="110000"/>
              </a:lnSpc>
              <a:spcAft>
                <a:spcPts val="400"/>
              </a:spcAft>
            </a:pPr>
            <a:r>
              <a:rPr sz="1050" b="0" i="0">
                <a:solidFill>
                  <a:srgbClr val="5A5D63"/>
                </a:solidFill>
                <a:latin typeface="Inter"/>
              </a:rPr>
              <a:t>Simulated travel day: Pebble 2.1, Square 2.1, Atlas 2.4 days (new cell, optimised firmware). Phone battery stays for photos and payments.</a:t>
            </a:r>
          </a:p>
        </p:txBody>
      </p:sp>
      <p:sp>
        <p:nvSpPr>
          <p:cNvPr id="15" name="Rectangle 14"/>
          <p:cNvSpPr/>
          <p:nvPr/>
        </p:nvSpPr>
        <p:spPr>
          <a:xfrm>
            <a:off x="548640" y="3611880"/>
            <a:ext cx="6400800" cy="841248"/>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611880"/>
            <a:ext cx="54864" cy="841248"/>
          </a:xfrm>
          <a:prstGeom prst="rect">
            <a:avLst/>
          </a:prstGeom>
          <a:solidFill>
            <a:srgbClr val="C46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703320"/>
            <a:ext cx="6035040" cy="320040"/>
          </a:xfrm>
          <a:prstGeom prst="rect">
            <a:avLst/>
          </a:prstGeom>
          <a:noFill/>
        </p:spPr>
        <p:txBody>
          <a:bodyPr wrap="square" lIns="0" rIns="0" tIns="0" bIns="0" anchor="t">
            <a:spAutoFit/>
          </a:bodyPr>
          <a:lstStyle/>
          <a:p>
            <a:pPr algn="l">
              <a:lnSpc>
                <a:spcPct val="110000"/>
              </a:lnSpc>
              <a:spcAft>
                <a:spcPts val="400"/>
              </a:spcAft>
            </a:pPr>
            <a:r>
              <a:rPr sz="1400" b="1" i="0">
                <a:solidFill>
                  <a:srgbClr val="14161A"/>
                </a:solidFill>
                <a:latin typeface="Inter"/>
              </a:rPr>
              <a:t>Offline City Packs</a:t>
            </a:r>
          </a:p>
        </p:txBody>
      </p:sp>
      <p:sp>
        <p:nvSpPr>
          <p:cNvPr id="18" name="TextBox 17"/>
          <p:cNvSpPr txBox="1"/>
          <p:nvPr/>
        </p:nvSpPr>
        <p:spPr>
          <a:xfrm>
            <a:off x="777240" y="3995928"/>
            <a:ext cx="6035040" cy="457200"/>
          </a:xfrm>
          <a:prstGeom prst="rect">
            <a:avLst/>
          </a:prstGeom>
          <a:noFill/>
        </p:spPr>
        <p:txBody>
          <a:bodyPr wrap="square" lIns="0" rIns="0" tIns="0" bIns="0" anchor="t">
            <a:spAutoFit/>
          </a:bodyPr>
          <a:lstStyle/>
          <a:p>
            <a:pPr algn="l">
              <a:lnSpc>
                <a:spcPct val="110000"/>
              </a:lnSpc>
              <a:spcAft>
                <a:spcPts val="400"/>
              </a:spcAft>
            </a:pPr>
            <a:r>
              <a:rPr sz="1050" b="0" i="0">
                <a:solidFill>
                  <a:srgbClr val="5A5D63"/>
                </a:solidFill>
                <a:latin typeface="Inter"/>
              </a:rPr>
              <a:t>Maps, routing, stories and on-device AI (3B on Square) with no signal. Rome pack: 86 POIs, 215 sourced fact cards today.</a:t>
            </a:r>
          </a:p>
        </p:txBody>
      </p:sp>
      <p:sp>
        <p:nvSpPr>
          <p:cNvPr id="19" name="Rectangle 18"/>
          <p:cNvSpPr/>
          <p:nvPr/>
        </p:nvSpPr>
        <p:spPr>
          <a:xfrm>
            <a:off x="548640" y="4572000"/>
            <a:ext cx="6400800" cy="841248"/>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4572000"/>
            <a:ext cx="54864" cy="841248"/>
          </a:xfrm>
          <a:prstGeom prst="rect">
            <a:avLst/>
          </a:prstGeom>
          <a:solidFill>
            <a:srgbClr val="C46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663440"/>
            <a:ext cx="6035040" cy="320040"/>
          </a:xfrm>
          <a:prstGeom prst="rect">
            <a:avLst/>
          </a:prstGeom>
          <a:noFill/>
        </p:spPr>
        <p:txBody>
          <a:bodyPr wrap="square" lIns="0" rIns="0" tIns="0" bIns="0" anchor="t">
            <a:spAutoFit/>
          </a:bodyPr>
          <a:lstStyle/>
          <a:p>
            <a:pPr algn="l">
              <a:lnSpc>
                <a:spcPct val="110000"/>
              </a:lnSpc>
              <a:spcAft>
                <a:spcPts val="400"/>
              </a:spcAft>
            </a:pPr>
            <a:r>
              <a:rPr sz="1400" b="1" i="0">
                <a:solidFill>
                  <a:srgbClr val="14161A"/>
                </a:solidFill>
                <a:latin typeface="Inter"/>
              </a:rPr>
              <a:t>Eyes up, phone hidden</a:t>
            </a:r>
          </a:p>
        </p:txBody>
      </p:sp>
      <p:sp>
        <p:nvSpPr>
          <p:cNvPr id="22" name="TextBox 21"/>
          <p:cNvSpPr txBox="1"/>
          <p:nvPr/>
        </p:nvSpPr>
        <p:spPr>
          <a:xfrm>
            <a:off x="777240" y="4956048"/>
            <a:ext cx="6035040" cy="457200"/>
          </a:xfrm>
          <a:prstGeom prst="rect">
            <a:avLst/>
          </a:prstGeom>
          <a:noFill/>
        </p:spPr>
        <p:txBody>
          <a:bodyPr wrap="square" lIns="0" rIns="0" tIns="0" bIns="0" anchor="t">
            <a:spAutoFit/>
          </a:bodyPr>
          <a:lstStyle/>
          <a:p>
            <a:pPr algn="l">
              <a:lnSpc>
                <a:spcPct val="110000"/>
              </a:lnSpc>
              <a:spcAft>
                <a:spcPts val="400"/>
              </a:spcAft>
            </a:pPr>
            <a:r>
              <a:rPr sz="1050" b="0" i="0">
                <a:solidFill>
                  <a:srgbClr val="5A5D63"/>
                </a:solidFill>
                <a:latin typeface="Inter"/>
              </a:rPr>
              <a:t>Physical controls: press to talk, double-press 'what's around me', long-press SOS. Walk-me-home check-ins.</a:t>
            </a:r>
          </a:p>
        </p:txBody>
      </p:sp>
      <p:pic>
        <p:nvPicPr>
          <p:cNvPr id="23" name="Picture 22" descr="exploded-square.png"/>
          <p:cNvPicPr>
            <a:picLocks noChangeAspect="1"/>
          </p:cNvPicPr>
          <p:nvPr/>
        </p:nvPicPr>
        <p:blipFill>
          <a:blip r:embed="rId3"/>
          <a:stretch>
            <a:fillRect/>
          </a:stretch>
        </p:blipFill>
        <p:spPr>
          <a:xfrm>
            <a:off x="7178040" y="1700403"/>
            <a:ext cx="4480560" cy="2725674"/>
          </a:xfrm>
          <a:prstGeom prst="rect">
            <a:avLst/>
          </a:prstGeom>
        </p:spPr>
      </p:pic>
      <p:sp>
        <p:nvSpPr>
          <p:cNvPr id="24" name="TextBox 23"/>
          <p:cNvSpPr txBox="1"/>
          <p:nvPr/>
        </p:nvSpPr>
        <p:spPr>
          <a:xfrm>
            <a:off x="7178040" y="4572000"/>
            <a:ext cx="4480560" cy="1371600"/>
          </a:xfrm>
          <a:prstGeom prst="rect">
            <a:avLst/>
          </a:prstGeom>
          <a:noFill/>
        </p:spPr>
        <p:txBody>
          <a:bodyPr wrap="square" lIns="0" rIns="0" tIns="0" bIns="0" anchor="t">
            <a:spAutoFit/>
          </a:bodyPr>
          <a:lstStyle/>
          <a:p>
            <a:pPr algn="l">
              <a:lnSpc>
                <a:spcPct val="110000"/>
              </a:lnSpc>
              <a:spcAft>
                <a:spcPts val="400"/>
              </a:spcAft>
            </a:pPr>
            <a:r>
              <a:rPr sz="1200" b="1" i="0">
                <a:solidFill>
                  <a:srgbClr val="14161A"/>
                </a:solidFill>
                <a:latin typeface="Inter"/>
              </a:rPr>
              <a:t>Honest test (Gate G0): </a:t>
            </a:r>
            <a:r>
              <a:rPr sz="1200" b="0" i="0">
                <a:solidFill>
                  <a:srgbClr val="5A5D63"/>
                </a:solidFill>
                <a:latin typeface="Inter"/>
              </a:rPr>
              <a:t>if the phone app alone delivers ≥80% of the value, we ship the app first and keep the device as a premium model (decision D1).</a:t>
            </a:r>
          </a:p>
        </p:txBody>
      </p:sp>
      <p:sp>
        <p:nvSpPr>
          <p:cNvPr id="25" name="TextBox 24"/>
          <p:cNvSpPr txBox="1"/>
          <p:nvPr/>
        </p:nvSpPr>
        <p:spPr>
          <a:xfrm>
            <a:off x="548640" y="6108192"/>
            <a:ext cx="11064240" cy="274320"/>
          </a:xfrm>
          <a:prstGeom prst="rect">
            <a:avLst/>
          </a:prstGeom>
          <a:noFill/>
        </p:spPr>
        <p:txBody>
          <a:bodyPr wrap="square" lIns="0" rIns="0" tIns="0" bIns="0" anchor="t">
            <a:spAutoFit/>
          </a:bodyPr>
          <a:lstStyle/>
          <a:p>
            <a:pPr algn="l">
              <a:lnSpc>
                <a:spcPct val="110000"/>
              </a:lnSpc>
              <a:spcAft>
                <a:spcPts val="400"/>
              </a:spcAft>
            </a:pPr>
            <a:r>
              <a:rPr sz="850" b="0" i="0">
                <a:solidFill>
                  <a:srgbClr val="5A5D63"/>
                </a:solidFill>
                <a:latin typeface="Inter"/>
              </a:rPr>
              <a:t>Sources: COMPANY.md 'why buy'; hardware/simulations/results.md (SIMULATED battery); software/README.md; company/decisions-log.md D1, D11.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EEE6"/>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10000"/>
              </a:lnSpc>
              <a:spcAft>
                <a:spcPts val="400"/>
              </a:spcAft>
            </a:pPr>
            <a:r>
              <a:rPr sz="1100" b="1" i="0">
                <a:solidFill>
                  <a:srgbClr val="C4623A"/>
                </a:solidFill>
                <a:latin typeface="Inter"/>
              </a:rPr>
              <a:t>THE PRODUCT FAMILY</a:t>
            </a:r>
          </a:p>
        </p:txBody>
      </p:sp>
      <p:sp>
        <p:nvSpPr>
          <p:cNvPr id="3" name="TextBox 2"/>
          <p:cNvSpPr txBox="1"/>
          <p:nvPr/>
        </p:nvSpPr>
        <p:spPr>
          <a:xfrm>
            <a:off x="548640" y="658368"/>
            <a:ext cx="11064240" cy="822960"/>
          </a:xfrm>
          <a:prstGeom prst="rect">
            <a:avLst/>
          </a:prstGeom>
          <a:noFill/>
        </p:spPr>
        <p:txBody>
          <a:bodyPr wrap="square" lIns="0" rIns="0" tIns="0" bIns="0" anchor="t">
            <a:spAutoFit/>
          </a:bodyPr>
          <a:lstStyle/>
          <a:p>
            <a:pPr algn="l">
              <a:lnSpc>
                <a:spcPct val="100000"/>
              </a:lnSpc>
              <a:spcAft>
                <a:spcPts val="400"/>
              </a:spcAft>
            </a:pPr>
            <a:r>
              <a:rPr sz="3000" b="0" i="0">
                <a:solidFill>
                  <a:srgbClr val="14161A"/>
                </a:solidFill>
                <a:latin typeface="Fraunces"/>
              </a:rPr>
              <a:t>Good / better / best, one software platform.</a:t>
            </a:r>
          </a:p>
        </p:txBody>
      </p:sp>
      <p:pic>
        <p:nvPicPr>
          <p:cNvPr id="4" name="Picture 3" descr="lore-lockup-horizontal-ink-1600w.png"/>
          <p:cNvPicPr>
            <a:picLocks noChangeAspect="1"/>
          </p:cNvPicPr>
          <p:nvPr/>
        </p:nvPicPr>
        <p:blipFill>
          <a:blip r:embed="rId2"/>
          <a:stretch>
            <a:fillRect/>
          </a:stretch>
        </p:blipFill>
        <p:spPr>
          <a:xfrm>
            <a:off x="548640" y="6429032"/>
            <a:ext cx="822960" cy="199567"/>
          </a:xfrm>
          <a:prstGeom prst="rect">
            <a:avLst/>
          </a:prstGeom>
        </p:spPr>
      </p:pic>
      <p:sp>
        <p:nvSpPr>
          <p:cNvPr id="5" name="TextBox 4"/>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6" name="TextBox 5"/>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05</a:t>
            </a:r>
          </a:p>
        </p:txBody>
      </p:sp>
      <p:sp>
        <p:nvSpPr>
          <p:cNvPr id="7" name="Rectangle 6"/>
          <p:cNvSpPr/>
          <p:nvPr/>
        </p:nvSpPr>
        <p:spPr>
          <a:xfrm>
            <a:off x="548640" y="1600200"/>
            <a:ext cx="3611880" cy="2514600"/>
          </a:xfrm>
          <a:prstGeom prst="rect">
            <a:avLst/>
          </a:prstGeom>
          <a:solidFill>
            <a:srgbClr val="EE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o-pebble.png"/>
          <p:cNvPicPr>
            <a:picLocks noChangeAspect="1"/>
          </p:cNvPicPr>
          <p:nvPr/>
        </p:nvPicPr>
        <p:blipFill>
          <a:blip r:embed="rId3"/>
          <a:stretch>
            <a:fillRect/>
          </a:stretch>
        </p:blipFill>
        <p:spPr>
          <a:xfrm>
            <a:off x="610639" y="1645920"/>
            <a:ext cx="3487881" cy="2423160"/>
          </a:xfrm>
          <a:prstGeom prst="rect">
            <a:avLst/>
          </a:prstGeom>
        </p:spPr>
      </p:pic>
      <p:sp>
        <p:nvSpPr>
          <p:cNvPr id="9" name="TextBox 8"/>
          <p:cNvSpPr txBox="1"/>
          <p:nvPr/>
        </p:nvSpPr>
        <p:spPr>
          <a:xfrm>
            <a:off x="548640" y="4206240"/>
            <a:ext cx="2347722" cy="365760"/>
          </a:xfrm>
          <a:prstGeom prst="rect">
            <a:avLst/>
          </a:prstGeom>
          <a:noFill/>
        </p:spPr>
        <p:txBody>
          <a:bodyPr wrap="square" lIns="0" rIns="0" tIns="0" bIns="0" anchor="t">
            <a:spAutoFit/>
          </a:bodyPr>
          <a:lstStyle/>
          <a:p>
            <a:pPr algn="l">
              <a:lnSpc>
                <a:spcPct val="110000"/>
              </a:lnSpc>
              <a:spcAft>
                <a:spcPts val="400"/>
              </a:spcAft>
            </a:pPr>
            <a:r>
              <a:rPr sz="1700" b="0" i="0">
                <a:solidFill>
                  <a:srgbClr val="14161A"/>
                </a:solidFill>
                <a:latin typeface="Fraunces"/>
              </a:rPr>
              <a:t>LORE Pebble</a:t>
            </a:r>
          </a:p>
        </p:txBody>
      </p:sp>
      <p:sp>
        <p:nvSpPr>
          <p:cNvPr id="10" name="TextBox 9"/>
          <p:cNvSpPr txBox="1"/>
          <p:nvPr/>
        </p:nvSpPr>
        <p:spPr>
          <a:xfrm>
            <a:off x="2715768" y="4206240"/>
            <a:ext cx="1444752" cy="365760"/>
          </a:xfrm>
          <a:prstGeom prst="rect">
            <a:avLst/>
          </a:prstGeom>
          <a:noFill/>
        </p:spPr>
        <p:txBody>
          <a:bodyPr wrap="square" lIns="0" rIns="0" tIns="0" bIns="0" anchor="t">
            <a:spAutoFit/>
          </a:bodyPr>
          <a:lstStyle/>
          <a:p>
            <a:pPr algn="r">
              <a:lnSpc>
                <a:spcPct val="110000"/>
              </a:lnSpc>
              <a:spcAft>
                <a:spcPts val="400"/>
              </a:spcAft>
            </a:pPr>
            <a:r>
              <a:rPr sz="1700" b="0" i="0">
                <a:solidFill>
                  <a:srgbClr val="C4623A"/>
                </a:solidFill>
                <a:latin typeface="Fraunces"/>
              </a:rPr>
              <a:t>$149</a:t>
            </a:r>
          </a:p>
        </p:txBody>
      </p:sp>
      <p:sp>
        <p:nvSpPr>
          <p:cNvPr id="11" name="TextBox 10"/>
          <p:cNvSpPr txBox="1"/>
          <p:nvPr/>
        </p:nvSpPr>
        <p:spPr>
          <a:xfrm>
            <a:off x="548640" y="4617720"/>
            <a:ext cx="3611880" cy="1188720"/>
          </a:xfrm>
          <a:prstGeom prst="rect">
            <a:avLst/>
          </a:prstGeom>
          <a:noFill/>
        </p:spPr>
        <p:txBody>
          <a:bodyPr wrap="square" lIns="0" rIns="0" tIns="0" bIns="0" anchor="t">
            <a:spAutoFit/>
          </a:bodyPr>
          <a:lstStyle/>
          <a:p>
            <a:pPr algn="l">
              <a:lnSpc>
                <a:spcPct val="115000"/>
              </a:lnSpc>
              <a:spcAft>
                <a:spcPts val="400"/>
              </a:spcAft>
            </a:pPr>
            <a:r>
              <a:rPr sz="1100" b="0" i="0">
                <a:solidFill>
                  <a:srgbClr val="5A5D63"/>
                </a:solidFill>
                <a:latin typeface="Inter"/>
              </a:rPr>
              <a:t>Clip-on, 42×42×14 mm, LED ring. 'Lite' design (D10): AI via phone over BLE; offline pre-generated stories. 1.5-day target.</a:t>
            </a:r>
          </a:p>
        </p:txBody>
      </p:sp>
      <p:sp>
        <p:nvSpPr>
          <p:cNvPr id="12" name="Rectangle 11"/>
          <p:cNvSpPr/>
          <p:nvPr/>
        </p:nvSpPr>
        <p:spPr>
          <a:xfrm>
            <a:off x="4270248" y="1600200"/>
            <a:ext cx="3611880" cy="2514600"/>
          </a:xfrm>
          <a:prstGeom prst="rect">
            <a:avLst/>
          </a:prstGeom>
          <a:solidFill>
            <a:srgbClr val="EE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hero-square.png"/>
          <p:cNvPicPr>
            <a:picLocks noChangeAspect="1"/>
          </p:cNvPicPr>
          <p:nvPr/>
        </p:nvPicPr>
        <p:blipFill>
          <a:blip r:embed="rId4"/>
          <a:stretch>
            <a:fillRect/>
          </a:stretch>
        </p:blipFill>
        <p:spPr>
          <a:xfrm>
            <a:off x="4332247" y="1645920"/>
            <a:ext cx="3487881" cy="2423160"/>
          </a:xfrm>
          <a:prstGeom prst="rect">
            <a:avLst/>
          </a:prstGeom>
        </p:spPr>
      </p:pic>
      <p:sp>
        <p:nvSpPr>
          <p:cNvPr id="14" name="TextBox 13"/>
          <p:cNvSpPr txBox="1"/>
          <p:nvPr/>
        </p:nvSpPr>
        <p:spPr>
          <a:xfrm>
            <a:off x="4270248" y="4206240"/>
            <a:ext cx="2347722" cy="365760"/>
          </a:xfrm>
          <a:prstGeom prst="rect">
            <a:avLst/>
          </a:prstGeom>
          <a:noFill/>
        </p:spPr>
        <p:txBody>
          <a:bodyPr wrap="square" lIns="0" rIns="0" tIns="0" bIns="0" anchor="t">
            <a:spAutoFit/>
          </a:bodyPr>
          <a:lstStyle/>
          <a:p>
            <a:pPr algn="l">
              <a:lnSpc>
                <a:spcPct val="110000"/>
              </a:lnSpc>
              <a:spcAft>
                <a:spcPts val="400"/>
              </a:spcAft>
            </a:pPr>
            <a:r>
              <a:rPr sz="1700" b="0" i="0">
                <a:solidFill>
                  <a:srgbClr val="14161A"/>
                </a:solidFill>
                <a:latin typeface="Fraunces"/>
              </a:rPr>
              <a:t>LORE Square</a:t>
            </a:r>
          </a:p>
        </p:txBody>
      </p:sp>
      <p:sp>
        <p:nvSpPr>
          <p:cNvPr id="15" name="TextBox 14"/>
          <p:cNvSpPr txBox="1"/>
          <p:nvPr/>
        </p:nvSpPr>
        <p:spPr>
          <a:xfrm>
            <a:off x="6437376" y="4206240"/>
            <a:ext cx="1444752" cy="365760"/>
          </a:xfrm>
          <a:prstGeom prst="rect">
            <a:avLst/>
          </a:prstGeom>
          <a:noFill/>
        </p:spPr>
        <p:txBody>
          <a:bodyPr wrap="square" lIns="0" rIns="0" tIns="0" bIns="0" anchor="t">
            <a:spAutoFit/>
          </a:bodyPr>
          <a:lstStyle/>
          <a:p>
            <a:pPr algn="r">
              <a:lnSpc>
                <a:spcPct val="110000"/>
              </a:lnSpc>
              <a:spcAft>
                <a:spcPts val="400"/>
              </a:spcAft>
            </a:pPr>
            <a:r>
              <a:rPr sz="1700" b="0" i="0">
                <a:solidFill>
                  <a:srgbClr val="C4623A"/>
                </a:solidFill>
                <a:latin typeface="Fraunces"/>
              </a:rPr>
              <a:t>$299</a:t>
            </a:r>
          </a:p>
        </p:txBody>
      </p:sp>
      <p:sp>
        <p:nvSpPr>
          <p:cNvPr id="16" name="TextBox 15"/>
          <p:cNvSpPr txBox="1"/>
          <p:nvPr/>
        </p:nvSpPr>
        <p:spPr>
          <a:xfrm>
            <a:off x="4270248" y="4617720"/>
            <a:ext cx="3611880" cy="1188720"/>
          </a:xfrm>
          <a:prstGeom prst="rect">
            <a:avLst/>
          </a:prstGeom>
          <a:noFill/>
        </p:spPr>
        <p:txBody>
          <a:bodyPr wrap="square" lIns="0" rIns="0" tIns="0" bIns="0" anchor="t">
            <a:spAutoFit/>
          </a:bodyPr>
          <a:lstStyle/>
          <a:p>
            <a:pPr algn="l">
              <a:lnSpc>
                <a:spcPct val="115000"/>
              </a:lnSpc>
              <a:spcAft>
                <a:spcPts val="400"/>
              </a:spcAft>
            </a:pPr>
            <a:r>
              <a:rPr sz="1100" b="0" i="0">
                <a:solidFill>
                  <a:srgbClr val="5A5D63"/>
                </a:solidFill>
                <a:latin typeface="Inter"/>
              </a:rPr>
              <a:t>54×54×12 mm aluminium, 1.6" AMOLED, crown. LTE Cat-1bis + global eSIM (D11), on-device 3B model. 2-day target.</a:t>
            </a:r>
          </a:p>
        </p:txBody>
      </p:sp>
      <p:sp>
        <p:nvSpPr>
          <p:cNvPr id="17" name="Rectangle 16"/>
          <p:cNvSpPr/>
          <p:nvPr/>
        </p:nvSpPr>
        <p:spPr>
          <a:xfrm>
            <a:off x="7991856" y="1600200"/>
            <a:ext cx="3611880" cy="2514600"/>
          </a:xfrm>
          <a:prstGeom prst="rect">
            <a:avLst/>
          </a:prstGeom>
          <a:solidFill>
            <a:srgbClr val="EE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ero-atlas.png"/>
          <p:cNvPicPr>
            <a:picLocks noChangeAspect="1"/>
          </p:cNvPicPr>
          <p:nvPr/>
        </p:nvPicPr>
        <p:blipFill>
          <a:blip r:embed="rId5"/>
          <a:stretch>
            <a:fillRect/>
          </a:stretch>
        </p:blipFill>
        <p:spPr>
          <a:xfrm>
            <a:off x="8053855" y="1645920"/>
            <a:ext cx="3487881" cy="2423160"/>
          </a:xfrm>
          <a:prstGeom prst="rect">
            <a:avLst/>
          </a:prstGeom>
        </p:spPr>
      </p:pic>
      <p:sp>
        <p:nvSpPr>
          <p:cNvPr id="19" name="TextBox 18"/>
          <p:cNvSpPr txBox="1"/>
          <p:nvPr/>
        </p:nvSpPr>
        <p:spPr>
          <a:xfrm>
            <a:off x="7991856" y="4206240"/>
            <a:ext cx="2347722" cy="365760"/>
          </a:xfrm>
          <a:prstGeom prst="rect">
            <a:avLst/>
          </a:prstGeom>
          <a:noFill/>
        </p:spPr>
        <p:txBody>
          <a:bodyPr wrap="square" lIns="0" rIns="0" tIns="0" bIns="0" anchor="t">
            <a:spAutoFit/>
          </a:bodyPr>
          <a:lstStyle/>
          <a:p>
            <a:pPr algn="l">
              <a:lnSpc>
                <a:spcPct val="110000"/>
              </a:lnSpc>
              <a:spcAft>
                <a:spcPts val="400"/>
              </a:spcAft>
            </a:pPr>
            <a:r>
              <a:rPr sz="1700" b="0" i="0">
                <a:solidFill>
                  <a:srgbClr val="14161A"/>
                </a:solidFill>
                <a:latin typeface="Fraunces"/>
              </a:rPr>
              <a:t>LORE Atlas</a:t>
            </a:r>
          </a:p>
        </p:txBody>
      </p:sp>
      <p:sp>
        <p:nvSpPr>
          <p:cNvPr id="20" name="TextBox 19"/>
          <p:cNvSpPr txBox="1"/>
          <p:nvPr/>
        </p:nvSpPr>
        <p:spPr>
          <a:xfrm>
            <a:off x="10158984" y="4206240"/>
            <a:ext cx="1444752" cy="365760"/>
          </a:xfrm>
          <a:prstGeom prst="rect">
            <a:avLst/>
          </a:prstGeom>
          <a:noFill/>
        </p:spPr>
        <p:txBody>
          <a:bodyPr wrap="square" lIns="0" rIns="0" tIns="0" bIns="0" anchor="t">
            <a:spAutoFit/>
          </a:bodyPr>
          <a:lstStyle/>
          <a:p>
            <a:pPr algn="r">
              <a:lnSpc>
                <a:spcPct val="110000"/>
              </a:lnSpc>
              <a:spcAft>
                <a:spcPts val="400"/>
              </a:spcAft>
            </a:pPr>
            <a:r>
              <a:rPr sz="1700" b="0" i="0">
                <a:solidFill>
                  <a:srgbClr val="C4623A"/>
                </a:solidFill>
                <a:latin typeface="Fraunces"/>
              </a:rPr>
              <a:t>$599</a:t>
            </a:r>
          </a:p>
        </p:txBody>
      </p:sp>
      <p:sp>
        <p:nvSpPr>
          <p:cNvPr id="21" name="TextBox 20"/>
          <p:cNvSpPr txBox="1"/>
          <p:nvPr/>
        </p:nvSpPr>
        <p:spPr>
          <a:xfrm>
            <a:off x="7991856" y="4617720"/>
            <a:ext cx="3611880" cy="1188720"/>
          </a:xfrm>
          <a:prstGeom prst="rect">
            <a:avLst/>
          </a:prstGeom>
          <a:noFill/>
        </p:spPr>
        <p:txBody>
          <a:bodyPr wrap="square" lIns="0" rIns="0" tIns="0" bIns="0" anchor="t">
            <a:spAutoFit/>
          </a:bodyPr>
          <a:lstStyle/>
          <a:p>
            <a:pPr algn="l">
              <a:lnSpc>
                <a:spcPct val="115000"/>
              </a:lnSpc>
              <a:spcAft>
                <a:spcPts val="400"/>
              </a:spcAft>
            </a:pPr>
            <a:r>
              <a:rPr sz="1100" b="0" i="0">
                <a:solidFill>
                  <a:srgbClr val="5A5D63"/>
                </a:solidFill>
                <a:latin typeface="Inter"/>
              </a:rPr>
              <a:t>Titanium + sapphire, 13.5 mm (D12), Glance camera, satellite SOS (NTN). On-device 3-4B + vision. '2+ days'.</a:t>
            </a:r>
          </a:p>
        </p:txBody>
      </p:sp>
      <p:sp>
        <p:nvSpPr>
          <p:cNvPr id="22" name="TextBox 21"/>
          <p:cNvSpPr txBox="1"/>
          <p:nvPr/>
        </p:nvSpPr>
        <p:spPr>
          <a:xfrm>
            <a:off x="548640" y="5669280"/>
            <a:ext cx="11064240" cy="365760"/>
          </a:xfrm>
          <a:prstGeom prst="rect">
            <a:avLst/>
          </a:prstGeom>
          <a:noFill/>
        </p:spPr>
        <p:txBody>
          <a:bodyPr wrap="square" lIns="0" rIns="0" tIns="0" bIns="0" anchor="t">
            <a:spAutoFit/>
          </a:bodyPr>
          <a:lstStyle/>
          <a:p>
            <a:pPr algn="l">
              <a:lnSpc>
                <a:spcPct val="110000"/>
              </a:lnSpc>
              <a:spcAft>
                <a:spcPts val="400"/>
              </a:spcAft>
            </a:pPr>
            <a:r>
              <a:rPr sz="1150" b="1" i="0">
                <a:solidFill>
                  <a:srgbClr val="14161A"/>
                </a:solidFill>
                <a:latin typeface="Inter"/>
              </a:rPr>
              <a:t>LORE Pass: </a:t>
            </a:r>
            <a:r>
              <a:rPr sz="1150" b="0" i="0">
                <a:solidFill>
                  <a:srgbClr val="5A5D63"/>
                </a:solidFill>
                <a:latin typeface="Inter"/>
              </a:rPr>
              <a:t>Explorer $9.99/mo or $79/yr · Trip Pass $29 / 14 days / 5 GB · $49 / 30 days / 10 GB · free tier (3 cities). Every device includes 3 months of Explorer.  </a:t>
            </a:r>
            <a:r>
              <a:rPr sz="1150" b="1" i="0">
                <a:solidFill>
                  <a:srgbClr val="14161A"/>
                </a:solidFill>
                <a:latin typeface="Inter"/>
              </a:rPr>
              <a:t>LORE Kit </a:t>
            </a:r>
            <a:r>
              <a:rPr sz="1150" b="0" i="0">
                <a:solidFill>
                  <a:srgbClr val="5A5D63"/>
                </a:solidFill>
                <a:latin typeface="Inter"/>
              </a:rPr>
              <a:t>accessories incl. LORE Buds $129.</a:t>
            </a:r>
          </a:p>
        </p:txBody>
      </p:sp>
      <p:sp>
        <p:nvSpPr>
          <p:cNvPr id="23" name="TextBox 22"/>
          <p:cNvSpPr txBox="1"/>
          <p:nvPr/>
        </p:nvSpPr>
        <p:spPr>
          <a:xfrm>
            <a:off x="548640" y="6108192"/>
            <a:ext cx="11064240" cy="274320"/>
          </a:xfrm>
          <a:prstGeom prst="rect">
            <a:avLst/>
          </a:prstGeom>
          <a:noFill/>
        </p:spPr>
        <p:txBody>
          <a:bodyPr wrap="square" lIns="0" rIns="0" tIns="0" bIns="0" anchor="t">
            <a:spAutoFit/>
          </a:bodyPr>
          <a:lstStyle/>
          <a:p>
            <a:pPr algn="l">
              <a:lnSpc>
                <a:spcPct val="110000"/>
              </a:lnSpc>
              <a:spcAft>
                <a:spcPts val="400"/>
              </a:spcAft>
            </a:pPr>
            <a:r>
              <a:rPr sz="850" b="0" i="0">
                <a:solidFill>
                  <a:srgbClr val="5A5D63"/>
                </a:solidFill>
                <a:latin typeface="Inter"/>
              </a:rPr>
              <a:t>Renders: design/industrial/renders (concept renders, not production units). Specs: COMPANY.md, hardware/README.md, decisions D8, D10-D12.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EEE6"/>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10000"/>
              </a:lnSpc>
              <a:spcAft>
                <a:spcPts val="400"/>
              </a:spcAft>
            </a:pPr>
            <a:r>
              <a:rPr sz="1100" b="1" i="0">
                <a:solidFill>
                  <a:srgbClr val="C4623A"/>
                </a:solidFill>
                <a:latin typeface="Inter"/>
              </a:rPr>
              <a:t>HOW MAP VISION WORKS</a:t>
            </a:r>
          </a:p>
        </p:txBody>
      </p:sp>
      <p:sp>
        <p:nvSpPr>
          <p:cNvPr id="3" name="TextBox 2"/>
          <p:cNvSpPr txBox="1"/>
          <p:nvPr/>
        </p:nvSpPr>
        <p:spPr>
          <a:xfrm>
            <a:off x="548640" y="658368"/>
            <a:ext cx="11064240" cy="822960"/>
          </a:xfrm>
          <a:prstGeom prst="rect">
            <a:avLst/>
          </a:prstGeom>
          <a:noFill/>
        </p:spPr>
        <p:txBody>
          <a:bodyPr wrap="square" lIns="0" rIns="0" tIns="0" bIns="0" anchor="t">
            <a:spAutoFit/>
          </a:bodyPr>
          <a:lstStyle/>
          <a:p>
            <a:pPr algn="l">
              <a:lnSpc>
                <a:spcPct val="100000"/>
              </a:lnSpc>
              <a:spcAft>
                <a:spcPts val="400"/>
              </a:spcAft>
            </a:pPr>
            <a:r>
              <a:rPr sz="3000" b="0" i="0">
                <a:solidFill>
                  <a:srgbClr val="14161A"/>
                </a:solidFill>
                <a:latin typeface="Fraunces"/>
              </a:rPr>
              <a:t>LORE 'sees' without a camera: sensor fusion + map geometry.</a:t>
            </a:r>
          </a:p>
        </p:txBody>
      </p:sp>
      <p:pic>
        <p:nvPicPr>
          <p:cNvPr id="4" name="Picture 3" descr="lore-lockup-horizontal-ink-1600w.png"/>
          <p:cNvPicPr>
            <a:picLocks noChangeAspect="1"/>
          </p:cNvPicPr>
          <p:nvPr/>
        </p:nvPicPr>
        <p:blipFill>
          <a:blip r:embed="rId2"/>
          <a:stretch>
            <a:fillRect/>
          </a:stretch>
        </p:blipFill>
        <p:spPr>
          <a:xfrm>
            <a:off x="548640" y="6429032"/>
            <a:ext cx="822960" cy="199567"/>
          </a:xfrm>
          <a:prstGeom prst="rect">
            <a:avLst/>
          </a:prstGeom>
        </p:spPr>
      </p:pic>
      <p:sp>
        <p:nvSpPr>
          <p:cNvPr id="5" name="TextBox 4"/>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6" name="TextBox 5"/>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06</a:t>
            </a:r>
          </a:p>
        </p:txBody>
      </p:sp>
      <p:sp>
        <p:nvSpPr>
          <p:cNvPr id="7" name="Rounded Rectangle 6"/>
          <p:cNvSpPr/>
          <p:nvPr/>
        </p:nvSpPr>
        <p:spPr>
          <a:xfrm>
            <a:off x="548640" y="1645920"/>
            <a:ext cx="3017520" cy="457200"/>
          </a:xfrm>
          <a:prstGeom prst="roundRect">
            <a:avLst>
              <a:gd name="adj" fmla="val 30000"/>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45920"/>
            <a:ext cx="2834640" cy="457200"/>
          </a:xfrm>
          <a:prstGeom prst="rect">
            <a:avLst/>
          </a:prstGeom>
          <a:noFill/>
        </p:spPr>
        <p:txBody>
          <a:bodyPr wrap="square" lIns="0" rIns="0" tIns="0" bIns="0" anchor="ctr">
            <a:spAutoFit/>
          </a:bodyPr>
          <a:lstStyle/>
          <a:p>
            <a:pPr algn="l">
              <a:lnSpc>
                <a:spcPct val="110000"/>
              </a:lnSpc>
              <a:spcAft>
                <a:spcPts val="400"/>
              </a:spcAft>
            </a:pPr>
            <a:r>
              <a:rPr sz="1150" b="0" i="0">
                <a:solidFill>
                  <a:srgbClr val="14161A"/>
                </a:solidFill>
                <a:latin typeface="Inter"/>
              </a:rPr>
              <a:t>Multi-band GNSS (L1+L5)</a:t>
            </a:r>
          </a:p>
        </p:txBody>
      </p:sp>
      <p:sp>
        <p:nvSpPr>
          <p:cNvPr id="9" name="Rectangle 8"/>
          <p:cNvSpPr/>
          <p:nvPr/>
        </p:nvSpPr>
        <p:spPr>
          <a:xfrm>
            <a:off x="3657600" y="1828800"/>
            <a:ext cx="457200" cy="91440"/>
          </a:xfrm>
          <a:prstGeom prst="rect">
            <a:avLst/>
          </a:prstGeom>
          <a:solidFill>
            <a:srgbClr val="B89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2212848"/>
            <a:ext cx="3017520" cy="457200"/>
          </a:xfrm>
          <a:prstGeom prst="roundRect">
            <a:avLst>
              <a:gd name="adj" fmla="val 30000"/>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212848"/>
            <a:ext cx="2834640" cy="457200"/>
          </a:xfrm>
          <a:prstGeom prst="rect">
            <a:avLst/>
          </a:prstGeom>
          <a:noFill/>
        </p:spPr>
        <p:txBody>
          <a:bodyPr wrap="square" lIns="0" rIns="0" tIns="0" bIns="0" anchor="ctr">
            <a:spAutoFit/>
          </a:bodyPr>
          <a:lstStyle/>
          <a:p>
            <a:pPr algn="l">
              <a:lnSpc>
                <a:spcPct val="110000"/>
              </a:lnSpc>
              <a:spcAft>
                <a:spcPts val="400"/>
              </a:spcAft>
            </a:pPr>
            <a:r>
              <a:rPr sz="1150" b="0" i="0">
                <a:solidFill>
                  <a:srgbClr val="14161A"/>
                </a:solidFill>
                <a:latin typeface="Inter"/>
              </a:rPr>
              <a:t>9-axis IMU + compass</a:t>
            </a:r>
          </a:p>
        </p:txBody>
      </p:sp>
      <p:sp>
        <p:nvSpPr>
          <p:cNvPr id="12" name="Rectangle 11"/>
          <p:cNvSpPr/>
          <p:nvPr/>
        </p:nvSpPr>
        <p:spPr>
          <a:xfrm>
            <a:off x="3657600" y="2395728"/>
            <a:ext cx="457200" cy="91440"/>
          </a:xfrm>
          <a:prstGeom prst="rect">
            <a:avLst/>
          </a:prstGeom>
          <a:solidFill>
            <a:srgbClr val="B89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779776"/>
            <a:ext cx="3017520" cy="457200"/>
          </a:xfrm>
          <a:prstGeom prst="roundRect">
            <a:avLst>
              <a:gd name="adj" fmla="val 30000"/>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779776"/>
            <a:ext cx="2834640" cy="457200"/>
          </a:xfrm>
          <a:prstGeom prst="rect">
            <a:avLst/>
          </a:prstGeom>
          <a:noFill/>
        </p:spPr>
        <p:txBody>
          <a:bodyPr wrap="square" lIns="0" rIns="0" tIns="0" bIns="0" anchor="ctr">
            <a:spAutoFit/>
          </a:bodyPr>
          <a:lstStyle/>
          <a:p>
            <a:pPr algn="l">
              <a:lnSpc>
                <a:spcPct val="110000"/>
              </a:lnSpc>
              <a:spcAft>
                <a:spcPts val="400"/>
              </a:spcAft>
            </a:pPr>
            <a:r>
              <a:rPr sz="1150" b="0" i="0">
                <a:solidFill>
                  <a:srgbClr val="14161A"/>
                </a:solidFill>
                <a:latin typeface="Inter"/>
              </a:rPr>
              <a:t>Step &amp; walking direction</a:t>
            </a:r>
          </a:p>
        </p:txBody>
      </p:sp>
      <p:sp>
        <p:nvSpPr>
          <p:cNvPr id="15" name="Rectangle 14"/>
          <p:cNvSpPr/>
          <p:nvPr/>
        </p:nvSpPr>
        <p:spPr>
          <a:xfrm>
            <a:off x="3657600" y="2962656"/>
            <a:ext cx="457200" cy="91440"/>
          </a:xfrm>
          <a:prstGeom prst="rect">
            <a:avLst/>
          </a:prstGeom>
          <a:solidFill>
            <a:srgbClr val="B89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3346704"/>
            <a:ext cx="3017520" cy="457200"/>
          </a:xfrm>
          <a:prstGeom prst="roundRect">
            <a:avLst>
              <a:gd name="adj" fmla="val 30000"/>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346704"/>
            <a:ext cx="2834640" cy="457200"/>
          </a:xfrm>
          <a:prstGeom prst="rect">
            <a:avLst/>
          </a:prstGeom>
          <a:noFill/>
        </p:spPr>
        <p:txBody>
          <a:bodyPr wrap="square" lIns="0" rIns="0" tIns="0" bIns="0" anchor="ctr">
            <a:spAutoFit/>
          </a:bodyPr>
          <a:lstStyle/>
          <a:p>
            <a:pPr algn="l">
              <a:lnSpc>
                <a:spcPct val="110000"/>
              </a:lnSpc>
              <a:spcAft>
                <a:spcPts val="400"/>
              </a:spcAft>
            </a:pPr>
            <a:r>
              <a:rPr sz="1150" b="0" i="0">
                <a:solidFill>
                  <a:srgbClr val="14161A"/>
                </a:solidFill>
                <a:latin typeface="Inter"/>
              </a:rPr>
              <a:t>Building footprints, street sides, entrances</a:t>
            </a:r>
          </a:p>
        </p:txBody>
      </p:sp>
      <p:sp>
        <p:nvSpPr>
          <p:cNvPr id="18" name="Rectangle 17"/>
          <p:cNvSpPr/>
          <p:nvPr/>
        </p:nvSpPr>
        <p:spPr>
          <a:xfrm>
            <a:off x="3657600" y="3529584"/>
            <a:ext cx="457200" cy="91440"/>
          </a:xfrm>
          <a:prstGeom prst="rect">
            <a:avLst/>
          </a:prstGeom>
          <a:solidFill>
            <a:srgbClr val="B89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3913632"/>
            <a:ext cx="3017520" cy="457200"/>
          </a:xfrm>
          <a:prstGeom prst="roundRect">
            <a:avLst>
              <a:gd name="adj" fmla="val 30000"/>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913632"/>
            <a:ext cx="2834640" cy="457200"/>
          </a:xfrm>
          <a:prstGeom prst="rect">
            <a:avLst/>
          </a:prstGeom>
          <a:noFill/>
        </p:spPr>
        <p:txBody>
          <a:bodyPr wrap="square" lIns="0" rIns="0" tIns="0" bIns="0" anchor="ctr">
            <a:spAutoFit/>
          </a:bodyPr>
          <a:lstStyle/>
          <a:p>
            <a:pPr algn="l">
              <a:lnSpc>
                <a:spcPct val="110000"/>
              </a:lnSpc>
              <a:spcAft>
                <a:spcPts val="400"/>
              </a:spcAft>
            </a:pPr>
            <a:r>
              <a:rPr sz="1150" b="0" i="0">
                <a:solidFill>
                  <a:srgbClr val="14161A"/>
                </a:solidFill>
                <a:latin typeface="Inter"/>
              </a:rPr>
              <a:t>Places + live data</a:t>
            </a:r>
          </a:p>
        </p:txBody>
      </p:sp>
      <p:sp>
        <p:nvSpPr>
          <p:cNvPr id="21" name="Rectangle 20"/>
          <p:cNvSpPr/>
          <p:nvPr/>
        </p:nvSpPr>
        <p:spPr>
          <a:xfrm>
            <a:off x="3657600" y="4096512"/>
            <a:ext cx="457200" cy="91440"/>
          </a:xfrm>
          <a:prstGeom prst="rect">
            <a:avLst/>
          </a:prstGeom>
          <a:solidFill>
            <a:srgbClr val="B89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251960" y="1645920"/>
            <a:ext cx="2651760" cy="2724912"/>
          </a:xfrm>
          <a:prstGeom prst="roundRect">
            <a:avLst>
              <a:gd name="adj" fmla="val 6000"/>
            </a:avLst>
          </a:prstGeom>
          <a:solidFill>
            <a:srgbClr val="14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34840" y="1783080"/>
            <a:ext cx="2286000" cy="2468880"/>
          </a:xfrm>
          <a:prstGeom prst="rect">
            <a:avLst/>
          </a:prstGeom>
          <a:noFill/>
        </p:spPr>
        <p:txBody>
          <a:bodyPr wrap="square" lIns="0" rIns="0" tIns="0" bIns="0" anchor="t">
            <a:spAutoFit/>
          </a:bodyPr>
          <a:lstStyle/>
          <a:p>
            <a:pPr algn="l">
              <a:lnSpc>
                <a:spcPct val="110000"/>
              </a:lnSpc>
              <a:spcAft>
                <a:spcPts val="300"/>
              </a:spcAft>
            </a:pPr>
            <a:r>
              <a:rPr sz="1500" b="1" i="0">
                <a:solidFill>
                  <a:srgbClr val="F3EEE6"/>
                </a:solidFill>
                <a:latin typeface="Inter"/>
              </a:rPr>
              <a:t>Heading fusion</a:t>
            </a:r>
          </a:p>
          <a:p>
            <a:pPr algn="l">
              <a:lnSpc>
                <a:spcPct val="110000"/>
              </a:lnSpc>
              <a:spcAft>
                <a:spcPts val="300"/>
              </a:spcAft>
            </a:pPr>
            <a:r>
              <a:rPr sz="1050" b="0" i="0">
                <a:solidFill>
                  <a:srgbClr val="9AA0A6"/>
                </a:solidFill>
                <a:latin typeface="Inter"/>
              </a:rPr>
              <a:t>Kalman filter: heading + compass bias; rejects magnetic disturbance.</a:t>
            </a:r>
          </a:p>
          <a:p>
            <a:pPr algn="l">
              <a:lnSpc>
                <a:spcPct val="110000"/>
              </a:lnSpc>
              <a:spcAft>
                <a:spcPts val="300"/>
              </a:spcAft>
            </a:pPr>
            <a:r>
              <a:rPr sz="1500" b="1" i="0">
                <a:solidFill>
                  <a:srgbClr val="F3EEE6"/>
                </a:solidFill>
                <a:latin typeface="Inter"/>
              </a:rPr>
              <a:t>Story engine</a:t>
            </a:r>
          </a:p>
          <a:p>
            <a:pPr algn="l">
              <a:lnSpc>
                <a:spcPct val="110000"/>
              </a:lnSpc>
              <a:spcAft>
                <a:spcPts val="300"/>
              </a:spcAft>
            </a:pPr>
            <a:r>
              <a:rPr sz="1050" b="0" i="0">
                <a:solidFill>
                  <a:srgbClr val="9AA0A6"/>
                </a:solidFill>
                <a:latin typeface="Inter"/>
              </a:rPr>
              <a:t>Interest, distance, visibility, novelty, cooldowns, quiet moments (crossing / talking).</a:t>
            </a:r>
          </a:p>
          <a:p>
            <a:pPr algn="l">
              <a:lnSpc>
                <a:spcPct val="110000"/>
              </a:lnSpc>
              <a:spcAft>
                <a:spcPts val="300"/>
              </a:spcAft>
            </a:pPr>
            <a:r>
              <a:rPr sz="1500" b="1" i="0">
                <a:solidFill>
                  <a:srgbClr val="F3EEE6"/>
                </a:solidFill>
                <a:latin typeface="Inter"/>
              </a:rPr>
              <a:t>Fact guard</a:t>
            </a:r>
          </a:p>
          <a:p>
            <a:pPr algn="l">
              <a:lnSpc>
                <a:spcPct val="110000"/>
              </a:lnSpc>
              <a:spcAft>
                <a:spcPts val="300"/>
              </a:spcAft>
            </a:pPr>
            <a:r>
              <a:rPr sz="1050" b="0" i="0">
                <a:solidFill>
                  <a:srgbClr val="9AA0A6"/>
                </a:solidFill>
                <a:latin typeface="Inter"/>
              </a:rPr>
              <a:t>Narration may use ONLY the selected fact cards; else a deterministic template.</a:t>
            </a:r>
          </a:p>
        </p:txBody>
      </p:sp>
      <p:sp>
        <p:nvSpPr>
          <p:cNvPr id="24" name="Rectangle 23"/>
          <p:cNvSpPr/>
          <p:nvPr/>
        </p:nvSpPr>
        <p:spPr>
          <a:xfrm>
            <a:off x="6995160" y="2926080"/>
            <a:ext cx="457200" cy="91440"/>
          </a:xfrm>
          <a:prstGeom prst="rect">
            <a:avLst/>
          </a:prstGeom>
          <a:solidFill>
            <a:srgbClr val="B89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43800" y="1691640"/>
            <a:ext cx="4114800" cy="1097280"/>
          </a:xfrm>
          <a:prstGeom prst="rect">
            <a:avLst/>
          </a:prstGeom>
          <a:noFill/>
        </p:spPr>
        <p:txBody>
          <a:bodyPr wrap="square" lIns="0" rIns="0" tIns="0" bIns="0" anchor="t">
            <a:spAutoFit/>
          </a:bodyPr>
          <a:lstStyle/>
          <a:p>
            <a:pPr algn="l">
              <a:lnSpc>
                <a:spcPct val="110000"/>
              </a:lnSpc>
              <a:spcAft>
                <a:spcPts val="400"/>
              </a:spcAft>
            </a:pPr>
            <a:r>
              <a:rPr sz="2200" b="0" i="0">
                <a:solidFill>
                  <a:srgbClr val="C4623A"/>
                </a:solidFill>
                <a:latin typeface="Fraunces"/>
              </a:rPr>
              <a:t>left · right · ahead · behind · look up</a:t>
            </a:r>
          </a:p>
        </p:txBody>
      </p:sp>
      <p:sp>
        <p:nvSpPr>
          <p:cNvPr id="26" name="TextBox 25"/>
          <p:cNvSpPr txBox="1"/>
          <p:nvPr/>
        </p:nvSpPr>
        <p:spPr>
          <a:xfrm>
            <a:off x="7543800" y="2423160"/>
            <a:ext cx="4114800" cy="1828800"/>
          </a:xfrm>
          <a:prstGeom prst="rect">
            <a:avLst/>
          </a:prstGeom>
          <a:noFill/>
        </p:spPr>
        <p:txBody>
          <a:bodyPr wrap="square" lIns="0" rIns="0" tIns="0" bIns="0" anchor="t">
            <a:spAutoFit/>
          </a:bodyPr>
          <a:lstStyle/>
          <a:p>
            <a:pPr algn="l">
              <a:lnSpc>
                <a:spcPct val="115000"/>
              </a:lnSpc>
              <a:spcAft>
                <a:spcPts val="600"/>
              </a:spcAft>
            </a:pPr>
            <a:r>
              <a:rPr sz="1150" b="1" i="0">
                <a:solidFill>
                  <a:srgbClr val="14161A"/>
                </a:solidFill>
                <a:latin typeface="Inter"/>
              </a:rPr>
              <a:t>Simulated accuracy (hardware/simulations): </a:t>
            </a:r>
            <a:r>
              <a:rPr sz="1150" b="0" i="0">
                <a:solidFill>
                  <a:srgbClr val="5A5D63"/>
                </a:solidFill>
                <a:latin typeface="Inter"/>
              </a:rPr>
              <a:t>left/right 99.9% with EKF + map-matching + L1/L5; EKF alone 98.9%; L1+L5 adds 3-7 points over L1-only.</a:t>
            </a:r>
          </a:p>
          <a:p>
            <a:pPr algn="l">
              <a:lnSpc>
                <a:spcPct val="115000"/>
              </a:lnSpc>
              <a:spcAft>
                <a:spcPts val="600"/>
              </a:spcAft>
            </a:pPr>
            <a:r>
              <a:rPr sz="1150" b="1" i="0">
                <a:solidFill>
                  <a:srgbClr val="14161A"/>
                </a:solidFill>
                <a:latin typeface="Inter"/>
              </a:rPr>
              <a:t>Prototype walk (software sim): </a:t>
            </a:r>
            <a:r>
              <a:rPr sz="1150" b="0" i="0">
                <a:solidFill>
                  <a:srgbClr val="5A5D63"/>
                </a:solidFill>
                <a:latin typeface="Inter"/>
              </a:rPr>
              <a:t>direction 100% vs ground truth; fused heading error mean 4.3°, p95 12.7°.</a:t>
            </a:r>
          </a:p>
          <a:p>
            <a:pPr algn="l">
              <a:lnSpc>
                <a:spcPct val="115000"/>
              </a:lnSpc>
              <a:spcAft>
                <a:spcPts val="600"/>
              </a:spcAft>
            </a:pPr>
            <a:r>
              <a:rPr sz="1150" b="1" i="0">
                <a:solidFill>
                  <a:srgbClr val="14161A"/>
                </a:solidFill>
                <a:latin typeface="Inter"/>
              </a:rPr>
              <a:t>Gate G1 bar on real walks: </a:t>
            </a:r>
            <a:r>
              <a:rPr sz="1150" b="0" i="0">
                <a:solidFill>
                  <a:srgbClr val="5A5D63"/>
                </a:solidFill>
                <a:latin typeface="Inter"/>
              </a:rPr>
              <a:t>≥90%. D3 kill line: &lt;85%.</a:t>
            </a:r>
          </a:p>
        </p:txBody>
      </p:sp>
      <p:sp>
        <p:nvSpPr>
          <p:cNvPr id="27" name="Rectangle 26"/>
          <p:cNvSpPr/>
          <p:nvPr/>
        </p:nvSpPr>
        <p:spPr>
          <a:xfrm>
            <a:off x="548640" y="4663440"/>
            <a:ext cx="11064240" cy="118872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4773168"/>
            <a:ext cx="10607040" cy="1005840"/>
          </a:xfrm>
          <a:prstGeom prst="rect">
            <a:avLst/>
          </a:prstGeom>
          <a:noFill/>
        </p:spPr>
        <p:txBody>
          <a:bodyPr wrap="square" lIns="0" rIns="0" tIns="0" bIns="0" anchor="t">
            <a:spAutoFit/>
          </a:bodyPr>
          <a:lstStyle/>
          <a:p>
            <a:pPr algn="l">
              <a:lnSpc>
                <a:spcPct val="110000"/>
              </a:lnSpc>
              <a:spcAft>
                <a:spcPts val="400"/>
              </a:spcAft>
            </a:pPr>
            <a:r>
              <a:rPr sz="1150" b="1" i="0">
                <a:solidFill>
                  <a:srgbClr val="14161A"/>
                </a:solidFill>
                <a:latin typeface="Inter"/>
              </a:rPr>
              <a:t>Why no camera on the first models (D3): </a:t>
            </a:r>
            <a:r>
              <a:rPr sz="1150" b="0" i="0">
                <a:solidFill>
                  <a:srgbClr val="5A5D63"/>
                </a:solidFill>
                <a:latin typeface="Inter"/>
              </a:rPr>
              <a:t>avoids privacy problems, cost and battery drain. Only Atlas adds an opt-in 'Glance' camera. Patent provisionals planned before any public demo: P1 Map Vision, P2 quiet-moment (legal-ops/ip-strategy.md).</a:t>
            </a:r>
          </a:p>
          <a:p>
            <a:pPr algn="l">
              <a:lnSpc>
                <a:spcPct val="110000"/>
              </a:lnSpc>
              <a:spcAft>
                <a:spcPts val="400"/>
              </a:spcAft>
            </a:pPr>
            <a:r>
              <a:rPr sz="1150" b="1" i="0">
                <a:solidFill>
                  <a:srgbClr val="C4623A"/>
                </a:solidFill>
                <a:latin typeface="Inter"/>
              </a:rPr>
              <a:t>Caveat: </a:t>
            </a:r>
            <a:r>
              <a:rPr sz="1150" b="0" i="0">
                <a:solidFill>
                  <a:srgbClr val="5A5D63"/>
                </a:solidFill>
                <a:latin typeface="Inter"/>
              </a:rPr>
              <a:t>all accuracy figures are SIMULATED. Real-walk validation in Rome starts with the EVT beta (Q1 2027).</a:t>
            </a:r>
          </a:p>
        </p:txBody>
      </p:sp>
      <p:sp>
        <p:nvSpPr>
          <p:cNvPr id="29" name="TextBox 28"/>
          <p:cNvSpPr txBox="1"/>
          <p:nvPr/>
        </p:nvSpPr>
        <p:spPr>
          <a:xfrm>
            <a:off x="548640" y="6108192"/>
            <a:ext cx="11064240" cy="274320"/>
          </a:xfrm>
          <a:prstGeom prst="rect">
            <a:avLst/>
          </a:prstGeom>
          <a:noFill/>
        </p:spPr>
        <p:txBody>
          <a:bodyPr wrap="square" lIns="0" rIns="0" tIns="0" bIns="0" anchor="t">
            <a:spAutoFit/>
          </a:bodyPr>
          <a:lstStyle/>
          <a:p>
            <a:pPr algn="l">
              <a:lnSpc>
                <a:spcPct val="110000"/>
              </a:lnSpc>
              <a:spcAft>
                <a:spcPts val="400"/>
              </a:spcAft>
            </a:pPr>
            <a:r>
              <a:rPr sz="850" b="0" i="0">
                <a:solidFill>
                  <a:srgbClr val="5A5D63"/>
                </a:solidFill>
                <a:latin typeface="Inter"/>
              </a:rPr>
              <a:t>Sources: hardware/README.md, hardware/simulations/results.md, software/packages/core (heading-fusion.ts, story-engine.ts, narration.ts).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EEE6"/>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10000"/>
              </a:lnSpc>
              <a:spcAft>
                <a:spcPts val="400"/>
              </a:spcAft>
            </a:pPr>
            <a:r>
              <a:rPr sz="1100" b="1" i="0">
                <a:solidFill>
                  <a:srgbClr val="C4623A"/>
                </a:solidFill>
                <a:latin typeface="Inter"/>
              </a:rPr>
              <a:t>DEMO: THE WORKING ROME PROTOTYPE</a:t>
            </a:r>
          </a:p>
        </p:txBody>
      </p:sp>
      <p:sp>
        <p:nvSpPr>
          <p:cNvPr id="3" name="TextBox 2"/>
          <p:cNvSpPr txBox="1"/>
          <p:nvPr/>
        </p:nvSpPr>
        <p:spPr>
          <a:xfrm>
            <a:off x="548640" y="658368"/>
            <a:ext cx="11064240" cy="822960"/>
          </a:xfrm>
          <a:prstGeom prst="rect">
            <a:avLst/>
          </a:prstGeom>
          <a:noFill/>
        </p:spPr>
        <p:txBody>
          <a:bodyPr wrap="square" lIns="0" rIns="0" tIns="0" bIns="0" anchor="t">
            <a:spAutoFit/>
          </a:bodyPr>
          <a:lstStyle/>
          <a:p>
            <a:pPr algn="l">
              <a:lnSpc>
                <a:spcPct val="100000"/>
              </a:lnSpc>
              <a:spcAft>
                <a:spcPts val="400"/>
              </a:spcAft>
            </a:pPr>
            <a:r>
              <a:rPr sz="3000" b="0" i="0">
                <a:solidFill>
                  <a:srgbClr val="14161A"/>
                </a:solidFill>
                <a:latin typeface="Fraunces"/>
              </a:rPr>
              <a:t>A phone PWA runs the real story engine on a 1.93 km walk, Pantheon to Trevi.</a:t>
            </a:r>
          </a:p>
        </p:txBody>
      </p:sp>
      <p:pic>
        <p:nvPicPr>
          <p:cNvPr id="4" name="Picture 3" descr="lore-lockup-horizontal-ink-1600w.png"/>
          <p:cNvPicPr>
            <a:picLocks noChangeAspect="1"/>
          </p:cNvPicPr>
          <p:nvPr/>
        </p:nvPicPr>
        <p:blipFill>
          <a:blip r:embed="rId2"/>
          <a:stretch>
            <a:fillRect/>
          </a:stretch>
        </p:blipFill>
        <p:spPr>
          <a:xfrm>
            <a:off x="548640" y="6429032"/>
            <a:ext cx="822960" cy="199567"/>
          </a:xfrm>
          <a:prstGeom prst="rect">
            <a:avLst/>
          </a:prstGeom>
        </p:spPr>
      </p:pic>
      <p:sp>
        <p:nvSpPr>
          <p:cNvPr id="5" name="TextBox 4"/>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6" name="TextBox 5"/>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07</a:t>
            </a:r>
          </a:p>
        </p:txBody>
      </p:sp>
      <p:pic>
        <p:nvPicPr>
          <p:cNvPr id="7" name="Picture 6" descr="shot-pantheon.png"/>
          <p:cNvPicPr>
            <a:picLocks noChangeAspect="1"/>
          </p:cNvPicPr>
          <p:nvPr/>
        </p:nvPicPr>
        <p:blipFill>
          <a:blip r:embed="rId3"/>
          <a:stretch>
            <a:fillRect/>
          </a:stretch>
        </p:blipFill>
        <p:spPr>
          <a:xfrm>
            <a:off x="548640" y="1608406"/>
            <a:ext cx="1463040" cy="3001107"/>
          </a:xfrm>
          <a:prstGeom prst="rect">
            <a:avLst/>
          </a:prstGeom>
        </p:spPr>
      </p:pic>
      <p:pic>
        <p:nvPicPr>
          <p:cNvPr id="8" name="Picture 7" descr="shot-navona.png"/>
          <p:cNvPicPr>
            <a:picLocks noChangeAspect="1"/>
          </p:cNvPicPr>
          <p:nvPr/>
        </p:nvPicPr>
        <p:blipFill>
          <a:blip r:embed="rId4"/>
          <a:stretch>
            <a:fillRect/>
          </a:stretch>
        </p:blipFill>
        <p:spPr>
          <a:xfrm>
            <a:off x="2121408" y="1608406"/>
            <a:ext cx="1463040" cy="3001107"/>
          </a:xfrm>
          <a:prstGeom prst="rect">
            <a:avLst/>
          </a:prstGeom>
        </p:spPr>
      </p:pic>
      <p:pic>
        <p:nvPicPr>
          <p:cNvPr id="9" name="Picture 8" descr="shot-around.png"/>
          <p:cNvPicPr>
            <a:picLocks noChangeAspect="1"/>
          </p:cNvPicPr>
          <p:nvPr/>
        </p:nvPicPr>
        <p:blipFill>
          <a:blip r:embed="rId5"/>
          <a:stretch>
            <a:fillRect/>
          </a:stretch>
        </p:blipFill>
        <p:spPr>
          <a:xfrm>
            <a:off x="3694176" y="1608406"/>
            <a:ext cx="1463040" cy="3001107"/>
          </a:xfrm>
          <a:prstGeom prst="rect">
            <a:avLst/>
          </a:prstGeom>
        </p:spPr>
      </p:pic>
      <p:pic>
        <p:nvPicPr>
          <p:cNvPr id="10" name="Picture 9" descr="shot-dark.png"/>
          <p:cNvPicPr>
            <a:picLocks noChangeAspect="1"/>
          </p:cNvPicPr>
          <p:nvPr/>
        </p:nvPicPr>
        <p:blipFill>
          <a:blip r:embed="rId6"/>
          <a:stretch>
            <a:fillRect/>
          </a:stretch>
        </p:blipFill>
        <p:spPr>
          <a:xfrm>
            <a:off x="5266944" y="1608406"/>
            <a:ext cx="1463040" cy="3001107"/>
          </a:xfrm>
          <a:prstGeom prst="rect">
            <a:avLst/>
          </a:prstGeom>
        </p:spPr>
      </p:pic>
      <p:sp>
        <p:nvSpPr>
          <p:cNvPr id="11" name="TextBox 10"/>
          <p:cNvSpPr txBox="1"/>
          <p:nvPr/>
        </p:nvSpPr>
        <p:spPr>
          <a:xfrm>
            <a:off x="548640" y="4709160"/>
            <a:ext cx="6217920" cy="548640"/>
          </a:xfrm>
          <a:prstGeom prst="rect">
            <a:avLst/>
          </a:prstGeom>
          <a:noFill/>
        </p:spPr>
        <p:txBody>
          <a:bodyPr wrap="square" lIns="0" rIns="0" tIns="0" bIns="0" anchor="t">
            <a:spAutoFit/>
          </a:bodyPr>
          <a:lstStyle/>
          <a:p>
            <a:pPr algn="l">
              <a:lnSpc>
                <a:spcPct val="110000"/>
              </a:lnSpc>
              <a:spcAft>
                <a:spcPts val="400"/>
              </a:spcAft>
            </a:pPr>
            <a:r>
              <a:rPr sz="1000" b="0" i="0">
                <a:solidFill>
                  <a:srgbClr val="5A5D63"/>
                </a:solidFill>
                <a:latin typeface="Inter"/>
              </a:rPr>
              <a:t>Simulation mode, phone viewport: Pantheon · Piazza Navona · 'What's around me' at Largo Argentina · dark 'storyteller' persona.</a:t>
            </a:r>
          </a:p>
        </p:txBody>
      </p:sp>
      <p:sp>
        <p:nvSpPr>
          <p:cNvPr id="12" name="TextBox 11"/>
          <p:cNvSpPr txBox="1"/>
          <p:nvPr/>
        </p:nvSpPr>
        <p:spPr>
          <a:xfrm>
            <a:off x="7040880" y="1600200"/>
            <a:ext cx="4572000" cy="365760"/>
          </a:xfrm>
          <a:prstGeom prst="rect">
            <a:avLst/>
          </a:prstGeom>
          <a:noFill/>
        </p:spPr>
        <p:txBody>
          <a:bodyPr wrap="square" lIns="0" rIns="0" tIns="0" bIns="0" anchor="t">
            <a:spAutoFit/>
          </a:bodyPr>
          <a:lstStyle/>
          <a:p>
            <a:pPr algn="l">
              <a:lnSpc>
                <a:spcPct val="110000"/>
              </a:lnSpc>
              <a:spcAft>
                <a:spcPts val="400"/>
              </a:spcAft>
            </a:pPr>
            <a:r>
              <a:rPr sz="1300" b="1" i="0">
                <a:solidFill>
                  <a:srgbClr val="14161A"/>
                </a:solidFill>
                <a:latin typeface="Inter"/>
              </a:rPr>
              <a:t>Walk-simulation metrics (SIMULATED)</a:t>
            </a:r>
          </a:p>
        </p:txBody>
      </p:sp>
      <p:sp>
        <p:nvSpPr>
          <p:cNvPr id="13" name="Rectangle 12"/>
          <p:cNvSpPr/>
          <p:nvPr/>
        </p:nvSpPr>
        <p:spPr>
          <a:xfrm>
            <a:off x="7040880" y="2011680"/>
            <a:ext cx="4617720" cy="338328"/>
          </a:xfrm>
          <a:prstGeom prst="rect">
            <a:avLst/>
          </a:prstGeom>
          <a:solidFill>
            <a:srgbClr val="14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011680"/>
            <a:ext cx="2468880" cy="338328"/>
          </a:xfrm>
          <a:prstGeom prst="rect">
            <a:avLst/>
          </a:prstGeom>
          <a:noFill/>
        </p:spPr>
        <p:txBody>
          <a:bodyPr wrap="square" lIns="0" rIns="0" tIns="0" bIns="0" anchor="ctr">
            <a:spAutoFit/>
          </a:bodyPr>
          <a:lstStyle/>
          <a:p>
            <a:pPr algn="l">
              <a:lnSpc>
                <a:spcPct val="110000"/>
              </a:lnSpc>
              <a:spcAft>
                <a:spcPts val="400"/>
              </a:spcAft>
            </a:pPr>
            <a:r>
              <a:rPr sz="1100" b="1" i="0">
                <a:solidFill>
                  <a:srgbClr val="F3EEE6"/>
                </a:solidFill>
                <a:latin typeface="Inter"/>
              </a:rPr>
              <a:t>Metric</a:t>
            </a:r>
          </a:p>
        </p:txBody>
      </p:sp>
      <p:sp>
        <p:nvSpPr>
          <p:cNvPr id="15" name="TextBox 14"/>
          <p:cNvSpPr txBox="1"/>
          <p:nvPr/>
        </p:nvSpPr>
        <p:spPr>
          <a:xfrm>
            <a:off x="9738360" y="2011680"/>
            <a:ext cx="1874520" cy="338328"/>
          </a:xfrm>
          <a:prstGeom prst="rect">
            <a:avLst/>
          </a:prstGeom>
          <a:noFill/>
        </p:spPr>
        <p:txBody>
          <a:bodyPr wrap="square" lIns="0" rIns="0" tIns="0" bIns="0" anchor="ctr">
            <a:spAutoFit/>
          </a:bodyPr>
          <a:lstStyle/>
          <a:p>
            <a:pPr algn="r">
              <a:lnSpc>
                <a:spcPct val="110000"/>
              </a:lnSpc>
              <a:spcAft>
                <a:spcPts val="400"/>
              </a:spcAft>
            </a:pPr>
            <a:r>
              <a:rPr sz="1100" b="1" i="0">
                <a:solidFill>
                  <a:srgbClr val="F3EEE6"/>
                </a:solidFill>
                <a:latin typeface="Inter"/>
              </a:rPr>
              <a:t>Value</a:t>
            </a:r>
          </a:p>
        </p:txBody>
      </p:sp>
      <p:sp>
        <p:nvSpPr>
          <p:cNvPr id="16" name="TextBox 15"/>
          <p:cNvSpPr txBox="1"/>
          <p:nvPr/>
        </p:nvSpPr>
        <p:spPr>
          <a:xfrm>
            <a:off x="7132320" y="2350008"/>
            <a:ext cx="2468880" cy="33832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Narrations</a:t>
            </a:r>
          </a:p>
        </p:txBody>
      </p:sp>
      <p:sp>
        <p:nvSpPr>
          <p:cNvPr id="17" name="TextBox 16"/>
          <p:cNvSpPr txBox="1"/>
          <p:nvPr/>
        </p:nvSpPr>
        <p:spPr>
          <a:xfrm>
            <a:off x="9738360" y="2350008"/>
            <a:ext cx="1874520" cy="33832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17 (8.8 / km)</a:t>
            </a:r>
          </a:p>
        </p:txBody>
      </p:sp>
      <p:sp>
        <p:nvSpPr>
          <p:cNvPr id="18" name="Rectangle 17"/>
          <p:cNvSpPr/>
          <p:nvPr/>
        </p:nvSpPr>
        <p:spPr>
          <a:xfrm>
            <a:off x="7040880" y="2688336"/>
            <a:ext cx="4617720" cy="338328"/>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0" y="2688336"/>
            <a:ext cx="2468880" cy="33832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Facts spoken / repeats</a:t>
            </a:r>
          </a:p>
        </p:txBody>
      </p:sp>
      <p:sp>
        <p:nvSpPr>
          <p:cNvPr id="20" name="TextBox 19"/>
          <p:cNvSpPr txBox="1"/>
          <p:nvPr/>
        </p:nvSpPr>
        <p:spPr>
          <a:xfrm>
            <a:off x="9738360" y="2688336"/>
            <a:ext cx="1874520" cy="33832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39 / 0.0%</a:t>
            </a:r>
          </a:p>
        </p:txBody>
      </p:sp>
      <p:sp>
        <p:nvSpPr>
          <p:cNvPr id="21" name="TextBox 20"/>
          <p:cNvSpPr txBox="1"/>
          <p:nvPr/>
        </p:nvSpPr>
        <p:spPr>
          <a:xfrm>
            <a:off x="7132320" y="3026664"/>
            <a:ext cx="2468880" cy="33832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Quiet-moment compliance</a:t>
            </a:r>
          </a:p>
        </p:txBody>
      </p:sp>
      <p:sp>
        <p:nvSpPr>
          <p:cNvPr id="22" name="TextBox 21"/>
          <p:cNvSpPr txBox="1"/>
          <p:nvPr/>
        </p:nvSpPr>
        <p:spPr>
          <a:xfrm>
            <a:off x="9738360" y="3026664"/>
            <a:ext cx="1874520" cy="33832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100% (0 violations)</a:t>
            </a:r>
          </a:p>
        </p:txBody>
      </p:sp>
      <p:sp>
        <p:nvSpPr>
          <p:cNvPr id="23" name="Rectangle 22"/>
          <p:cNvSpPr/>
          <p:nvPr/>
        </p:nvSpPr>
        <p:spPr>
          <a:xfrm>
            <a:off x="7040880" y="3364992"/>
            <a:ext cx="4617720" cy="338328"/>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0" y="3364992"/>
            <a:ext cx="2468880" cy="33832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Direction accuracy vs truth</a:t>
            </a:r>
          </a:p>
        </p:txBody>
      </p:sp>
      <p:sp>
        <p:nvSpPr>
          <p:cNvPr id="25" name="TextBox 24"/>
          <p:cNvSpPr txBox="1"/>
          <p:nvPr/>
        </p:nvSpPr>
        <p:spPr>
          <a:xfrm>
            <a:off x="9738360" y="3364992"/>
            <a:ext cx="1874520" cy="33832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100%</a:t>
            </a:r>
          </a:p>
        </p:txBody>
      </p:sp>
      <p:sp>
        <p:nvSpPr>
          <p:cNvPr id="26" name="TextBox 25"/>
          <p:cNvSpPr txBox="1"/>
          <p:nvPr/>
        </p:nvSpPr>
        <p:spPr>
          <a:xfrm>
            <a:off x="7132320" y="3703320"/>
            <a:ext cx="2468880" cy="33832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Fused heading error</a:t>
            </a:r>
          </a:p>
        </p:txBody>
      </p:sp>
      <p:sp>
        <p:nvSpPr>
          <p:cNvPr id="27" name="TextBox 26"/>
          <p:cNvSpPr txBox="1"/>
          <p:nvPr/>
        </p:nvSpPr>
        <p:spPr>
          <a:xfrm>
            <a:off x="9738360" y="3703320"/>
            <a:ext cx="1874520" cy="33832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4.3° mean · 12.7° p95</a:t>
            </a:r>
          </a:p>
        </p:txBody>
      </p:sp>
      <p:sp>
        <p:nvSpPr>
          <p:cNvPr id="28" name="Rectangle 27"/>
          <p:cNvSpPr/>
          <p:nvPr/>
        </p:nvSpPr>
        <p:spPr>
          <a:xfrm>
            <a:off x="7040880" y="4041648"/>
            <a:ext cx="4617720" cy="338328"/>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32320" y="4041648"/>
            <a:ext cx="2468880" cy="33832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Share of time speaking</a:t>
            </a:r>
          </a:p>
        </p:txBody>
      </p:sp>
      <p:sp>
        <p:nvSpPr>
          <p:cNvPr id="30" name="TextBox 29"/>
          <p:cNvSpPr txBox="1"/>
          <p:nvPr/>
        </p:nvSpPr>
        <p:spPr>
          <a:xfrm>
            <a:off x="9738360" y="4041648"/>
            <a:ext cx="1874520" cy="33832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26%</a:t>
            </a:r>
          </a:p>
        </p:txBody>
      </p:sp>
      <p:sp>
        <p:nvSpPr>
          <p:cNvPr id="31" name="TextBox 30"/>
          <p:cNvSpPr txBox="1"/>
          <p:nvPr/>
        </p:nvSpPr>
        <p:spPr>
          <a:xfrm>
            <a:off x="7132320" y="4379976"/>
            <a:ext cx="2468880" cy="33832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Rome City Pack</a:t>
            </a:r>
          </a:p>
        </p:txBody>
      </p:sp>
      <p:sp>
        <p:nvSpPr>
          <p:cNvPr id="32" name="TextBox 31"/>
          <p:cNvSpPr txBox="1"/>
          <p:nvPr/>
        </p:nvSpPr>
        <p:spPr>
          <a:xfrm>
            <a:off x="9738360" y="4379976"/>
            <a:ext cx="1874520" cy="33832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86 POIs · 215 fact cards</a:t>
            </a:r>
          </a:p>
        </p:txBody>
      </p:sp>
      <p:sp>
        <p:nvSpPr>
          <p:cNvPr id="33" name="Rectangle 32"/>
          <p:cNvSpPr/>
          <p:nvPr/>
        </p:nvSpPr>
        <p:spPr>
          <a:xfrm>
            <a:off x="7040880" y="4718304"/>
            <a:ext cx="4617720" cy="338328"/>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0" y="4718304"/>
            <a:ext cx="2468880" cy="33832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Tests passing</a:t>
            </a:r>
          </a:p>
        </p:txBody>
      </p:sp>
      <p:sp>
        <p:nvSpPr>
          <p:cNvPr id="35" name="TextBox 34"/>
          <p:cNvSpPr txBox="1"/>
          <p:nvPr/>
        </p:nvSpPr>
        <p:spPr>
          <a:xfrm>
            <a:off x="9738360" y="4718304"/>
            <a:ext cx="1874520" cy="33832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61 vitest + 16 pytest</a:t>
            </a:r>
          </a:p>
        </p:txBody>
      </p:sp>
      <p:sp>
        <p:nvSpPr>
          <p:cNvPr id="36" name="Rectangle 35"/>
          <p:cNvSpPr/>
          <p:nvPr/>
        </p:nvSpPr>
        <p:spPr>
          <a:xfrm>
            <a:off x="7040880" y="5056632"/>
            <a:ext cx="4617720" cy="9000"/>
          </a:xfrm>
          <a:prstGeom prst="rect">
            <a:avLst/>
          </a:prstGeom>
          <a:solidFill>
            <a:srgbClr val="DDD5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5257800"/>
            <a:ext cx="11064240" cy="731520"/>
          </a:xfrm>
          <a:prstGeom prst="rect">
            <a:avLst/>
          </a:prstGeom>
          <a:noFill/>
        </p:spPr>
        <p:txBody>
          <a:bodyPr wrap="square" lIns="0" rIns="0" tIns="0" bIns="0" anchor="t">
            <a:spAutoFit/>
          </a:bodyPr>
          <a:lstStyle/>
          <a:p>
            <a:pPr algn="l">
              <a:lnSpc>
                <a:spcPct val="110000"/>
              </a:lnSpc>
              <a:spcAft>
                <a:spcPts val="400"/>
              </a:spcAft>
            </a:pPr>
            <a:r>
              <a:rPr sz="1150" b="1" i="0">
                <a:solidFill>
                  <a:srgbClr val="C4623A"/>
                </a:solidFill>
                <a:latin typeface="Inter"/>
              </a:rPr>
              <a:t>What is not proven yet: </a:t>
            </a:r>
            <a:r>
              <a:rPr sz="1150" b="0" i="0">
                <a:solidFill>
                  <a:srgbClr val="5A5D63"/>
                </a:solidFill>
                <a:latin typeface="Inter"/>
              </a:rPr>
              <a:t>no real-user walks, no EVT hardware. Seed facts are curated with Wikipedia citations but still need an online verify pass and editorial review before customers hear them. Gate G0 (Nov 2026-Jan 2027): 20 Rome walk tests + 200 remote sim users.</a:t>
            </a:r>
          </a:p>
        </p:txBody>
      </p:sp>
      <p:sp>
        <p:nvSpPr>
          <p:cNvPr id="38" name="TextBox 37"/>
          <p:cNvSpPr txBox="1"/>
          <p:nvPr/>
        </p:nvSpPr>
        <p:spPr>
          <a:xfrm>
            <a:off x="548640" y="6108192"/>
            <a:ext cx="11064240" cy="274320"/>
          </a:xfrm>
          <a:prstGeom prst="rect">
            <a:avLst/>
          </a:prstGeom>
          <a:noFill/>
        </p:spPr>
        <p:txBody>
          <a:bodyPr wrap="square" lIns="0" rIns="0" tIns="0" bIns="0" anchor="t">
            <a:spAutoFit/>
          </a:bodyPr>
          <a:lstStyle/>
          <a:p>
            <a:pPr algn="l">
              <a:lnSpc>
                <a:spcPct val="110000"/>
              </a:lnSpc>
              <a:spcAft>
                <a:spcPts val="400"/>
              </a:spcAft>
            </a:pPr>
            <a:r>
              <a:rPr sz="850" b="0" i="0">
                <a:solidFill>
                  <a:srgbClr val="5A5D63"/>
                </a:solidFill>
                <a:latin typeface="Inter"/>
              </a:rPr>
              <a:t>Sources: software/README.md, software/apps/prototype/screenshots/, software/simulations/output/rome-walk-transcript.md.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EEE6"/>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10000"/>
              </a:lnSpc>
              <a:spcAft>
                <a:spcPts val="400"/>
              </a:spcAft>
            </a:pPr>
            <a:r>
              <a:rPr sz="1100" b="1" i="0">
                <a:solidFill>
                  <a:srgbClr val="C4623A"/>
                </a:solidFill>
                <a:latin typeface="Inter"/>
              </a:rPr>
              <a:t>MARKET</a:t>
            </a:r>
          </a:p>
        </p:txBody>
      </p:sp>
      <p:sp>
        <p:nvSpPr>
          <p:cNvPr id="3" name="TextBox 2"/>
          <p:cNvSpPr txBox="1"/>
          <p:nvPr/>
        </p:nvSpPr>
        <p:spPr>
          <a:xfrm>
            <a:off x="548640" y="658368"/>
            <a:ext cx="11064240" cy="822960"/>
          </a:xfrm>
          <a:prstGeom prst="rect">
            <a:avLst/>
          </a:prstGeom>
          <a:noFill/>
        </p:spPr>
        <p:txBody>
          <a:bodyPr wrap="square" lIns="0" rIns="0" tIns="0" bIns="0" anchor="t">
            <a:spAutoFit/>
          </a:bodyPr>
          <a:lstStyle/>
          <a:p>
            <a:pPr algn="l">
              <a:lnSpc>
                <a:spcPct val="100000"/>
              </a:lnSpc>
              <a:spcAft>
                <a:spcPts val="400"/>
              </a:spcAft>
            </a:pPr>
            <a:r>
              <a:rPr sz="3000" b="0" i="0">
                <a:solidFill>
                  <a:srgbClr val="14161A"/>
                </a:solidFill>
                <a:latin typeface="Fraunces"/>
              </a:rPr>
              <a:t>A $10.7B/yr job market today; we size the beachhead bottom-up.</a:t>
            </a:r>
          </a:p>
        </p:txBody>
      </p:sp>
      <p:pic>
        <p:nvPicPr>
          <p:cNvPr id="4" name="Picture 3" descr="lore-lockup-horizontal-ink-1600w.png"/>
          <p:cNvPicPr>
            <a:picLocks noChangeAspect="1"/>
          </p:cNvPicPr>
          <p:nvPr/>
        </p:nvPicPr>
        <p:blipFill>
          <a:blip r:embed="rId2"/>
          <a:stretch>
            <a:fillRect/>
          </a:stretch>
        </p:blipFill>
        <p:spPr>
          <a:xfrm>
            <a:off x="548640" y="6429032"/>
            <a:ext cx="822960" cy="199567"/>
          </a:xfrm>
          <a:prstGeom prst="rect">
            <a:avLst/>
          </a:prstGeom>
        </p:spPr>
      </p:pic>
      <p:sp>
        <p:nvSpPr>
          <p:cNvPr id="5" name="TextBox 4"/>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6" name="TextBox 5"/>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08</a:t>
            </a:r>
          </a:p>
        </p:txBody>
      </p:sp>
      <p:sp>
        <p:nvSpPr>
          <p:cNvPr id="7" name="TextBox 6"/>
          <p:cNvSpPr txBox="1"/>
          <p:nvPr/>
        </p:nvSpPr>
        <p:spPr>
          <a:xfrm>
            <a:off x="548640" y="1600200"/>
            <a:ext cx="3840480" cy="640080"/>
          </a:xfrm>
          <a:prstGeom prst="rect">
            <a:avLst/>
          </a:prstGeom>
          <a:noFill/>
        </p:spPr>
        <p:txBody>
          <a:bodyPr wrap="square" lIns="0" rIns="0" tIns="0" bIns="0" anchor="t">
            <a:spAutoFit/>
          </a:bodyPr>
          <a:lstStyle/>
          <a:p>
            <a:pPr algn="l">
              <a:lnSpc>
                <a:spcPct val="110000"/>
              </a:lnSpc>
              <a:spcAft>
                <a:spcPts val="400"/>
              </a:spcAft>
            </a:pPr>
            <a:r>
              <a:rPr sz="3000" b="0" i="0">
                <a:solidFill>
                  <a:srgbClr val="C4623A"/>
                </a:solidFill>
                <a:latin typeface="Fraunces"/>
              </a:rPr>
              <a:t>$10.7B</a:t>
            </a:r>
          </a:p>
        </p:txBody>
      </p:sp>
      <p:sp>
        <p:nvSpPr>
          <p:cNvPr id="8" name="TextBox 7"/>
          <p:cNvSpPr txBox="1"/>
          <p:nvPr/>
        </p:nvSpPr>
        <p:spPr>
          <a:xfrm>
            <a:off x="548640" y="2258568"/>
            <a:ext cx="3840480" cy="640080"/>
          </a:xfrm>
          <a:prstGeom prst="rect">
            <a:avLst/>
          </a:prstGeom>
          <a:noFill/>
        </p:spPr>
        <p:txBody>
          <a:bodyPr wrap="square" lIns="0" rIns="0" tIns="0" bIns="0" anchor="t">
            <a:spAutoFit/>
          </a:bodyPr>
          <a:lstStyle/>
          <a:p>
            <a:pPr algn="l">
              <a:lnSpc>
                <a:spcPct val="110000"/>
              </a:lnSpc>
              <a:spcAft>
                <a:spcPts val="400"/>
              </a:spcAft>
            </a:pPr>
            <a:r>
              <a:rPr sz="1100" b="0" i="0">
                <a:solidFill>
                  <a:srgbClr val="5A5D63"/>
                </a:solidFill>
                <a:latin typeface="Inter"/>
              </a:rPr>
              <a:t>TAM (top-down, 2027): eSIM, audio guides, travel safety, AI-companion, self-guided tours</a:t>
            </a:r>
          </a:p>
        </p:txBody>
      </p:sp>
      <p:sp>
        <p:nvSpPr>
          <p:cNvPr id="9" name="TextBox 8"/>
          <p:cNvSpPr txBox="1"/>
          <p:nvPr/>
        </p:nvSpPr>
        <p:spPr>
          <a:xfrm>
            <a:off x="548640" y="2679192"/>
            <a:ext cx="3840480" cy="640080"/>
          </a:xfrm>
          <a:prstGeom prst="rect">
            <a:avLst/>
          </a:prstGeom>
          <a:noFill/>
        </p:spPr>
        <p:txBody>
          <a:bodyPr wrap="square" lIns="0" rIns="0" tIns="0" bIns="0" anchor="t">
            <a:spAutoFit/>
          </a:bodyPr>
          <a:lstStyle/>
          <a:p>
            <a:pPr algn="l">
              <a:lnSpc>
                <a:spcPct val="110000"/>
              </a:lnSpc>
              <a:spcAft>
                <a:spcPts val="400"/>
              </a:spcAft>
            </a:pPr>
            <a:r>
              <a:rPr sz="3000" b="0" i="0">
                <a:solidFill>
                  <a:srgbClr val="C4623A"/>
                </a:solidFill>
                <a:latin typeface="Fraunces"/>
              </a:rPr>
              <a:t>$24.0B</a:t>
            </a:r>
          </a:p>
        </p:txBody>
      </p:sp>
      <p:sp>
        <p:nvSpPr>
          <p:cNvPr id="10" name="TextBox 9"/>
          <p:cNvSpPr txBox="1"/>
          <p:nvPr/>
        </p:nvSpPr>
        <p:spPr>
          <a:xfrm>
            <a:off x="548640" y="3337560"/>
            <a:ext cx="3840480" cy="640080"/>
          </a:xfrm>
          <a:prstGeom prst="rect">
            <a:avLst/>
          </a:prstGeom>
          <a:noFill/>
        </p:spPr>
        <p:txBody>
          <a:bodyPr wrap="square" lIns="0" rIns="0" tIns="0" bIns="0" anchor="t">
            <a:spAutoFit/>
          </a:bodyPr>
          <a:lstStyle/>
          <a:p>
            <a:pPr algn="l">
              <a:lnSpc>
                <a:spcPct val="110000"/>
              </a:lnSpc>
              <a:spcAft>
                <a:spcPts val="400"/>
              </a:spcAft>
            </a:pPr>
            <a:r>
              <a:rPr sz="1100" b="0" i="0">
                <a:solidFill>
                  <a:srgbClr val="5A5D63"/>
                </a:solidFill>
                <a:latin typeface="Inter"/>
              </a:rPr>
              <a:t>TAM (bottom-up): 145M frequent international travellers × $165 ARPU</a:t>
            </a:r>
          </a:p>
        </p:txBody>
      </p:sp>
      <p:sp>
        <p:nvSpPr>
          <p:cNvPr id="11" name="TextBox 10"/>
          <p:cNvSpPr txBox="1"/>
          <p:nvPr/>
        </p:nvSpPr>
        <p:spPr>
          <a:xfrm>
            <a:off x="548640" y="3758184"/>
            <a:ext cx="3840480" cy="640080"/>
          </a:xfrm>
          <a:prstGeom prst="rect">
            <a:avLst/>
          </a:prstGeom>
          <a:noFill/>
        </p:spPr>
        <p:txBody>
          <a:bodyPr wrap="square" lIns="0" rIns="0" tIns="0" bIns="0" anchor="t">
            <a:spAutoFit/>
          </a:bodyPr>
          <a:lstStyle/>
          <a:p>
            <a:pPr algn="l">
              <a:lnSpc>
                <a:spcPct val="110000"/>
              </a:lnSpc>
              <a:spcAft>
                <a:spcPts val="400"/>
              </a:spcAft>
            </a:pPr>
            <a:r>
              <a:rPr sz="3000" b="0" i="0">
                <a:solidFill>
                  <a:srgbClr val="C4623A"/>
                </a:solidFill>
                <a:latin typeface="Fraunces"/>
              </a:rPr>
              <a:t>$1.44B</a:t>
            </a:r>
          </a:p>
        </p:txBody>
      </p:sp>
      <p:sp>
        <p:nvSpPr>
          <p:cNvPr id="12" name="TextBox 11"/>
          <p:cNvSpPr txBox="1"/>
          <p:nvPr/>
        </p:nvSpPr>
        <p:spPr>
          <a:xfrm>
            <a:off x="548640" y="4416552"/>
            <a:ext cx="3840480" cy="640080"/>
          </a:xfrm>
          <a:prstGeom prst="rect">
            <a:avLst/>
          </a:prstGeom>
          <a:noFill/>
        </p:spPr>
        <p:txBody>
          <a:bodyPr wrap="square" lIns="0" rIns="0" tIns="0" bIns="0" anchor="t">
            <a:spAutoFit/>
          </a:bodyPr>
          <a:lstStyle/>
          <a:p>
            <a:pPr algn="l">
              <a:lnSpc>
                <a:spcPct val="110000"/>
              </a:lnSpc>
              <a:spcAft>
                <a:spcPts val="400"/>
              </a:spcAft>
            </a:pPr>
            <a:r>
              <a:rPr sz="1100" b="0" i="0">
                <a:solidFill>
                  <a:srgbClr val="5A5D63"/>
                </a:solidFill>
                <a:latin typeface="Inter"/>
              </a:rPr>
              <a:t>SAM: 8.7M solo/independent travellers, 2+ trips/yr, US/CA/UK/EU/AU-NZ, will pay $150+</a:t>
            </a:r>
          </a:p>
        </p:txBody>
      </p:sp>
      <p:sp>
        <p:nvSpPr>
          <p:cNvPr id="13" name="TextBox 12"/>
          <p:cNvSpPr txBox="1"/>
          <p:nvPr/>
        </p:nvSpPr>
        <p:spPr>
          <a:xfrm>
            <a:off x="548640" y="4837176"/>
            <a:ext cx="3840480" cy="640080"/>
          </a:xfrm>
          <a:prstGeom prst="rect">
            <a:avLst/>
          </a:prstGeom>
          <a:noFill/>
        </p:spPr>
        <p:txBody>
          <a:bodyPr wrap="square" lIns="0" rIns="0" tIns="0" bIns="0" anchor="t">
            <a:spAutoFit/>
          </a:bodyPr>
          <a:lstStyle/>
          <a:p>
            <a:pPr algn="l">
              <a:lnSpc>
                <a:spcPct val="110000"/>
              </a:lnSpc>
              <a:spcAft>
                <a:spcPts val="400"/>
              </a:spcAft>
            </a:pPr>
            <a:r>
              <a:rPr sz="3000" b="0" i="0">
                <a:solidFill>
                  <a:srgbClr val="C4623A"/>
                </a:solidFill>
                <a:latin typeface="Fraunces"/>
              </a:rPr>
              <a:t>$93M</a:t>
            </a:r>
          </a:p>
        </p:txBody>
      </p:sp>
      <p:sp>
        <p:nvSpPr>
          <p:cNvPr id="14" name="TextBox 13"/>
          <p:cNvSpPr txBox="1"/>
          <p:nvPr/>
        </p:nvSpPr>
        <p:spPr>
          <a:xfrm>
            <a:off x="548640" y="5495544"/>
            <a:ext cx="3840480" cy="640080"/>
          </a:xfrm>
          <a:prstGeom prst="rect">
            <a:avLst/>
          </a:prstGeom>
          <a:noFill/>
        </p:spPr>
        <p:txBody>
          <a:bodyPr wrap="square" lIns="0" rIns="0" tIns="0" bIns="0" anchor="t">
            <a:spAutoFit/>
          </a:bodyPr>
          <a:lstStyle/>
          <a:p>
            <a:pPr algn="l">
              <a:lnSpc>
                <a:spcPct val="110000"/>
              </a:lnSpc>
              <a:spcAft>
                <a:spcPts val="400"/>
              </a:spcAft>
            </a:pPr>
            <a:r>
              <a:rPr sz="1100" b="0" i="0">
                <a:solidFill>
                  <a:srgbClr val="5A5D63"/>
                </a:solidFill>
                <a:latin typeface="Inter"/>
              </a:rPr>
              <a:t>SOM 2030 base: 250k units in 2030, 415k cumulative (4.7% of SAM). Bear $46M / Bull $148M</a:t>
            </a:r>
          </a:p>
        </p:txBody>
      </p:sp>
      <p:sp>
        <p:nvSpPr>
          <p:cNvPr id="15" name="Rectangle 14"/>
          <p:cNvSpPr/>
          <p:nvPr/>
        </p:nvSpPr>
        <p:spPr>
          <a:xfrm>
            <a:off x="4663440" y="1600200"/>
            <a:ext cx="6949440" cy="3429000"/>
          </a:xfrm>
          <a:prstGeom prst="rect">
            <a:avLst/>
          </a:prstGeom>
          <a:solidFill>
            <a:srgbClr val="FFFFFF"/>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market-size-waterfall.png"/>
          <p:cNvPicPr>
            <a:picLocks noChangeAspect="1"/>
          </p:cNvPicPr>
          <p:nvPr/>
        </p:nvPicPr>
        <p:blipFill>
          <a:blip r:embed="rId3"/>
          <a:stretch>
            <a:fillRect/>
          </a:stretch>
        </p:blipFill>
        <p:spPr>
          <a:xfrm>
            <a:off x="4754880" y="1857287"/>
            <a:ext cx="6766560" cy="2914825"/>
          </a:xfrm>
          <a:prstGeom prst="rect">
            <a:avLst/>
          </a:prstGeom>
        </p:spPr>
      </p:pic>
      <p:sp>
        <p:nvSpPr>
          <p:cNvPr id="17" name="TextBox 16"/>
          <p:cNvSpPr txBox="1"/>
          <p:nvPr/>
        </p:nvSpPr>
        <p:spPr>
          <a:xfrm>
            <a:off x="4663440" y="5166360"/>
            <a:ext cx="6949440" cy="822960"/>
          </a:xfrm>
          <a:prstGeom prst="rect">
            <a:avLst/>
          </a:prstGeom>
          <a:noFill/>
        </p:spPr>
        <p:txBody>
          <a:bodyPr wrap="square" lIns="0" rIns="0" tIns="0" bIns="0" anchor="t">
            <a:spAutoFit/>
          </a:bodyPr>
          <a:lstStyle/>
          <a:p>
            <a:pPr algn="l">
              <a:lnSpc>
                <a:spcPct val="110000"/>
              </a:lnSpc>
              <a:spcAft>
                <a:spcPts val="400"/>
              </a:spcAft>
            </a:pPr>
            <a:r>
              <a:rPr sz="1100" b="0" i="0">
                <a:solidFill>
                  <a:srgbClr val="5A5D63"/>
                </a:solidFill>
                <a:latin typeface="Inter"/>
              </a:rPr>
              <a:t>Tailwinds: 1.52B international arrivals in 2025 (+4%); top-100 city arrivals +8%; travel eSIM $1.8B (2025, +85%) → $8.7B (2030); solo-travel spend ~$482B (2024) → ~$1.07T (2030).</a:t>
            </a:r>
          </a:p>
        </p:txBody>
      </p:sp>
      <p:sp>
        <p:nvSpPr>
          <p:cNvPr id="18" name="TextBox 17"/>
          <p:cNvSpPr txBox="1"/>
          <p:nvPr/>
        </p:nvSpPr>
        <p:spPr>
          <a:xfrm>
            <a:off x="548640" y="6108192"/>
            <a:ext cx="11064240" cy="274320"/>
          </a:xfrm>
          <a:prstGeom prst="rect">
            <a:avLst/>
          </a:prstGeom>
          <a:noFill/>
        </p:spPr>
        <p:txBody>
          <a:bodyPr wrap="square" lIns="0" rIns="0" tIns="0" bIns="0" anchor="t">
            <a:spAutoFit/>
          </a:bodyPr>
          <a:lstStyle/>
          <a:p>
            <a:pPr algn="l">
              <a:lnSpc>
                <a:spcPct val="110000"/>
              </a:lnSpc>
              <a:spcAft>
                <a:spcPts val="400"/>
              </a:spcAft>
            </a:pPr>
            <a:r>
              <a:rPr sz="850" b="0" i="0">
                <a:solidFill>
                  <a:srgbClr val="5A5D63"/>
                </a:solidFill>
                <a:latin typeface="Inter"/>
              </a:rPr>
              <a:t>Source: research/market-sizing.md (all figures cited with URLs there), research/charts/market-size-waterfall.png. SOM is a Research estimate [EST].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EEE6"/>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10000"/>
              </a:lnSpc>
              <a:spcAft>
                <a:spcPts val="400"/>
              </a:spcAft>
            </a:pPr>
            <a:r>
              <a:rPr sz="1100" b="1" i="0">
                <a:solidFill>
                  <a:srgbClr val="C4623A"/>
                </a:solidFill>
                <a:latin typeface="Inter"/>
              </a:rPr>
              <a:t>COMPETITION AND POSITIONING</a:t>
            </a:r>
          </a:p>
        </p:txBody>
      </p:sp>
      <p:sp>
        <p:nvSpPr>
          <p:cNvPr id="3" name="TextBox 2"/>
          <p:cNvSpPr txBox="1"/>
          <p:nvPr/>
        </p:nvSpPr>
        <p:spPr>
          <a:xfrm>
            <a:off x="548640" y="658368"/>
            <a:ext cx="11064240" cy="822960"/>
          </a:xfrm>
          <a:prstGeom prst="rect">
            <a:avLst/>
          </a:prstGeom>
          <a:noFill/>
        </p:spPr>
        <p:txBody>
          <a:bodyPr wrap="square" lIns="0" rIns="0" tIns="0" bIns="0" anchor="t">
            <a:spAutoFit/>
          </a:bodyPr>
          <a:lstStyle/>
          <a:p>
            <a:pPr algn="l">
              <a:lnSpc>
                <a:spcPct val="100000"/>
              </a:lnSpc>
              <a:spcAft>
                <a:spcPts val="400"/>
              </a:spcAft>
            </a:pPr>
            <a:r>
              <a:rPr sz="3000" b="0" i="0">
                <a:solidFill>
                  <a:srgbClr val="14161A"/>
                </a:solidFill>
                <a:latin typeface="Fraunces"/>
              </a:rPr>
              <a:t>Everything exists. Nothing does it together, standalone, with verified facts.</a:t>
            </a:r>
          </a:p>
        </p:txBody>
      </p:sp>
      <p:pic>
        <p:nvPicPr>
          <p:cNvPr id="4" name="Picture 3" descr="lore-lockup-horizontal-ink-1600w.png"/>
          <p:cNvPicPr>
            <a:picLocks noChangeAspect="1"/>
          </p:cNvPicPr>
          <p:nvPr/>
        </p:nvPicPr>
        <p:blipFill>
          <a:blip r:embed="rId2"/>
          <a:stretch>
            <a:fillRect/>
          </a:stretch>
        </p:blipFill>
        <p:spPr>
          <a:xfrm>
            <a:off x="548640" y="6429032"/>
            <a:ext cx="822960" cy="199567"/>
          </a:xfrm>
          <a:prstGeom prst="rect">
            <a:avLst/>
          </a:prstGeom>
        </p:spPr>
      </p:pic>
      <p:sp>
        <p:nvSpPr>
          <p:cNvPr id="5" name="TextBox 4"/>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6" name="TextBox 5"/>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09</a:t>
            </a:r>
          </a:p>
        </p:txBody>
      </p:sp>
      <p:sp>
        <p:nvSpPr>
          <p:cNvPr id="7" name="Rectangle 6"/>
          <p:cNvSpPr/>
          <p:nvPr/>
        </p:nvSpPr>
        <p:spPr>
          <a:xfrm>
            <a:off x="548640" y="1554480"/>
            <a:ext cx="5120640" cy="4114800"/>
          </a:xfrm>
          <a:prstGeom prst="rect">
            <a:avLst/>
          </a:prstGeom>
          <a:solidFill>
            <a:srgbClr val="FFFFFF"/>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ositioning-map.png"/>
          <p:cNvPicPr>
            <a:picLocks noChangeAspect="1"/>
          </p:cNvPicPr>
          <p:nvPr/>
        </p:nvPicPr>
        <p:blipFill>
          <a:blip r:embed="rId3"/>
          <a:stretch>
            <a:fillRect/>
          </a:stretch>
        </p:blipFill>
        <p:spPr>
          <a:xfrm>
            <a:off x="640080" y="1636776"/>
            <a:ext cx="4937760" cy="3950208"/>
          </a:xfrm>
          <a:prstGeom prst="rect">
            <a:avLst/>
          </a:prstGeom>
        </p:spPr>
      </p:pic>
      <p:sp>
        <p:nvSpPr>
          <p:cNvPr id="9" name="Rectangle 8"/>
          <p:cNvSpPr/>
          <p:nvPr/>
        </p:nvSpPr>
        <p:spPr>
          <a:xfrm>
            <a:off x="5897880" y="1554480"/>
            <a:ext cx="5760720" cy="502920"/>
          </a:xfrm>
          <a:prstGeom prst="rect">
            <a:avLst/>
          </a:prstGeom>
          <a:solidFill>
            <a:srgbClr val="14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89320" y="1554480"/>
            <a:ext cx="2011680" cy="502920"/>
          </a:xfrm>
          <a:prstGeom prst="rect">
            <a:avLst/>
          </a:prstGeom>
          <a:noFill/>
        </p:spPr>
        <p:txBody>
          <a:bodyPr wrap="square" lIns="0" rIns="0" tIns="0" bIns="0" anchor="ctr">
            <a:spAutoFit/>
          </a:bodyPr>
          <a:lstStyle/>
          <a:p>
            <a:pPr algn="l">
              <a:lnSpc>
                <a:spcPct val="110000"/>
              </a:lnSpc>
              <a:spcAft>
                <a:spcPts val="400"/>
              </a:spcAft>
            </a:pPr>
            <a:r>
              <a:rPr sz="950" b="1" i="0">
                <a:solidFill>
                  <a:srgbClr val="F3EEE6"/>
                </a:solidFill>
                <a:latin typeface="Inter"/>
              </a:rPr>
              <a:t>Threat</a:t>
            </a:r>
          </a:p>
        </p:txBody>
      </p:sp>
      <p:sp>
        <p:nvSpPr>
          <p:cNvPr id="11" name="TextBox 10"/>
          <p:cNvSpPr txBox="1"/>
          <p:nvPr/>
        </p:nvSpPr>
        <p:spPr>
          <a:xfrm>
            <a:off x="8138160" y="1554480"/>
            <a:ext cx="1554480" cy="502920"/>
          </a:xfrm>
          <a:prstGeom prst="rect">
            <a:avLst/>
          </a:prstGeom>
          <a:noFill/>
        </p:spPr>
        <p:txBody>
          <a:bodyPr wrap="square" lIns="0" rIns="0" tIns="0" bIns="0" anchor="ctr">
            <a:spAutoFit/>
          </a:bodyPr>
          <a:lstStyle/>
          <a:p>
            <a:pPr algn="r">
              <a:lnSpc>
                <a:spcPct val="110000"/>
              </a:lnSpc>
              <a:spcAft>
                <a:spcPts val="400"/>
              </a:spcAft>
            </a:pPr>
            <a:r>
              <a:rPr sz="950" b="1" i="0">
                <a:solidFill>
                  <a:srgbClr val="F3EEE6"/>
                </a:solidFill>
                <a:latin typeface="Inter"/>
              </a:rPr>
              <a:t>What it is</a:t>
            </a:r>
          </a:p>
        </p:txBody>
      </p:sp>
      <p:sp>
        <p:nvSpPr>
          <p:cNvPr id="12" name="TextBox 11"/>
          <p:cNvSpPr txBox="1"/>
          <p:nvPr/>
        </p:nvSpPr>
        <p:spPr>
          <a:xfrm>
            <a:off x="9829800" y="1554480"/>
            <a:ext cx="1783080" cy="502920"/>
          </a:xfrm>
          <a:prstGeom prst="rect">
            <a:avLst/>
          </a:prstGeom>
          <a:noFill/>
        </p:spPr>
        <p:txBody>
          <a:bodyPr wrap="square" lIns="0" rIns="0" tIns="0" bIns="0" anchor="ctr">
            <a:spAutoFit/>
          </a:bodyPr>
          <a:lstStyle/>
          <a:p>
            <a:pPr algn="r">
              <a:lnSpc>
                <a:spcPct val="110000"/>
              </a:lnSpc>
              <a:spcAft>
                <a:spcPts val="400"/>
              </a:spcAft>
            </a:pPr>
            <a:r>
              <a:rPr sz="950" b="1" i="0">
                <a:solidFill>
                  <a:srgbClr val="F3EEE6"/>
                </a:solidFill>
                <a:latin typeface="Inter"/>
              </a:rPr>
              <a:t>Our answer</a:t>
            </a:r>
          </a:p>
        </p:txBody>
      </p:sp>
      <p:sp>
        <p:nvSpPr>
          <p:cNvPr id="13" name="TextBox 12"/>
          <p:cNvSpPr txBox="1"/>
          <p:nvPr/>
        </p:nvSpPr>
        <p:spPr>
          <a:xfrm>
            <a:off x="5989320" y="2057400"/>
            <a:ext cx="2011680" cy="502920"/>
          </a:xfrm>
          <a:prstGeom prst="rect">
            <a:avLst/>
          </a:prstGeom>
          <a:noFill/>
        </p:spPr>
        <p:txBody>
          <a:bodyPr wrap="square" lIns="0" rIns="0" tIns="0" bIns="0" anchor="ctr">
            <a:spAutoFit/>
          </a:bodyPr>
          <a:lstStyle/>
          <a:p>
            <a:pPr algn="l">
              <a:lnSpc>
                <a:spcPct val="110000"/>
              </a:lnSpc>
              <a:spcAft>
                <a:spcPts val="400"/>
              </a:spcAft>
            </a:pPr>
            <a:r>
              <a:rPr sz="950" b="1" i="0">
                <a:solidFill>
                  <a:srgbClr val="14161A"/>
                </a:solidFill>
                <a:latin typeface="Inter"/>
              </a:rPr>
              <a:t>Google/Samsung Gemini glasses + Maps</a:t>
            </a:r>
          </a:p>
        </p:txBody>
      </p:sp>
      <p:sp>
        <p:nvSpPr>
          <p:cNvPr id="14" name="TextBox 13"/>
          <p:cNvSpPr txBox="1"/>
          <p:nvPr/>
        </p:nvSpPr>
        <p:spPr>
          <a:xfrm>
            <a:off x="8138160" y="2057400"/>
            <a:ext cx="1554480" cy="502920"/>
          </a:xfrm>
          <a:prstGeom prst="rect">
            <a:avLst/>
          </a:prstGeom>
          <a:noFill/>
        </p:spPr>
        <p:txBody>
          <a:bodyPr wrap="square" lIns="0" rIns="0" tIns="0" bIns="0" anchor="ctr">
            <a:spAutoFit/>
          </a:bodyPr>
          <a:lstStyle/>
          <a:p>
            <a:pPr algn="r">
              <a:lnSpc>
                <a:spcPct val="110000"/>
              </a:lnSpc>
              <a:spcAft>
                <a:spcPts val="400"/>
              </a:spcAft>
            </a:pPr>
            <a:r>
              <a:rPr sz="950" b="0" i="0">
                <a:solidFill>
                  <a:srgbClr val="14161A"/>
                </a:solidFill>
                <a:latin typeface="Inter"/>
              </a:rPr>
              <a:t>Fall 2026; camera + assistant</a:t>
            </a:r>
          </a:p>
        </p:txBody>
      </p:sp>
      <p:sp>
        <p:nvSpPr>
          <p:cNvPr id="15" name="TextBox 14"/>
          <p:cNvSpPr txBox="1"/>
          <p:nvPr/>
        </p:nvSpPr>
        <p:spPr>
          <a:xfrm>
            <a:off x="9829800" y="2057400"/>
            <a:ext cx="1783080" cy="502920"/>
          </a:xfrm>
          <a:prstGeom prst="rect">
            <a:avLst/>
          </a:prstGeom>
          <a:noFill/>
        </p:spPr>
        <p:txBody>
          <a:bodyPr wrap="square" lIns="0" rIns="0" tIns="0" bIns="0" anchor="ctr">
            <a:spAutoFit/>
          </a:bodyPr>
          <a:lstStyle/>
          <a:p>
            <a:pPr algn="r">
              <a:lnSpc>
                <a:spcPct val="110000"/>
              </a:lnSpc>
              <a:spcAft>
                <a:spcPts val="400"/>
              </a:spcAft>
            </a:pPr>
            <a:r>
              <a:rPr sz="950" b="0" i="0">
                <a:solidFill>
                  <a:srgbClr val="14161A"/>
                </a:solidFill>
                <a:latin typeface="Inter"/>
              </a:rPr>
              <a:t>Travel brain; works with any audio</a:t>
            </a:r>
          </a:p>
        </p:txBody>
      </p:sp>
      <p:sp>
        <p:nvSpPr>
          <p:cNvPr id="16" name="Rectangle 15"/>
          <p:cNvSpPr/>
          <p:nvPr/>
        </p:nvSpPr>
        <p:spPr>
          <a:xfrm>
            <a:off x="5897880" y="2560320"/>
            <a:ext cx="5760720" cy="502920"/>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89320" y="2560320"/>
            <a:ext cx="2011680" cy="502920"/>
          </a:xfrm>
          <a:prstGeom prst="rect">
            <a:avLst/>
          </a:prstGeom>
          <a:noFill/>
        </p:spPr>
        <p:txBody>
          <a:bodyPr wrap="square" lIns="0" rIns="0" tIns="0" bIns="0" anchor="ctr">
            <a:spAutoFit/>
          </a:bodyPr>
          <a:lstStyle/>
          <a:p>
            <a:pPr algn="l">
              <a:lnSpc>
                <a:spcPct val="110000"/>
              </a:lnSpc>
              <a:spcAft>
                <a:spcPts val="400"/>
              </a:spcAft>
            </a:pPr>
            <a:r>
              <a:rPr sz="950" b="1" i="0">
                <a:solidFill>
                  <a:srgbClr val="14161A"/>
                </a:solidFill>
                <a:latin typeface="Inter"/>
              </a:rPr>
              <a:t>Meta Ray-Ban / Display</a:t>
            </a:r>
          </a:p>
        </p:txBody>
      </p:sp>
      <p:sp>
        <p:nvSpPr>
          <p:cNvPr id="18" name="TextBox 17"/>
          <p:cNvSpPr txBox="1"/>
          <p:nvPr/>
        </p:nvSpPr>
        <p:spPr>
          <a:xfrm>
            <a:off x="8138160" y="2560320"/>
            <a:ext cx="1554480" cy="502920"/>
          </a:xfrm>
          <a:prstGeom prst="rect">
            <a:avLst/>
          </a:prstGeom>
          <a:noFill/>
        </p:spPr>
        <p:txBody>
          <a:bodyPr wrap="square" lIns="0" rIns="0" tIns="0" bIns="0" anchor="ctr">
            <a:spAutoFit/>
          </a:bodyPr>
          <a:lstStyle/>
          <a:p>
            <a:pPr algn="r">
              <a:lnSpc>
                <a:spcPct val="110000"/>
              </a:lnSpc>
              <a:spcAft>
                <a:spcPts val="400"/>
              </a:spcAft>
            </a:pPr>
            <a:r>
              <a:rPr sz="950" b="0" i="0">
                <a:solidFill>
                  <a:srgbClr val="14161A"/>
                </a:solidFill>
                <a:latin typeface="Inter"/>
              </a:rPr>
              <a:t>~7M glasses sold 2025</a:t>
            </a:r>
          </a:p>
        </p:txBody>
      </p:sp>
      <p:sp>
        <p:nvSpPr>
          <p:cNvPr id="19" name="TextBox 18"/>
          <p:cNvSpPr txBox="1"/>
          <p:nvPr/>
        </p:nvSpPr>
        <p:spPr>
          <a:xfrm>
            <a:off x="9829800" y="2560320"/>
            <a:ext cx="1783080" cy="502920"/>
          </a:xfrm>
          <a:prstGeom prst="rect">
            <a:avLst/>
          </a:prstGeom>
          <a:noFill/>
        </p:spPr>
        <p:txBody>
          <a:bodyPr wrap="square" lIns="0" rIns="0" tIns="0" bIns="0" anchor="ctr">
            <a:spAutoFit/>
          </a:bodyPr>
          <a:lstStyle/>
          <a:p>
            <a:pPr algn="r">
              <a:lnSpc>
                <a:spcPct val="110000"/>
              </a:lnSpc>
              <a:spcAft>
                <a:spcPts val="400"/>
              </a:spcAft>
            </a:pPr>
            <a:r>
              <a:rPr sz="950" b="0" i="0">
                <a:solidFill>
                  <a:srgbClr val="14161A"/>
                </a:solidFill>
                <a:latin typeface="Inter"/>
              </a:rPr>
              <a:t>No camera needed; $149 entry</a:t>
            </a:r>
          </a:p>
        </p:txBody>
      </p:sp>
      <p:sp>
        <p:nvSpPr>
          <p:cNvPr id="20" name="TextBox 19"/>
          <p:cNvSpPr txBox="1"/>
          <p:nvPr/>
        </p:nvSpPr>
        <p:spPr>
          <a:xfrm>
            <a:off x="5989320" y="3063240"/>
            <a:ext cx="2011680" cy="502920"/>
          </a:xfrm>
          <a:prstGeom prst="rect">
            <a:avLst/>
          </a:prstGeom>
          <a:noFill/>
        </p:spPr>
        <p:txBody>
          <a:bodyPr wrap="square" lIns="0" rIns="0" tIns="0" bIns="0" anchor="ctr">
            <a:spAutoFit/>
          </a:bodyPr>
          <a:lstStyle/>
          <a:p>
            <a:pPr algn="l">
              <a:lnSpc>
                <a:spcPct val="110000"/>
              </a:lnSpc>
              <a:spcAft>
                <a:spcPts val="400"/>
              </a:spcAft>
            </a:pPr>
            <a:r>
              <a:rPr sz="950" b="1" i="0">
                <a:solidFill>
                  <a:srgbClr val="14161A"/>
                </a:solidFill>
                <a:latin typeface="Inter"/>
              </a:rPr>
              <a:t>Phone + AI-guide app + eSIM</a:t>
            </a:r>
          </a:p>
        </p:txBody>
      </p:sp>
      <p:sp>
        <p:nvSpPr>
          <p:cNvPr id="21" name="TextBox 20"/>
          <p:cNvSpPr txBox="1"/>
          <p:nvPr/>
        </p:nvSpPr>
        <p:spPr>
          <a:xfrm>
            <a:off x="8138160" y="3063240"/>
            <a:ext cx="1554480" cy="502920"/>
          </a:xfrm>
          <a:prstGeom prst="rect">
            <a:avLst/>
          </a:prstGeom>
          <a:noFill/>
        </p:spPr>
        <p:txBody>
          <a:bodyPr wrap="square" lIns="0" rIns="0" tIns="0" bIns="0" anchor="ctr">
            <a:spAutoFit/>
          </a:bodyPr>
          <a:lstStyle/>
          <a:p>
            <a:pPr algn="r">
              <a:lnSpc>
                <a:spcPct val="110000"/>
              </a:lnSpc>
              <a:spcAft>
                <a:spcPts val="400"/>
              </a:spcAft>
            </a:pPr>
            <a:r>
              <a:rPr sz="950" b="0" i="0">
                <a:solidFill>
                  <a:srgbClr val="14161A"/>
                </a:solidFill>
                <a:latin typeface="Inter"/>
              </a:rPr>
              <a:t>Audiala $4.99/mo + Airalo</a:t>
            </a:r>
          </a:p>
        </p:txBody>
      </p:sp>
      <p:sp>
        <p:nvSpPr>
          <p:cNvPr id="22" name="TextBox 21"/>
          <p:cNvSpPr txBox="1"/>
          <p:nvPr/>
        </p:nvSpPr>
        <p:spPr>
          <a:xfrm>
            <a:off x="9829800" y="3063240"/>
            <a:ext cx="1783080" cy="502920"/>
          </a:xfrm>
          <a:prstGeom prst="rect">
            <a:avLst/>
          </a:prstGeom>
          <a:noFill/>
        </p:spPr>
        <p:txBody>
          <a:bodyPr wrap="square" lIns="0" rIns="0" tIns="0" bIns="0" anchor="ctr">
            <a:spAutoFit/>
          </a:bodyPr>
          <a:lstStyle/>
          <a:p>
            <a:pPr algn="r">
              <a:lnSpc>
                <a:spcPct val="110000"/>
              </a:lnSpc>
              <a:spcAft>
                <a:spcPts val="400"/>
              </a:spcAft>
            </a:pPr>
            <a:r>
              <a:rPr sz="950" b="0" i="0">
                <a:solidFill>
                  <a:srgbClr val="14161A"/>
                </a:solidFill>
                <a:latin typeface="Inter"/>
              </a:rPr>
              <a:t>Battery, theft, eyes-up, SOS</a:t>
            </a:r>
          </a:p>
        </p:txBody>
      </p:sp>
      <p:sp>
        <p:nvSpPr>
          <p:cNvPr id="23" name="Rectangle 22"/>
          <p:cNvSpPr/>
          <p:nvPr/>
        </p:nvSpPr>
        <p:spPr>
          <a:xfrm>
            <a:off x="5897880" y="3566160"/>
            <a:ext cx="5760720" cy="502920"/>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89320" y="3566160"/>
            <a:ext cx="2011680" cy="502920"/>
          </a:xfrm>
          <a:prstGeom prst="rect">
            <a:avLst/>
          </a:prstGeom>
          <a:noFill/>
        </p:spPr>
        <p:txBody>
          <a:bodyPr wrap="square" lIns="0" rIns="0" tIns="0" bIns="0" anchor="ctr">
            <a:spAutoFit/>
          </a:bodyPr>
          <a:lstStyle/>
          <a:p>
            <a:pPr algn="l">
              <a:lnSpc>
                <a:spcPct val="110000"/>
              </a:lnSpc>
              <a:spcAft>
                <a:spcPts val="400"/>
              </a:spcAft>
            </a:pPr>
            <a:r>
              <a:rPr sz="950" b="1" i="0">
                <a:solidFill>
                  <a:srgbClr val="14161A"/>
                </a:solidFill>
                <a:latin typeface="Inter"/>
              </a:rPr>
              <a:t>OpenAI io device</a:t>
            </a:r>
          </a:p>
        </p:txBody>
      </p:sp>
      <p:sp>
        <p:nvSpPr>
          <p:cNvPr id="25" name="TextBox 24"/>
          <p:cNvSpPr txBox="1"/>
          <p:nvPr/>
        </p:nvSpPr>
        <p:spPr>
          <a:xfrm>
            <a:off x="8138160" y="3566160"/>
            <a:ext cx="1554480" cy="502920"/>
          </a:xfrm>
          <a:prstGeom prst="rect">
            <a:avLst/>
          </a:prstGeom>
          <a:noFill/>
        </p:spPr>
        <p:txBody>
          <a:bodyPr wrap="square" lIns="0" rIns="0" tIns="0" bIns="0" anchor="ctr">
            <a:spAutoFit/>
          </a:bodyPr>
          <a:lstStyle/>
          <a:p>
            <a:pPr algn="r">
              <a:lnSpc>
                <a:spcPct val="110000"/>
              </a:lnSpc>
              <a:spcAft>
                <a:spcPts val="400"/>
              </a:spcAft>
            </a:pPr>
            <a:r>
              <a:rPr sz="950" b="0" i="0">
                <a:solidFill>
                  <a:srgbClr val="14161A"/>
                </a:solidFill>
                <a:latin typeface="Inter"/>
              </a:rPr>
              <a:t>H2 2026-27 (narrative)</a:t>
            </a:r>
          </a:p>
        </p:txBody>
      </p:sp>
      <p:sp>
        <p:nvSpPr>
          <p:cNvPr id="26" name="TextBox 25"/>
          <p:cNvSpPr txBox="1"/>
          <p:nvPr/>
        </p:nvSpPr>
        <p:spPr>
          <a:xfrm>
            <a:off x="9829800" y="3566160"/>
            <a:ext cx="1783080" cy="502920"/>
          </a:xfrm>
          <a:prstGeom prst="rect">
            <a:avLst/>
          </a:prstGeom>
          <a:noFill/>
        </p:spPr>
        <p:txBody>
          <a:bodyPr wrap="square" lIns="0" rIns="0" tIns="0" bIns="0" anchor="ctr">
            <a:spAutoFit/>
          </a:bodyPr>
          <a:lstStyle/>
          <a:p>
            <a:pPr algn="r">
              <a:lnSpc>
                <a:spcPct val="110000"/>
              </a:lnSpc>
              <a:spcAft>
                <a:spcPts val="400"/>
              </a:spcAft>
            </a:pPr>
            <a:r>
              <a:rPr sz="950" b="0" i="0">
                <a:solidFill>
                  <a:srgbClr val="14161A"/>
                </a:solidFill>
                <a:latin typeface="Inter"/>
              </a:rPr>
              <a:t>Narrow job; verified facts</a:t>
            </a:r>
          </a:p>
        </p:txBody>
      </p:sp>
      <p:sp>
        <p:nvSpPr>
          <p:cNvPr id="27" name="Rectangle 26"/>
          <p:cNvSpPr/>
          <p:nvPr/>
        </p:nvSpPr>
        <p:spPr>
          <a:xfrm>
            <a:off x="5897880" y="4069080"/>
            <a:ext cx="5760720" cy="9000"/>
          </a:xfrm>
          <a:prstGeom prst="rect">
            <a:avLst/>
          </a:prstGeom>
          <a:solidFill>
            <a:srgbClr val="DDD5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97880" y="4251960"/>
            <a:ext cx="5760720" cy="1463040"/>
          </a:xfrm>
          <a:prstGeom prst="rect">
            <a:avLst/>
          </a:prstGeom>
          <a:noFill/>
        </p:spPr>
        <p:txBody>
          <a:bodyPr wrap="square" lIns="0" rIns="0" tIns="0" bIns="0" anchor="t">
            <a:spAutoFit/>
          </a:bodyPr>
          <a:lstStyle/>
          <a:p>
            <a:pPr algn="l">
              <a:lnSpc>
                <a:spcPct val="112000"/>
              </a:lnSpc>
              <a:spcAft>
                <a:spcPts val="400"/>
              </a:spcAft>
            </a:pPr>
            <a:r>
              <a:rPr sz="1100" b="1" i="0">
                <a:solidFill>
                  <a:srgbClr val="14161A"/>
                </a:solidFill>
                <a:latin typeface="Inter"/>
              </a:rPr>
              <a:t>Lessons we design against: </a:t>
            </a:r>
            <a:r>
              <a:rPr sz="1100" b="0" i="0">
                <a:solidFill>
                  <a:srgbClr val="5A5D63"/>
                </a:solidFill>
                <a:latin typeface="Inter"/>
              </a:rPr>
              <a:t>Humane (~10k units; assets sold to HP for $116M) and Rabbit (~130k sold, ~5% daily use) shipped general assistants with no daily job. Plaud (&gt;1M devices, ~$250M run-rate) shows one narrow job + clip-on + subscription works.</a:t>
            </a:r>
          </a:p>
          <a:p>
            <a:pPr algn="l">
              <a:lnSpc>
                <a:spcPct val="112000"/>
              </a:lnSpc>
              <a:spcAft>
                <a:spcPts val="400"/>
              </a:spcAft>
            </a:pPr>
            <a:r>
              <a:rPr sz="1100" b="1" i="0">
                <a:solidFill>
                  <a:srgbClr val="14161A"/>
                </a:solidFill>
                <a:latin typeface="Inter"/>
              </a:rPr>
              <a:t>Moat we are building: </a:t>
            </a:r>
            <a:r>
              <a:rPr sz="1100" b="0" i="0">
                <a:solidFill>
                  <a:srgbClr val="5A5D63"/>
                </a:solidFill>
                <a:latin typeface="Inter"/>
              </a:rPr>
              <a:t>sourced City Packs and the fact-checking process; Map Vision IP; brand.</a:t>
            </a:r>
          </a:p>
        </p:txBody>
      </p:sp>
      <p:sp>
        <p:nvSpPr>
          <p:cNvPr id="29" name="TextBox 28"/>
          <p:cNvSpPr txBox="1"/>
          <p:nvPr/>
        </p:nvSpPr>
        <p:spPr>
          <a:xfrm>
            <a:off x="548640" y="6108192"/>
            <a:ext cx="11064240" cy="274320"/>
          </a:xfrm>
          <a:prstGeom prst="rect">
            <a:avLst/>
          </a:prstGeom>
          <a:noFill/>
        </p:spPr>
        <p:txBody>
          <a:bodyPr wrap="square" lIns="0" rIns="0" tIns="0" bIns="0" anchor="t">
            <a:spAutoFit/>
          </a:bodyPr>
          <a:lstStyle/>
          <a:p>
            <a:pPr algn="l">
              <a:lnSpc>
                <a:spcPct val="110000"/>
              </a:lnSpc>
              <a:spcAft>
                <a:spcPts val="400"/>
              </a:spcAft>
            </a:pPr>
            <a:r>
              <a:rPr sz="850" b="0" i="0">
                <a:solidFill>
                  <a:srgbClr val="5A5D63"/>
                </a:solidFill>
                <a:latin typeface="Inter"/>
              </a:rPr>
              <a:t>Source: research/competitors.md (30-product matrix, URLs inside), research/charts/positioning-map.png.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EEE6"/>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10000"/>
              </a:lnSpc>
              <a:spcAft>
                <a:spcPts val="400"/>
              </a:spcAft>
            </a:pPr>
            <a:r>
              <a:rPr sz="1100" b="1" i="0">
                <a:solidFill>
                  <a:srgbClr val="C4623A"/>
                </a:solidFill>
                <a:latin typeface="Inter"/>
              </a:rPr>
              <a:t>BUSINESS MODEL AND PRICING</a:t>
            </a:r>
          </a:p>
        </p:txBody>
      </p:sp>
      <p:sp>
        <p:nvSpPr>
          <p:cNvPr id="3" name="TextBox 2"/>
          <p:cNvSpPr txBox="1"/>
          <p:nvPr/>
        </p:nvSpPr>
        <p:spPr>
          <a:xfrm>
            <a:off x="548640" y="658368"/>
            <a:ext cx="11064240" cy="822960"/>
          </a:xfrm>
          <a:prstGeom prst="rect">
            <a:avLst/>
          </a:prstGeom>
          <a:noFill/>
        </p:spPr>
        <p:txBody>
          <a:bodyPr wrap="square" lIns="0" rIns="0" tIns="0" bIns="0" anchor="t">
            <a:spAutoFit/>
          </a:bodyPr>
          <a:lstStyle/>
          <a:p>
            <a:pPr algn="l">
              <a:lnSpc>
                <a:spcPct val="100000"/>
              </a:lnSpc>
              <a:spcAft>
                <a:spcPts val="400"/>
              </a:spcAft>
            </a:pPr>
            <a:r>
              <a:rPr sz="3000" b="0" i="0">
                <a:solidFill>
                  <a:srgbClr val="14161A"/>
                </a:solidFill>
                <a:latin typeface="Fraunces"/>
              </a:rPr>
              <a:t>Hardware gets us in the pocket; LORE Pass, accessories and bookings compound.</a:t>
            </a:r>
          </a:p>
        </p:txBody>
      </p:sp>
      <p:pic>
        <p:nvPicPr>
          <p:cNvPr id="4" name="Picture 3" descr="lore-lockup-horizontal-ink-1600w.png"/>
          <p:cNvPicPr>
            <a:picLocks noChangeAspect="1"/>
          </p:cNvPicPr>
          <p:nvPr/>
        </p:nvPicPr>
        <p:blipFill>
          <a:blip r:embed="rId2"/>
          <a:stretch>
            <a:fillRect/>
          </a:stretch>
        </p:blipFill>
        <p:spPr>
          <a:xfrm>
            <a:off x="548640" y="6429032"/>
            <a:ext cx="822960" cy="199567"/>
          </a:xfrm>
          <a:prstGeom prst="rect">
            <a:avLst/>
          </a:prstGeom>
        </p:spPr>
      </p:pic>
      <p:sp>
        <p:nvSpPr>
          <p:cNvPr id="5" name="TextBox 4"/>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6" name="TextBox 5"/>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10</a:t>
            </a:r>
          </a:p>
        </p:txBody>
      </p:sp>
      <p:sp>
        <p:nvSpPr>
          <p:cNvPr id="7" name="Rectangle 6"/>
          <p:cNvSpPr/>
          <p:nvPr/>
        </p:nvSpPr>
        <p:spPr>
          <a:xfrm>
            <a:off x="548640" y="1600200"/>
            <a:ext cx="7772400" cy="438912"/>
          </a:xfrm>
          <a:prstGeom prst="rect">
            <a:avLst/>
          </a:prstGeom>
          <a:solidFill>
            <a:srgbClr val="14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00200"/>
            <a:ext cx="2240280" cy="438912"/>
          </a:xfrm>
          <a:prstGeom prst="rect">
            <a:avLst/>
          </a:prstGeom>
          <a:noFill/>
        </p:spPr>
        <p:txBody>
          <a:bodyPr wrap="square" lIns="0" rIns="0" tIns="0" bIns="0" anchor="ctr">
            <a:spAutoFit/>
          </a:bodyPr>
          <a:lstStyle/>
          <a:p>
            <a:pPr algn="l">
              <a:lnSpc>
                <a:spcPct val="110000"/>
              </a:lnSpc>
              <a:spcAft>
                <a:spcPts val="400"/>
              </a:spcAft>
            </a:pPr>
            <a:r>
              <a:rPr sz="1050" b="1" i="0">
                <a:solidFill>
                  <a:srgbClr val="F3EEE6"/>
                </a:solidFill>
                <a:latin typeface="Inter"/>
              </a:rPr>
              <a:t/>
            </a:r>
          </a:p>
        </p:txBody>
      </p:sp>
      <p:sp>
        <p:nvSpPr>
          <p:cNvPr id="9" name="TextBox 8"/>
          <p:cNvSpPr txBox="1"/>
          <p:nvPr/>
        </p:nvSpPr>
        <p:spPr>
          <a:xfrm>
            <a:off x="3017520" y="1600200"/>
            <a:ext cx="1463040" cy="438912"/>
          </a:xfrm>
          <a:prstGeom prst="rect">
            <a:avLst/>
          </a:prstGeom>
          <a:noFill/>
        </p:spPr>
        <p:txBody>
          <a:bodyPr wrap="square" lIns="0" rIns="0" tIns="0" bIns="0" anchor="ctr">
            <a:spAutoFit/>
          </a:bodyPr>
          <a:lstStyle/>
          <a:p>
            <a:pPr algn="r">
              <a:lnSpc>
                <a:spcPct val="110000"/>
              </a:lnSpc>
              <a:spcAft>
                <a:spcPts val="400"/>
              </a:spcAft>
            </a:pPr>
            <a:r>
              <a:rPr sz="1050" b="1" i="0">
                <a:solidFill>
                  <a:srgbClr val="F3EEE6"/>
                </a:solidFill>
                <a:latin typeface="Inter"/>
              </a:rPr>
              <a:t>Pebble</a:t>
            </a:r>
          </a:p>
        </p:txBody>
      </p:sp>
      <p:sp>
        <p:nvSpPr>
          <p:cNvPr id="10" name="TextBox 9"/>
          <p:cNvSpPr txBox="1"/>
          <p:nvPr/>
        </p:nvSpPr>
        <p:spPr>
          <a:xfrm>
            <a:off x="4617720" y="1600200"/>
            <a:ext cx="1463040" cy="438912"/>
          </a:xfrm>
          <a:prstGeom prst="rect">
            <a:avLst/>
          </a:prstGeom>
          <a:noFill/>
        </p:spPr>
        <p:txBody>
          <a:bodyPr wrap="square" lIns="0" rIns="0" tIns="0" bIns="0" anchor="ctr">
            <a:spAutoFit/>
          </a:bodyPr>
          <a:lstStyle/>
          <a:p>
            <a:pPr algn="r">
              <a:lnSpc>
                <a:spcPct val="110000"/>
              </a:lnSpc>
              <a:spcAft>
                <a:spcPts val="400"/>
              </a:spcAft>
            </a:pPr>
            <a:r>
              <a:rPr sz="1050" b="1" i="0">
                <a:solidFill>
                  <a:srgbClr val="F3EEE6"/>
                </a:solidFill>
                <a:latin typeface="Inter"/>
              </a:rPr>
              <a:t>Square</a:t>
            </a:r>
          </a:p>
        </p:txBody>
      </p:sp>
      <p:sp>
        <p:nvSpPr>
          <p:cNvPr id="11" name="TextBox 10"/>
          <p:cNvSpPr txBox="1"/>
          <p:nvPr/>
        </p:nvSpPr>
        <p:spPr>
          <a:xfrm>
            <a:off x="6217920" y="1600200"/>
            <a:ext cx="2057400" cy="438912"/>
          </a:xfrm>
          <a:prstGeom prst="rect">
            <a:avLst/>
          </a:prstGeom>
          <a:noFill/>
        </p:spPr>
        <p:txBody>
          <a:bodyPr wrap="square" lIns="0" rIns="0" tIns="0" bIns="0" anchor="ctr">
            <a:spAutoFit/>
          </a:bodyPr>
          <a:lstStyle/>
          <a:p>
            <a:pPr algn="r">
              <a:lnSpc>
                <a:spcPct val="110000"/>
              </a:lnSpc>
              <a:spcAft>
                <a:spcPts val="400"/>
              </a:spcAft>
            </a:pPr>
            <a:r>
              <a:rPr sz="1050" b="1" i="0">
                <a:solidFill>
                  <a:srgbClr val="F3EEE6"/>
                </a:solidFill>
                <a:latin typeface="Inter"/>
              </a:rPr>
              <a:t>Atlas</a:t>
            </a:r>
          </a:p>
        </p:txBody>
      </p:sp>
      <p:sp>
        <p:nvSpPr>
          <p:cNvPr id="12" name="TextBox 11"/>
          <p:cNvSpPr txBox="1"/>
          <p:nvPr/>
        </p:nvSpPr>
        <p:spPr>
          <a:xfrm>
            <a:off x="640080" y="2039112"/>
            <a:ext cx="2240280" cy="438912"/>
          </a:xfrm>
          <a:prstGeom prst="rect">
            <a:avLst/>
          </a:prstGeom>
          <a:noFill/>
        </p:spPr>
        <p:txBody>
          <a:bodyPr wrap="square" lIns="0" rIns="0" tIns="0" bIns="0" anchor="ctr">
            <a:spAutoFit/>
          </a:bodyPr>
          <a:lstStyle/>
          <a:p>
            <a:pPr algn="l">
              <a:lnSpc>
                <a:spcPct val="110000"/>
              </a:lnSpc>
              <a:spcAft>
                <a:spcPts val="400"/>
              </a:spcAft>
            </a:pPr>
            <a:r>
              <a:rPr sz="1050" b="1" i="0">
                <a:solidFill>
                  <a:srgbClr val="14161A"/>
                </a:solidFill>
                <a:latin typeface="Inter"/>
              </a:rPr>
              <a:t>US price</a:t>
            </a:r>
          </a:p>
        </p:txBody>
      </p:sp>
      <p:sp>
        <p:nvSpPr>
          <p:cNvPr id="13" name="TextBox 12"/>
          <p:cNvSpPr txBox="1"/>
          <p:nvPr/>
        </p:nvSpPr>
        <p:spPr>
          <a:xfrm>
            <a:off x="3017520" y="2039112"/>
            <a:ext cx="146304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$149</a:t>
            </a:r>
          </a:p>
        </p:txBody>
      </p:sp>
      <p:sp>
        <p:nvSpPr>
          <p:cNvPr id="14" name="TextBox 13"/>
          <p:cNvSpPr txBox="1"/>
          <p:nvPr/>
        </p:nvSpPr>
        <p:spPr>
          <a:xfrm>
            <a:off x="4617720" y="2039112"/>
            <a:ext cx="146304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$299</a:t>
            </a:r>
          </a:p>
        </p:txBody>
      </p:sp>
      <p:sp>
        <p:nvSpPr>
          <p:cNvPr id="15" name="TextBox 14"/>
          <p:cNvSpPr txBox="1"/>
          <p:nvPr/>
        </p:nvSpPr>
        <p:spPr>
          <a:xfrm>
            <a:off x="6217920" y="2039112"/>
            <a:ext cx="205740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$599</a:t>
            </a:r>
          </a:p>
        </p:txBody>
      </p:sp>
      <p:sp>
        <p:nvSpPr>
          <p:cNvPr id="16" name="Rectangle 15"/>
          <p:cNvSpPr/>
          <p:nvPr/>
        </p:nvSpPr>
        <p:spPr>
          <a:xfrm>
            <a:off x="548640" y="2478024"/>
            <a:ext cx="7772400" cy="438912"/>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2478024"/>
            <a:ext cx="2240280" cy="438912"/>
          </a:xfrm>
          <a:prstGeom prst="rect">
            <a:avLst/>
          </a:prstGeom>
          <a:noFill/>
        </p:spPr>
        <p:txBody>
          <a:bodyPr wrap="square" lIns="0" rIns="0" tIns="0" bIns="0" anchor="ctr">
            <a:spAutoFit/>
          </a:bodyPr>
          <a:lstStyle/>
          <a:p>
            <a:pPr algn="l">
              <a:lnSpc>
                <a:spcPct val="110000"/>
              </a:lnSpc>
              <a:spcAft>
                <a:spcPts val="400"/>
              </a:spcAft>
            </a:pPr>
            <a:r>
              <a:rPr sz="1050" b="1" i="0">
                <a:solidFill>
                  <a:srgbClr val="14161A"/>
                </a:solidFill>
                <a:latin typeface="Inter"/>
              </a:rPr>
              <a:t>Kickstarter super early bird</a:t>
            </a:r>
          </a:p>
        </p:txBody>
      </p:sp>
      <p:sp>
        <p:nvSpPr>
          <p:cNvPr id="18" name="TextBox 17"/>
          <p:cNvSpPr txBox="1"/>
          <p:nvPr/>
        </p:nvSpPr>
        <p:spPr>
          <a:xfrm>
            <a:off x="3017520" y="2478024"/>
            <a:ext cx="146304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$99</a:t>
            </a:r>
          </a:p>
        </p:txBody>
      </p:sp>
      <p:sp>
        <p:nvSpPr>
          <p:cNvPr id="19" name="TextBox 18"/>
          <p:cNvSpPr txBox="1"/>
          <p:nvPr/>
        </p:nvSpPr>
        <p:spPr>
          <a:xfrm>
            <a:off x="4617720" y="2478024"/>
            <a:ext cx="146304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$199</a:t>
            </a:r>
          </a:p>
        </p:txBody>
      </p:sp>
      <p:sp>
        <p:nvSpPr>
          <p:cNvPr id="20" name="TextBox 19"/>
          <p:cNvSpPr txBox="1"/>
          <p:nvPr/>
        </p:nvSpPr>
        <p:spPr>
          <a:xfrm>
            <a:off x="6217920" y="2478024"/>
            <a:ext cx="205740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$399</a:t>
            </a:r>
          </a:p>
        </p:txBody>
      </p:sp>
      <p:sp>
        <p:nvSpPr>
          <p:cNvPr id="21" name="TextBox 20"/>
          <p:cNvSpPr txBox="1"/>
          <p:nvPr/>
        </p:nvSpPr>
        <p:spPr>
          <a:xfrm>
            <a:off x="640080" y="2916936"/>
            <a:ext cx="2240280" cy="438912"/>
          </a:xfrm>
          <a:prstGeom prst="rect">
            <a:avLst/>
          </a:prstGeom>
          <a:noFill/>
        </p:spPr>
        <p:txBody>
          <a:bodyPr wrap="square" lIns="0" rIns="0" tIns="0" bIns="0" anchor="ctr">
            <a:spAutoFit/>
          </a:bodyPr>
          <a:lstStyle/>
          <a:p>
            <a:pPr algn="l">
              <a:lnSpc>
                <a:spcPct val="110000"/>
              </a:lnSpc>
              <a:spcAft>
                <a:spcPts val="400"/>
              </a:spcAft>
            </a:pPr>
            <a:r>
              <a:rPr sz="1050" b="1" i="0">
                <a:solidFill>
                  <a:srgbClr val="14161A"/>
                </a:solidFill>
                <a:latin typeface="Inter"/>
              </a:rPr>
              <a:t>EU / UK</a:t>
            </a:r>
          </a:p>
        </p:txBody>
      </p:sp>
      <p:sp>
        <p:nvSpPr>
          <p:cNvPr id="22" name="TextBox 21"/>
          <p:cNvSpPr txBox="1"/>
          <p:nvPr/>
        </p:nvSpPr>
        <p:spPr>
          <a:xfrm>
            <a:off x="3017520" y="2916936"/>
            <a:ext cx="146304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€159 / £149</a:t>
            </a:r>
          </a:p>
        </p:txBody>
      </p:sp>
      <p:sp>
        <p:nvSpPr>
          <p:cNvPr id="23" name="TextBox 22"/>
          <p:cNvSpPr txBox="1"/>
          <p:nvPr/>
        </p:nvSpPr>
        <p:spPr>
          <a:xfrm>
            <a:off x="4617720" y="2916936"/>
            <a:ext cx="146304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€329 / £299</a:t>
            </a:r>
          </a:p>
        </p:txBody>
      </p:sp>
      <p:sp>
        <p:nvSpPr>
          <p:cNvPr id="24" name="TextBox 23"/>
          <p:cNvSpPr txBox="1"/>
          <p:nvPr/>
        </p:nvSpPr>
        <p:spPr>
          <a:xfrm>
            <a:off x="6217920" y="2916936"/>
            <a:ext cx="205740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€649 / £599</a:t>
            </a:r>
          </a:p>
        </p:txBody>
      </p:sp>
      <p:sp>
        <p:nvSpPr>
          <p:cNvPr id="25" name="Rectangle 24"/>
          <p:cNvSpPr/>
          <p:nvPr/>
        </p:nvSpPr>
        <p:spPr>
          <a:xfrm>
            <a:off x="548640" y="3355848"/>
            <a:ext cx="7772400" cy="438912"/>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355848"/>
            <a:ext cx="2240280" cy="438912"/>
          </a:xfrm>
          <a:prstGeom prst="rect">
            <a:avLst/>
          </a:prstGeom>
          <a:noFill/>
        </p:spPr>
        <p:txBody>
          <a:bodyPr wrap="square" lIns="0" rIns="0" tIns="0" bIns="0" anchor="ctr">
            <a:spAutoFit/>
          </a:bodyPr>
          <a:lstStyle/>
          <a:p>
            <a:pPr algn="l">
              <a:lnSpc>
                <a:spcPct val="110000"/>
              </a:lnSpc>
              <a:spcAft>
                <a:spcPts val="400"/>
              </a:spcAft>
            </a:pPr>
            <a:r>
              <a:rPr sz="1050" b="1" i="0">
                <a:solidFill>
                  <a:srgbClr val="14161A"/>
                </a:solidFill>
                <a:latin typeface="Inter"/>
              </a:rPr>
              <a:t>Price anchor</a:t>
            </a:r>
          </a:p>
        </p:txBody>
      </p:sp>
      <p:sp>
        <p:nvSpPr>
          <p:cNvPr id="27" name="TextBox 26"/>
          <p:cNvSpPr txBox="1"/>
          <p:nvPr/>
        </p:nvSpPr>
        <p:spPr>
          <a:xfrm>
            <a:off x="3017520" y="3355848"/>
            <a:ext cx="146304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Plaud NotePin S $179</a:t>
            </a:r>
          </a:p>
        </p:txBody>
      </p:sp>
      <p:sp>
        <p:nvSpPr>
          <p:cNvPr id="28" name="TextBox 27"/>
          <p:cNvSpPr txBox="1"/>
          <p:nvPr/>
        </p:nvSpPr>
        <p:spPr>
          <a:xfrm>
            <a:off x="4617720" y="3355848"/>
            <a:ext cx="146304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Pocketalk Plus $299.95</a:t>
            </a:r>
          </a:p>
        </p:txBody>
      </p:sp>
      <p:sp>
        <p:nvSpPr>
          <p:cNvPr id="29" name="TextBox 28"/>
          <p:cNvSpPr txBox="1"/>
          <p:nvPr/>
        </p:nvSpPr>
        <p:spPr>
          <a:xfrm>
            <a:off x="6217920" y="3355848"/>
            <a:ext cx="205740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inReach Mini 3+ $499 / Watch Ultra $799</a:t>
            </a:r>
          </a:p>
        </p:txBody>
      </p:sp>
      <p:sp>
        <p:nvSpPr>
          <p:cNvPr id="30" name="Rectangle 29"/>
          <p:cNvSpPr/>
          <p:nvPr/>
        </p:nvSpPr>
        <p:spPr>
          <a:xfrm>
            <a:off x="548640" y="3794760"/>
            <a:ext cx="7772400" cy="9000"/>
          </a:xfrm>
          <a:prstGeom prst="rect">
            <a:avLst/>
          </a:prstGeom>
          <a:solidFill>
            <a:srgbClr val="DDD5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549640" y="1600200"/>
            <a:ext cx="3090672" cy="694944"/>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49640" y="1600200"/>
            <a:ext cx="54864" cy="694944"/>
          </a:xfrm>
          <a:prstGeom prst="rect">
            <a:avLst/>
          </a:prstGeom>
          <a:solidFill>
            <a:srgbClr val="C46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732520" y="1655064"/>
            <a:ext cx="2834640" cy="274320"/>
          </a:xfrm>
          <a:prstGeom prst="rect">
            <a:avLst/>
          </a:prstGeom>
          <a:noFill/>
        </p:spPr>
        <p:txBody>
          <a:bodyPr wrap="square" lIns="0" rIns="0" tIns="0" bIns="0" anchor="t">
            <a:spAutoFit/>
          </a:bodyPr>
          <a:lstStyle/>
          <a:p>
            <a:pPr algn="l">
              <a:lnSpc>
                <a:spcPct val="110000"/>
              </a:lnSpc>
              <a:spcAft>
                <a:spcPts val="400"/>
              </a:spcAft>
            </a:pPr>
            <a:r>
              <a:rPr sz="1200" b="1" i="0">
                <a:solidFill>
                  <a:srgbClr val="14161A"/>
                </a:solidFill>
                <a:latin typeface="Inter"/>
              </a:rPr>
              <a:t>Hardware</a:t>
            </a:r>
          </a:p>
        </p:txBody>
      </p:sp>
      <p:sp>
        <p:nvSpPr>
          <p:cNvPr id="34" name="TextBox 33"/>
          <p:cNvSpPr txBox="1"/>
          <p:nvPr/>
        </p:nvSpPr>
        <p:spPr>
          <a:xfrm>
            <a:off x="8732520" y="1901952"/>
            <a:ext cx="2834640" cy="411480"/>
          </a:xfrm>
          <a:prstGeom prst="rect">
            <a:avLst/>
          </a:prstGeom>
          <a:noFill/>
        </p:spPr>
        <p:txBody>
          <a:bodyPr wrap="square" lIns="0" rIns="0" tIns="0" bIns="0" anchor="t">
            <a:spAutoFit/>
          </a:bodyPr>
          <a:lstStyle/>
          <a:p>
            <a:pPr algn="l">
              <a:lnSpc>
                <a:spcPct val="110000"/>
              </a:lnSpc>
              <a:spcAft>
                <a:spcPts val="400"/>
              </a:spcAft>
            </a:pPr>
            <a:r>
              <a:rPr sz="950" b="0" i="0">
                <a:solidFill>
                  <a:srgbClr val="5A5D63"/>
                </a:solidFill>
                <a:latin typeface="Inter"/>
              </a:rPr>
              <a:t>3 SKUs, DTC first; retail only after returns &lt;5%</a:t>
            </a:r>
          </a:p>
        </p:txBody>
      </p:sp>
      <p:sp>
        <p:nvSpPr>
          <p:cNvPr id="35" name="Rectangle 34"/>
          <p:cNvSpPr/>
          <p:nvPr/>
        </p:nvSpPr>
        <p:spPr>
          <a:xfrm>
            <a:off x="8549640" y="2386584"/>
            <a:ext cx="3090672" cy="694944"/>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549640" y="2386584"/>
            <a:ext cx="54864" cy="694944"/>
          </a:xfrm>
          <a:prstGeom prst="rect">
            <a:avLst/>
          </a:prstGeom>
          <a:solidFill>
            <a:srgbClr val="B89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32520" y="2441448"/>
            <a:ext cx="2834640" cy="274320"/>
          </a:xfrm>
          <a:prstGeom prst="rect">
            <a:avLst/>
          </a:prstGeom>
          <a:noFill/>
        </p:spPr>
        <p:txBody>
          <a:bodyPr wrap="square" lIns="0" rIns="0" tIns="0" bIns="0" anchor="t">
            <a:spAutoFit/>
          </a:bodyPr>
          <a:lstStyle/>
          <a:p>
            <a:pPr algn="l">
              <a:lnSpc>
                <a:spcPct val="110000"/>
              </a:lnSpc>
              <a:spcAft>
                <a:spcPts val="400"/>
              </a:spcAft>
            </a:pPr>
            <a:r>
              <a:rPr sz="1200" b="1" i="0">
                <a:solidFill>
                  <a:srgbClr val="14161A"/>
                </a:solidFill>
                <a:latin typeface="Inter"/>
              </a:rPr>
              <a:t>LORE Pass</a:t>
            </a:r>
          </a:p>
        </p:txBody>
      </p:sp>
      <p:sp>
        <p:nvSpPr>
          <p:cNvPr id="38" name="TextBox 37"/>
          <p:cNvSpPr txBox="1"/>
          <p:nvPr/>
        </p:nvSpPr>
        <p:spPr>
          <a:xfrm>
            <a:off x="8732520" y="2688336"/>
            <a:ext cx="2834640" cy="411480"/>
          </a:xfrm>
          <a:prstGeom prst="rect">
            <a:avLst/>
          </a:prstGeom>
          <a:noFill/>
        </p:spPr>
        <p:txBody>
          <a:bodyPr wrap="square" lIns="0" rIns="0" tIns="0" bIns="0" anchor="t">
            <a:spAutoFit/>
          </a:bodyPr>
          <a:lstStyle/>
          <a:p>
            <a:pPr algn="l">
              <a:lnSpc>
                <a:spcPct val="110000"/>
              </a:lnSpc>
              <a:spcAft>
                <a:spcPts val="400"/>
              </a:spcAft>
            </a:pPr>
            <a:r>
              <a:rPr sz="950" b="0" i="0">
                <a:solidFill>
                  <a:srgbClr val="5A5D63"/>
                </a:solidFill>
                <a:latin typeface="Inter"/>
              </a:rPr>
              <a:t>$9.99/mo · $79/yr · Trip Pass $29 / $49; 3 months free with every device</a:t>
            </a:r>
          </a:p>
        </p:txBody>
      </p:sp>
      <p:sp>
        <p:nvSpPr>
          <p:cNvPr id="39" name="Rectangle 38"/>
          <p:cNvSpPr/>
          <p:nvPr/>
        </p:nvSpPr>
        <p:spPr>
          <a:xfrm>
            <a:off x="8549640" y="3172968"/>
            <a:ext cx="3090672" cy="694944"/>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549640" y="3172968"/>
            <a:ext cx="54864" cy="694944"/>
          </a:xfrm>
          <a:prstGeom prst="rect">
            <a:avLst/>
          </a:prstGeom>
          <a:solidFill>
            <a:srgbClr val="5E6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732520" y="3227832"/>
            <a:ext cx="2834640" cy="274320"/>
          </a:xfrm>
          <a:prstGeom prst="rect">
            <a:avLst/>
          </a:prstGeom>
          <a:noFill/>
        </p:spPr>
        <p:txBody>
          <a:bodyPr wrap="square" lIns="0" rIns="0" tIns="0" bIns="0" anchor="t">
            <a:spAutoFit/>
          </a:bodyPr>
          <a:lstStyle/>
          <a:p>
            <a:pPr algn="l">
              <a:lnSpc>
                <a:spcPct val="110000"/>
              </a:lnSpc>
              <a:spcAft>
                <a:spcPts val="400"/>
              </a:spcAft>
            </a:pPr>
            <a:r>
              <a:rPr sz="1200" b="1" i="0">
                <a:solidFill>
                  <a:srgbClr val="14161A"/>
                </a:solidFill>
                <a:latin typeface="Inter"/>
              </a:rPr>
              <a:t>LORE Kit</a:t>
            </a:r>
          </a:p>
        </p:txBody>
      </p:sp>
      <p:sp>
        <p:nvSpPr>
          <p:cNvPr id="42" name="TextBox 41"/>
          <p:cNvSpPr txBox="1"/>
          <p:nvPr/>
        </p:nvSpPr>
        <p:spPr>
          <a:xfrm>
            <a:off x="8732520" y="3474720"/>
            <a:ext cx="2834640" cy="411480"/>
          </a:xfrm>
          <a:prstGeom prst="rect">
            <a:avLst/>
          </a:prstGeom>
          <a:noFill/>
        </p:spPr>
        <p:txBody>
          <a:bodyPr wrap="square" lIns="0" rIns="0" tIns="0" bIns="0" anchor="t">
            <a:spAutoFit/>
          </a:bodyPr>
          <a:lstStyle/>
          <a:p>
            <a:pPr algn="l">
              <a:lnSpc>
                <a:spcPct val="110000"/>
              </a:lnSpc>
              <a:spcAft>
                <a:spcPts val="400"/>
              </a:spcAft>
            </a:pPr>
            <a:r>
              <a:rPr sz="950" b="0" i="0">
                <a:solidFill>
                  <a:srgbClr val="5A5D63"/>
                </a:solidFill>
                <a:latin typeface="Inter"/>
              </a:rPr>
              <a:t>Clip, lanyard, dock, case, LORE Buds $129, city bundles</a:t>
            </a:r>
          </a:p>
        </p:txBody>
      </p:sp>
      <p:sp>
        <p:nvSpPr>
          <p:cNvPr id="43" name="Rectangle 42"/>
          <p:cNvSpPr/>
          <p:nvPr/>
        </p:nvSpPr>
        <p:spPr>
          <a:xfrm>
            <a:off x="8549640" y="3959352"/>
            <a:ext cx="3090672" cy="694944"/>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549640" y="3959352"/>
            <a:ext cx="54864" cy="694944"/>
          </a:xfrm>
          <a:prstGeom prst="rect">
            <a:avLst/>
          </a:prstGeom>
          <a:solidFill>
            <a:srgbClr val="9AA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732520" y="4014216"/>
            <a:ext cx="2834640" cy="274320"/>
          </a:xfrm>
          <a:prstGeom prst="rect">
            <a:avLst/>
          </a:prstGeom>
          <a:noFill/>
        </p:spPr>
        <p:txBody>
          <a:bodyPr wrap="square" lIns="0" rIns="0" tIns="0" bIns="0" anchor="t">
            <a:spAutoFit/>
          </a:bodyPr>
          <a:lstStyle/>
          <a:p>
            <a:pPr algn="l">
              <a:lnSpc>
                <a:spcPct val="110000"/>
              </a:lnSpc>
              <a:spcAft>
                <a:spcPts val="400"/>
              </a:spcAft>
            </a:pPr>
            <a:r>
              <a:rPr sz="1200" b="1" i="0">
                <a:solidFill>
                  <a:srgbClr val="14161A"/>
                </a:solidFill>
                <a:latin typeface="Inter"/>
              </a:rPr>
              <a:t>Bookings</a:t>
            </a:r>
          </a:p>
        </p:txBody>
      </p:sp>
      <p:sp>
        <p:nvSpPr>
          <p:cNvPr id="46" name="TextBox 45"/>
          <p:cNvSpPr txBox="1"/>
          <p:nvPr/>
        </p:nvSpPr>
        <p:spPr>
          <a:xfrm>
            <a:off x="8732520" y="4261104"/>
            <a:ext cx="2834640" cy="411480"/>
          </a:xfrm>
          <a:prstGeom prst="rect">
            <a:avLst/>
          </a:prstGeom>
          <a:noFill/>
        </p:spPr>
        <p:txBody>
          <a:bodyPr wrap="square" lIns="0" rIns="0" tIns="0" bIns="0" anchor="t">
            <a:spAutoFit/>
          </a:bodyPr>
          <a:lstStyle/>
          <a:p>
            <a:pPr algn="l">
              <a:lnSpc>
                <a:spcPct val="110000"/>
              </a:lnSpc>
              <a:spcAft>
                <a:spcPts val="400"/>
              </a:spcAft>
            </a:pPr>
            <a:r>
              <a:rPr sz="950" b="0" i="0">
                <a:solidFill>
                  <a:srgbClr val="5A5D63"/>
                </a:solidFill>
                <a:latin typeface="Inter"/>
              </a:rPr>
              <a:t>Affiliate fees: hotels, tours, restaurants</a:t>
            </a:r>
          </a:p>
        </p:txBody>
      </p:sp>
      <p:sp>
        <p:nvSpPr>
          <p:cNvPr id="47" name="Rectangle 46"/>
          <p:cNvSpPr/>
          <p:nvPr/>
        </p:nvSpPr>
        <p:spPr>
          <a:xfrm>
            <a:off x="8549640" y="4745736"/>
            <a:ext cx="3090672" cy="694944"/>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549640" y="4745736"/>
            <a:ext cx="54864" cy="694944"/>
          </a:xfrm>
          <a:prstGeom prst="rect">
            <a:avLst/>
          </a:prstGeom>
          <a:solidFill>
            <a:srgbClr val="14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732520" y="4800600"/>
            <a:ext cx="2834640" cy="274320"/>
          </a:xfrm>
          <a:prstGeom prst="rect">
            <a:avLst/>
          </a:prstGeom>
          <a:noFill/>
        </p:spPr>
        <p:txBody>
          <a:bodyPr wrap="square" lIns="0" rIns="0" tIns="0" bIns="0" anchor="t">
            <a:spAutoFit/>
          </a:bodyPr>
          <a:lstStyle/>
          <a:p>
            <a:pPr algn="l">
              <a:lnSpc>
                <a:spcPct val="110000"/>
              </a:lnSpc>
              <a:spcAft>
                <a:spcPts val="400"/>
              </a:spcAft>
            </a:pPr>
            <a:r>
              <a:rPr sz="1200" b="1" i="0">
                <a:solidFill>
                  <a:srgbClr val="14161A"/>
                </a:solidFill>
                <a:latin typeface="Inter"/>
              </a:rPr>
              <a:t>B2B fleet</a:t>
            </a:r>
          </a:p>
        </p:txBody>
      </p:sp>
      <p:sp>
        <p:nvSpPr>
          <p:cNvPr id="50" name="TextBox 49"/>
          <p:cNvSpPr txBox="1"/>
          <p:nvPr/>
        </p:nvSpPr>
        <p:spPr>
          <a:xfrm>
            <a:off x="8732520" y="5047488"/>
            <a:ext cx="2834640" cy="411480"/>
          </a:xfrm>
          <a:prstGeom prst="rect">
            <a:avLst/>
          </a:prstGeom>
          <a:noFill/>
        </p:spPr>
        <p:txBody>
          <a:bodyPr wrap="square" lIns="0" rIns="0" tIns="0" bIns="0" anchor="t">
            <a:spAutoFit/>
          </a:bodyPr>
          <a:lstStyle/>
          <a:p>
            <a:pPr algn="l">
              <a:lnSpc>
                <a:spcPct val="110000"/>
              </a:lnSpc>
              <a:spcAft>
                <a:spcPts val="400"/>
              </a:spcAft>
            </a:pPr>
            <a:r>
              <a:rPr sz="950" b="0" i="0">
                <a:solidFill>
                  <a:srgbClr val="5A5D63"/>
                </a:solidFill>
                <a:latin typeface="Inter"/>
              </a:rPr>
              <a:t>Rental for hostels and tour operators (pilots Q4 2027+)</a:t>
            </a:r>
          </a:p>
        </p:txBody>
      </p:sp>
      <p:sp>
        <p:nvSpPr>
          <p:cNvPr id="51" name="TextBox 50"/>
          <p:cNvSpPr txBox="1"/>
          <p:nvPr/>
        </p:nvSpPr>
        <p:spPr>
          <a:xfrm>
            <a:off x="548640" y="3977639"/>
            <a:ext cx="7772400" cy="1737360"/>
          </a:xfrm>
          <a:prstGeom prst="rect">
            <a:avLst/>
          </a:prstGeom>
          <a:noFill/>
        </p:spPr>
        <p:txBody>
          <a:bodyPr wrap="square" lIns="0" rIns="0" tIns="0" bIns="0" anchor="t">
            <a:spAutoFit/>
          </a:bodyPr>
          <a:lstStyle/>
          <a:p>
            <a:pPr algn="l">
              <a:lnSpc>
                <a:spcPct val="115000"/>
              </a:lnSpc>
              <a:spcAft>
                <a:spcPts val="800"/>
              </a:spcAft>
            </a:pPr>
            <a:r>
              <a:rPr sz="1150" b="1" i="0">
                <a:solidFill>
                  <a:srgbClr val="14161A"/>
                </a:solidFill>
                <a:latin typeface="Inter"/>
              </a:rPr>
              <a:t>Why these prices: </a:t>
            </a:r>
            <a:r>
              <a:rPr sz="1150" b="0" i="0">
                <a:solidFill>
                  <a:srgbClr val="5A5D63"/>
                </a:solidFill>
                <a:latin typeface="Inter"/>
              </a:rPr>
              <a:t>Research's comparable-price ladder (research/pricing-research.md). Atlas raised $549 → $599 (D8), to be A/B tested; revert if the survey shows &gt;20% loss of purchase intent.</a:t>
            </a:r>
          </a:p>
          <a:p>
            <a:pPr algn="l">
              <a:lnSpc>
                <a:spcPct val="115000"/>
              </a:lnSpc>
              <a:spcAft>
                <a:spcPts val="800"/>
              </a:spcAft>
            </a:pPr>
            <a:r>
              <a:rPr sz="1150" b="1" i="0">
                <a:solidFill>
                  <a:srgbClr val="14161A"/>
                </a:solidFill>
                <a:latin typeface="Inter"/>
              </a:rPr>
              <a:t>Retention by design (the Rabbit lesson): </a:t>
            </a:r>
            <a:r>
              <a:rPr sz="1150" b="0" i="0">
                <a:solidFill>
                  <a:srgbClr val="5A5D63"/>
                </a:solidFill>
                <a:latin typeface="Inter"/>
              </a:rPr>
              <a:t>annual Explorer at $79, a free tier that stays useful, home-city 'Weekend Walks', and retention KPIs reported to investors.</a:t>
            </a:r>
          </a:p>
        </p:txBody>
      </p:sp>
      <p:sp>
        <p:nvSpPr>
          <p:cNvPr id="52" name="TextBox 51"/>
          <p:cNvSpPr txBox="1"/>
          <p:nvPr/>
        </p:nvSpPr>
        <p:spPr>
          <a:xfrm>
            <a:off x="548640" y="6108192"/>
            <a:ext cx="11064240" cy="274320"/>
          </a:xfrm>
          <a:prstGeom prst="rect">
            <a:avLst/>
          </a:prstGeom>
          <a:noFill/>
        </p:spPr>
        <p:txBody>
          <a:bodyPr wrap="square" lIns="0" rIns="0" tIns="0" bIns="0" anchor="t">
            <a:spAutoFit/>
          </a:bodyPr>
          <a:lstStyle/>
          <a:p>
            <a:pPr algn="l">
              <a:lnSpc>
                <a:spcPct val="110000"/>
              </a:lnSpc>
              <a:spcAft>
                <a:spcPts val="400"/>
              </a:spcAft>
            </a:pPr>
            <a:r>
              <a:rPr sz="850" b="0" i="0">
                <a:solidFill>
                  <a:srgbClr val="5A5D63"/>
                </a:solidFill>
                <a:latin typeface="Inter"/>
              </a:rPr>
              <a:t>Sources: COMPANY.md, research/pricing-research.md, company/decisions-log.md D6, D8.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EEE6"/>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10000"/>
              </a:lnSpc>
              <a:spcAft>
                <a:spcPts val="400"/>
              </a:spcAft>
            </a:pPr>
            <a:r>
              <a:rPr sz="1100" b="1" i="0">
                <a:solidFill>
                  <a:srgbClr val="C4623A"/>
                </a:solidFill>
                <a:latin typeface="Inter"/>
              </a:rPr>
              <a:t>UNIT ECONOMICS</a:t>
            </a:r>
          </a:p>
        </p:txBody>
      </p:sp>
      <p:sp>
        <p:nvSpPr>
          <p:cNvPr id="3" name="TextBox 2"/>
          <p:cNvSpPr txBox="1"/>
          <p:nvPr/>
        </p:nvSpPr>
        <p:spPr>
          <a:xfrm>
            <a:off x="548640" y="658368"/>
            <a:ext cx="11064240" cy="822960"/>
          </a:xfrm>
          <a:prstGeom prst="rect">
            <a:avLst/>
          </a:prstGeom>
          <a:noFill/>
        </p:spPr>
        <p:txBody>
          <a:bodyPr wrap="square" lIns="0" rIns="0" tIns="0" bIns="0" anchor="t">
            <a:spAutoFit/>
          </a:bodyPr>
          <a:lstStyle/>
          <a:p>
            <a:pPr algn="l">
              <a:lnSpc>
                <a:spcPct val="100000"/>
              </a:lnSpc>
              <a:spcAft>
                <a:spcPts val="400"/>
              </a:spcAft>
            </a:pPr>
            <a:r>
              <a:rPr sz="3000" b="0" i="0">
                <a:solidFill>
                  <a:srgbClr val="14161A"/>
                </a:solidFill>
                <a:latin typeface="Fraunces"/>
              </a:rPr>
              <a:t>We found a hardware-margin problem early, and changed the product to fix it.</a:t>
            </a:r>
          </a:p>
        </p:txBody>
      </p:sp>
      <p:pic>
        <p:nvPicPr>
          <p:cNvPr id="4" name="Picture 3" descr="lore-lockup-horizontal-ink-1600w.png"/>
          <p:cNvPicPr>
            <a:picLocks noChangeAspect="1"/>
          </p:cNvPicPr>
          <p:nvPr/>
        </p:nvPicPr>
        <p:blipFill>
          <a:blip r:embed="rId2"/>
          <a:stretch>
            <a:fillRect/>
          </a:stretch>
        </p:blipFill>
        <p:spPr>
          <a:xfrm>
            <a:off x="548640" y="6429032"/>
            <a:ext cx="822960" cy="199567"/>
          </a:xfrm>
          <a:prstGeom prst="rect">
            <a:avLst/>
          </a:prstGeom>
        </p:spPr>
      </p:pic>
      <p:sp>
        <p:nvSpPr>
          <p:cNvPr id="5" name="TextBox 4"/>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6" name="TextBox 5"/>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11</a:t>
            </a:r>
          </a:p>
        </p:txBody>
      </p:sp>
      <p:sp>
        <p:nvSpPr>
          <p:cNvPr id="7" name="Rectangle 6"/>
          <p:cNvSpPr/>
          <p:nvPr/>
        </p:nvSpPr>
        <p:spPr>
          <a:xfrm>
            <a:off x="548640" y="1600200"/>
            <a:ext cx="11064240" cy="438912"/>
          </a:xfrm>
          <a:prstGeom prst="rect">
            <a:avLst/>
          </a:prstGeom>
          <a:solidFill>
            <a:srgbClr val="14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00200"/>
            <a:ext cx="2011680" cy="438912"/>
          </a:xfrm>
          <a:prstGeom prst="rect">
            <a:avLst/>
          </a:prstGeom>
          <a:noFill/>
        </p:spPr>
        <p:txBody>
          <a:bodyPr wrap="square" lIns="0" rIns="0" tIns="0" bIns="0" anchor="ctr">
            <a:spAutoFit/>
          </a:bodyPr>
          <a:lstStyle/>
          <a:p>
            <a:pPr algn="l">
              <a:lnSpc>
                <a:spcPct val="110000"/>
              </a:lnSpc>
              <a:spcAft>
                <a:spcPts val="400"/>
              </a:spcAft>
            </a:pPr>
            <a:r>
              <a:rPr sz="1050" b="1" i="0">
                <a:solidFill>
                  <a:srgbClr val="F3EEE6"/>
                </a:solidFill>
                <a:latin typeface="Inter"/>
              </a:rPr>
              <a:t>Landed COGS @10k units</a:t>
            </a:r>
          </a:p>
        </p:txBody>
      </p:sp>
      <p:sp>
        <p:nvSpPr>
          <p:cNvPr id="9" name="TextBox 8"/>
          <p:cNvSpPr txBox="1"/>
          <p:nvPr/>
        </p:nvSpPr>
        <p:spPr>
          <a:xfrm>
            <a:off x="2788920" y="1600200"/>
            <a:ext cx="2468880" cy="438912"/>
          </a:xfrm>
          <a:prstGeom prst="rect">
            <a:avLst/>
          </a:prstGeom>
          <a:noFill/>
        </p:spPr>
        <p:txBody>
          <a:bodyPr wrap="square" lIns="0" rIns="0" tIns="0" bIns="0" anchor="ctr">
            <a:spAutoFit/>
          </a:bodyPr>
          <a:lstStyle/>
          <a:p>
            <a:pPr algn="r">
              <a:lnSpc>
                <a:spcPct val="110000"/>
              </a:lnSpc>
              <a:spcAft>
                <a:spcPts val="400"/>
              </a:spcAft>
            </a:pPr>
            <a:r>
              <a:rPr sz="1050" b="1" i="0">
                <a:solidFill>
                  <a:srgbClr val="F3EEE6"/>
                </a:solidFill>
                <a:latin typeface="Inter"/>
              </a:rPr>
              <a:t>Before (full spec)</a:t>
            </a:r>
          </a:p>
        </p:txBody>
      </p:sp>
      <p:sp>
        <p:nvSpPr>
          <p:cNvPr id="10" name="TextBox 9"/>
          <p:cNvSpPr txBox="1"/>
          <p:nvPr/>
        </p:nvSpPr>
        <p:spPr>
          <a:xfrm>
            <a:off x="5394960" y="1600200"/>
            <a:ext cx="2468880" cy="438912"/>
          </a:xfrm>
          <a:prstGeom prst="rect">
            <a:avLst/>
          </a:prstGeom>
          <a:noFill/>
        </p:spPr>
        <p:txBody>
          <a:bodyPr wrap="square" lIns="0" rIns="0" tIns="0" bIns="0" anchor="ctr">
            <a:spAutoFit/>
          </a:bodyPr>
          <a:lstStyle/>
          <a:p>
            <a:pPr algn="r">
              <a:lnSpc>
                <a:spcPct val="110000"/>
              </a:lnSpc>
              <a:spcAft>
                <a:spcPts val="400"/>
              </a:spcAft>
            </a:pPr>
            <a:r>
              <a:rPr sz="1050" b="1" i="0">
                <a:solidFill>
                  <a:srgbClr val="F3EEE6"/>
                </a:solidFill>
                <a:latin typeface="Inter"/>
              </a:rPr>
              <a:t>Decision</a:t>
            </a:r>
          </a:p>
        </p:txBody>
      </p:sp>
      <p:sp>
        <p:nvSpPr>
          <p:cNvPr id="11" name="TextBox 10"/>
          <p:cNvSpPr txBox="1"/>
          <p:nvPr/>
        </p:nvSpPr>
        <p:spPr>
          <a:xfrm>
            <a:off x="8001000" y="1600200"/>
            <a:ext cx="3566160" cy="438912"/>
          </a:xfrm>
          <a:prstGeom prst="rect">
            <a:avLst/>
          </a:prstGeom>
          <a:noFill/>
        </p:spPr>
        <p:txBody>
          <a:bodyPr wrap="square" lIns="0" rIns="0" tIns="0" bIns="0" anchor="ctr">
            <a:spAutoFit/>
          </a:bodyPr>
          <a:lstStyle/>
          <a:p>
            <a:pPr algn="r">
              <a:lnSpc>
                <a:spcPct val="110000"/>
              </a:lnSpc>
              <a:spcAft>
                <a:spcPts val="400"/>
              </a:spcAft>
            </a:pPr>
            <a:r>
              <a:rPr sz="1050" b="1" i="0">
                <a:solidFill>
                  <a:srgbClr val="F3EEE6"/>
                </a:solidFill>
                <a:latin typeface="Inter"/>
              </a:rPr>
              <a:t>After</a:t>
            </a:r>
          </a:p>
        </p:txBody>
      </p:sp>
      <p:sp>
        <p:nvSpPr>
          <p:cNvPr id="12" name="TextBox 11"/>
          <p:cNvSpPr txBox="1"/>
          <p:nvPr/>
        </p:nvSpPr>
        <p:spPr>
          <a:xfrm>
            <a:off x="640080" y="2039112"/>
            <a:ext cx="2011680" cy="438912"/>
          </a:xfrm>
          <a:prstGeom prst="rect">
            <a:avLst/>
          </a:prstGeom>
          <a:noFill/>
        </p:spPr>
        <p:txBody>
          <a:bodyPr wrap="square" lIns="0" rIns="0" tIns="0" bIns="0" anchor="ctr">
            <a:spAutoFit/>
          </a:bodyPr>
          <a:lstStyle/>
          <a:p>
            <a:pPr algn="l">
              <a:lnSpc>
                <a:spcPct val="110000"/>
              </a:lnSpc>
              <a:spcAft>
                <a:spcPts val="400"/>
              </a:spcAft>
            </a:pPr>
            <a:r>
              <a:rPr sz="1050" b="1" i="0">
                <a:solidFill>
                  <a:srgbClr val="14161A"/>
                </a:solidFill>
                <a:latin typeface="Inter"/>
              </a:rPr>
              <a:t>Pebble $149</a:t>
            </a:r>
          </a:p>
        </p:txBody>
      </p:sp>
      <p:sp>
        <p:nvSpPr>
          <p:cNvPr id="13" name="TextBox 12"/>
          <p:cNvSpPr txBox="1"/>
          <p:nvPr/>
        </p:nvSpPr>
        <p:spPr>
          <a:xfrm>
            <a:off x="2788920" y="2039112"/>
            <a:ext cx="246888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$157 incl. NRE → −5% GM</a:t>
            </a:r>
          </a:p>
        </p:txBody>
      </p:sp>
      <p:sp>
        <p:nvSpPr>
          <p:cNvPr id="14" name="TextBox 13"/>
          <p:cNvSpPr txBox="1"/>
          <p:nvPr/>
        </p:nvSpPr>
        <p:spPr>
          <a:xfrm>
            <a:off x="5394960" y="2039112"/>
            <a:ext cx="246888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D10: 'Lite' (AI via phone)</a:t>
            </a:r>
          </a:p>
        </p:txBody>
      </p:sp>
      <p:sp>
        <p:nvSpPr>
          <p:cNvPr id="15" name="TextBox 14"/>
          <p:cNvSpPr txBox="1"/>
          <p:nvPr/>
        </p:nvSpPr>
        <p:spPr>
          <a:xfrm>
            <a:off x="8001000" y="2039112"/>
            <a:ext cx="3566160" cy="438912"/>
          </a:xfrm>
          <a:prstGeom prst="rect">
            <a:avLst/>
          </a:prstGeom>
          <a:noFill/>
        </p:spPr>
        <p:txBody>
          <a:bodyPr wrap="square" lIns="0" rIns="0" tIns="0" bIns="0" anchor="ctr">
            <a:spAutoFit/>
          </a:bodyPr>
          <a:lstStyle/>
          <a:p>
            <a:pPr algn="r">
              <a:lnSpc>
                <a:spcPct val="110000"/>
              </a:lnSpc>
              <a:spcAft>
                <a:spcPts val="400"/>
              </a:spcAft>
            </a:pPr>
            <a:r>
              <a:rPr sz="1050" b="1" i="0">
                <a:solidFill>
                  <a:srgbClr val="C4623A"/>
                </a:solidFill>
                <a:latin typeface="Inter"/>
              </a:rPr>
              <a:t>~$90 → 39% GM</a:t>
            </a:r>
          </a:p>
        </p:txBody>
      </p:sp>
      <p:sp>
        <p:nvSpPr>
          <p:cNvPr id="16" name="Rectangle 15"/>
          <p:cNvSpPr/>
          <p:nvPr/>
        </p:nvSpPr>
        <p:spPr>
          <a:xfrm>
            <a:off x="548640" y="2478024"/>
            <a:ext cx="11064240" cy="438912"/>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2478024"/>
            <a:ext cx="2011680" cy="438912"/>
          </a:xfrm>
          <a:prstGeom prst="rect">
            <a:avLst/>
          </a:prstGeom>
          <a:noFill/>
        </p:spPr>
        <p:txBody>
          <a:bodyPr wrap="square" lIns="0" rIns="0" tIns="0" bIns="0" anchor="ctr">
            <a:spAutoFit/>
          </a:bodyPr>
          <a:lstStyle/>
          <a:p>
            <a:pPr algn="l">
              <a:lnSpc>
                <a:spcPct val="110000"/>
              </a:lnSpc>
              <a:spcAft>
                <a:spcPts val="400"/>
              </a:spcAft>
            </a:pPr>
            <a:r>
              <a:rPr sz="1050" b="1" i="0">
                <a:solidFill>
                  <a:srgbClr val="14161A"/>
                </a:solidFill>
                <a:latin typeface="Inter"/>
              </a:rPr>
              <a:t>Square $299</a:t>
            </a:r>
          </a:p>
        </p:txBody>
      </p:sp>
      <p:sp>
        <p:nvSpPr>
          <p:cNvPr id="18" name="TextBox 17"/>
          <p:cNvSpPr txBox="1"/>
          <p:nvPr/>
        </p:nvSpPr>
        <p:spPr>
          <a:xfrm>
            <a:off x="2788920" y="2478024"/>
            <a:ext cx="246888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$299 incl. NRE → 0% GM</a:t>
            </a:r>
          </a:p>
        </p:txBody>
      </p:sp>
      <p:sp>
        <p:nvSpPr>
          <p:cNvPr id="19" name="TextBox 18"/>
          <p:cNvSpPr txBox="1"/>
          <p:nvPr/>
        </p:nvSpPr>
        <p:spPr>
          <a:xfrm>
            <a:off x="5394960" y="2478024"/>
            <a:ext cx="246888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D11: LTE Cat-1bis, cost-down</a:t>
            </a:r>
          </a:p>
        </p:txBody>
      </p:sp>
      <p:sp>
        <p:nvSpPr>
          <p:cNvPr id="20" name="TextBox 19"/>
          <p:cNvSpPr txBox="1"/>
          <p:nvPr/>
        </p:nvSpPr>
        <p:spPr>
          <a:xfrm>
            <a:off x="8001000" y="2478024"/>
            <a:ext cx="3566160" cy="438912"/>
          </a:xfrm>
          <a:prstGeom prst="rect">
            <a:avLst/>
          </a:prstGeom>
          <a:noFill/>
        </p:spPr>
        <p:txBody>
          <a:bodyPr wrap="square" lIns="0" rIns="0" tIns="0" bIns="0" anchor="ctr">
            <a:spAutoFit/>
          </a:bodyPr>
          <a:lstStyle/>
          <a:p>
            <a:pPr algn="r">
              <a:lnSpc>
                <a:spcPct val="110000"/>
              </a:lnSpc>
              <a:spcAft>
                <a:spcPts val="400"/>
              </a:spcAft>
            </a:pPr>
            <a:r>
              <a:rPr sz="1050" b="1" i="0">
                <a:solidFill>
                  <a:srgbClr val="C4623A"/>
                </a:solidFill>
                <a:latin typeface="Inter"/>
              </a:rPr>
              <a:t>Target ≤$240 by unit 10k; $329 fallback</a:t>
            </a:r>
          </a:p>
        </p:txBody>
      </p:sp>
      <p:sp>
        <p:nvSpPr>
          <p:cNvPr id="21" name="TextBox 20"/>
          <p:cNvSpPr txBox="1"/>
          <p:nvPr/>
        </p:nvSpPr>
        <p:spPr>
          <a:xfrm>
            <a:off x="640080" y="2916936"/>
            <a:ext cx="2011680" cy="438912"/>
          </a:xfrm>
          <a:prstGeom prst="rect">
            <a:avLst/>
          </a:prstGeom>
          <a:noFill/>
        </p:spPr>
        <p:txBody>
          <a:bodyPr wrap="square" lIns="0" rIns="0" tIns="0" bIns="0" anchor="ctr">
            <a:spAutoFit/>
          </a:bodyPr>
          <a:lstStyle/>
          <a:p>
            <a:pPr algn="l">
              <a:lnSpc>
                <a:spcPct val="110000"/>
              </a:lnSpc>
              <a:spcAft>
                <a:spcPts val="400"/>
              </a:spcAft>
            </a:pPr>
            <a:r>
              <a:rPr sz="1050" b="1" i="0">
                <a:solidFill>
                  <a:srgbClr val="14161A"/>
                </a:solidFill>
                <a:latin typeface="Inter"/>
              </a:rPr>
              <a:t>Atlas $599</a:t>
            </a:r>
          </a:p>
        </p:txBody>
      </p:sp>
      <p:sp>
        <p:nvSpPr>
          <p:cNvPr id="22" name="TextBox 21"/>
          <p:cNvSpPr txBox="1"/>
          <p:nvPr/>
        </p:nvSpPr>
        <p:spPr>
          <a:xfrm>
            <a:off x="2788920" y="2916936"/>
            <a:ext cx="246888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$413 incl. NRE → 25% at $549</a:t>
            </a:r>
          </a:p>
        </p:txBody>
      </p:sp>
      <p:sp>
        <p:nvSpPr>
          <p:cNvPr id="23" name="TextBox 22"/>
          <p:cNvSpPr txBox="1"/>
          <p:nvPr/>
        </p:nvSpPr>
        <p:spPr>
          <a:xfrm>
            <a:off x="5394960" y="2916936"/>
            <a:ext cx="246888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D8 price $599; D12 13.5 mm</a:t>
            </a:r>
          </a:p>
        </p:txBody>
      </p:sp>
      <p:sp>
        <p:nvSpPr>
          <p:cNvPr id="24" name="TextBox 23"/>
          <p:cNvSpPr txBox="1"/>
          <p:nvPr/>
        </p:nvSpPr>
        <p:spPr>
          <a:xfrm>
            <a:off x="8001000" y="2916936"/>
            <a:ext cx="3566160" cy="438912"/>
          </a:xfrm>
          <a:prstGeom prst="rect">
            <a:avLst/>
          </a:prstGeom>
          <a:noFill/>
        </p:spPr>
        <p:txBody>
          <a:bodyPr wrap="square" lIns="0" rIns="0" tIns="0" bIns="0" anchor="ctr">
            <a:spAutoFit/>
          </a:bodyPr>
          <a:lstStyle/>
          <a:p>
            <a:pPr algn="r">
              <a:lnSpc>
                <a:spcPct val="110000"/>
              </a:lnSpc>
              <a:spcAft>
                <a:spcPts val="400"/>
              </a:spcAft>
            </a:pPr>
            <a:r>
              <a:rPr sz="1050" b="1" i="0">
                <a:solidFill>
                  <a:srgbClr val="C4623A"/>
                </a:solidFill>
                <a:latin typeface="Inter"/>
              </a:rPr>
              <a:t>Margin engine</a:t>
            </a:r>
          </a:p>
        </p:txBody>
      </p:sp>
      <p:sp>
        <p:nvSpPr>
          <p:cNvPr id="25" name="Rectangle 24"/>
          <p:cNvSpPr/>
          <p:nvPr/>
        </p:nvSpPr>
        <p:spPr>
          <a:xfrm>
            <a:off x="548640" y="3355848"/>
            <a:ext cx="11064240" cy="438912"/>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355848"/>
            <a:ext cx="2011680" cy="438912"/>
          </a:xfrm>
          <a:prstGeom prst="rect">
            <a:avLst/>
          </a:prstGeom>
          <a:noFill/>
        </p:spPr>
        <p:txBody>
          <a:bodyPr wrap="square" lIns="0" rIns="0" tIns="0" bIns="0" anchor="ctr">
            <a:spAutoFit/>
          </a:bodyPr>
          <a:lstStyle/>
          <a:p>
            <a:pPr algn="l">
              <a:lnSpc>
                <a:spcPct val="110000"/>
              </a:lnSpc>
              <a:spcAft>
                <a:spcPts val="400"/>
              </a:spcAft>
            </a:pPr>
            <a:r>
              <a:rPr sz="1050" b="1" i="0">
                <a:solidFill>
                  <a:srgbClr val="14161A"/>
                </a:solidFill>
                <a:latin typeface="Inter"/>
              </a:rPr>
              <a:t>Any SKU, China FATP</a:t>
            </a:r>
          </a:p>
        </p:txBody>
      </p:sp>
      <p:sp>
        <p:nvSpPr>
          <p:cNvPr id="27" name="TextBox 26"/>
          <p:cNvSpPr txBox="1"/>
          <p:nvPr/>
        </p:nvSpPr>
        <p:spPr>
          <a:xfrm>
            <a:off x="2788920" y="3355848"/>
            <a:ext cx="246888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Square $343 landed (tariffs)</a:t>
            </a:r>
          </a:p>
        </p:txBody>
      </p:sp>
      <p:sp>
        <p:nvSpPr>
          <p:cNvPr id="28" name="TextBox 27"/>
          <p:cNvSpPr txBox="1"/>
          <p:nvPr/>
        </p:nvSpPr>
        <p:spPr>
          <a:xfrm>
            <a:off x="5394960" y="3355848"/>
            <a:ext cx="246888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D13: Vietnam / Malaysia</a:t>
            </a:r>
          </a:p>
        </p:txBody>
      </p:sp>
      <p:sp>
        <p:nvSpPr>
          <p:cNvPr id="29" name="TextBox 28"/>
          <p:cNvSpPr txBox="1"/>
          <p:nvPr/>
        </p:nvSpPr>
        <p:spPr>
          <a:xfrm>
            <a:off x="8001000" y="3355848"/>
            <a:ext cx="3566160" cy="438912"/>
          </a:xfrm>
          <a:prstGeom prst="rect">
            <a:avLst/>
          </a:prstGeom>
          <a:noFill/>
        </p:spPr>
        <p:txBody>
          <a:bodyPr wrap="square" lIns="0" rIns="0" tIns="0" bIns="0" anchor="ctr">
            <a:spAutoFit/>
          </a:bodyPr>
          <a:lstStyle/>
          <a:p>
            <a:pPr algn="r">
              <a:lnSpc>
                <a:spcPct val="110000"/>
              </a:lnSpc>
              <a:spcAft>
                <a:spcPts val="400"/>
              </a:spcAft>
            </a:pPr>
            <a:r>
              <a:rPr sz="1050" b="1" i="0">
                <a:solidFill>
                  <a:srgbClr val="C4623A"/>
                </a:solidFill>
                <a:latin typeface="Inter"/>
              </a:rPr>
              <a:t>0% duty assumed</a:t>
            </a:r>
          </a:p>
        </p:txBody>
      </p:sp>
      <p:sp>
        <p:nvSpPr>
          <p:cNvPr id="30" name="Rectangle 29"/>
          <p:cNvSpPr/>
          <p:nvPr/>
        </p:nvSpPr>
        <p:spPr>
          <a:xfrm>
            <a:off x="548640" y="3794760"/>
            <a:ext cx="11064240" cy="9000"/>
          </a:xfrm>
          <a:prstGeom prst="rect">
            <a:avLst/>
          </a:prstGeom>
          <a:solidFill>
            <a:srgbClr val="DDD5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3931920"/>
            <a:ext cx="6675120" cy="2103120"/>
          </a:xfrm>
          <a:prstGeom prst="rect">
            <a:avLst/>
          </a:prstGeom>
          <a:solidFill>
            <a:srgbClr val="FFFFFF"/>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unit_economics_waterfall.png"/>
          <p:cNvPicPr>
            <a:picLocks noChangeAspect="1"/>
          </p:cNvPicPr>
          <p:nvPr/>
        </p:nvPicPr>
        <p:blipFill>
          <a:blip r:embed="rId3"/>
          <a:stretch>
            <a:fillRect/>
          </a:stretch>
        </p:blipFill>
        <p:spPr>
          <a:xfrm>
            <a:off x="1143000" y="3977639"/>
            <a:ext cx="5486400" cy="2011680"/>
          </a:xfrm>
          <a:prstGeom prst="rect">
            <a:avLst/>
          </a:prstGeom>
        </p:spPr>
      </p:pic>
      <p:sp>
        <p:nvSpPr>
          <p:cNvPr id="33" name="TextBox 32"/>
          <p:cNvSpPr txBox="1"/>
          <p:nvPr/>
        </p:nvSpPr>
        <p:spPr>
          <a:xfrm>
            <a:off x="7406640" y="3931920"/>
            <a:ext cx="4251960" cy="2103120"/>
          </a:xfrm>
          <a:prstGeom prst="rect">
            <a:avLst/>
          </a:prstGeom>
          <a:noFill/>
        </p:spPr>
        <p:txBody>
          <a:bodyPr wrap="square" lIns="0" rIns="0" tIns="0" bIns="0" anchor="t">
            <a:spAutoFit/>
          </a:bodyPr>
          <a:lstStyle/>
          <a:p>
            <a:pPr>
              <a:lnSpc>
                <a:spcPct val="112000"/>
              </a:lnSpc>
              <a:spcAft>
                <a:spcPts val="600"/>
              </a:spcAft>
            </a:pPr>
            <a:r>
              <a:rPr sz="1100" b="1">
                <a:solidFill>
                  <a:srgbClr val="14161A"/>
                </a:solidFill>
                <a:latin typeface="Inter"/>
              </a:rPr>
              <a:t>DTC hardware GM (H2-2028 cost): </a:t>
            </a:r>
            <a:r>
              <a:rPr sz="1100" b="0">
                <a:solidFill>
                  <a:srgbClr val="5A5D63"/>
                </a:solidFill>
                <a:latin typeface="Inter"/>
              </a:rPr>
              <a:t>Pebble 42% · Square 23% · Atlas 37%. At launch, before the D11 cost-down, Square is only 7%.</a:t>
            </a:r>
          </a:p>
          <a:p>
            <a:pPr>
              <a:lnSpc>
                <a:spcPct val="112000"/>
              </a:lnSpc>
              <a:spcAft>
                <a:spcPts val="600"/>
              </a:spcAft>
            </a:pPr>
            <a:r>
              <a:rPr sz="1100" b="1">
                <a:solidFill>
                  <a:srgbClr val="14161A"/>
                </a:solidFill>
                <a:latin typeface="Inter"/>
              </a:rPr>
              <a:t>Lifetime contribution per device: </a:t>
            </a:r>
            <a:r>
              <a:rPr sz="1100" b="0">
                <a:solidFill>
                  <a:srgbClr val="5A5D63"/>
                </a:solidFill>
                <a:latin typeface="Inter"/>
              </a:rPr>
              <a:t>$42 / $57 / $211 incl. LORE Pass, accessories and affiliate, after $60 paid CAC.</a:t>
            </a:r>
          </a:p>
          <a:p>
            <a:pPr>
              <a:lnSpc>
                <a:spcPct val="112000"/>
              </a:lnSpc>
              <a:spcAft>
                <a:spcPts val="600"/>
              </a:spcAft>
            </a:pPr>
            <a:r>
              <a:rPr sz="1100" b="1">
                <a:solidFill>
                  <a:srgbClr val="14161A"/>
                </a:solidFill>
                <a:latin typeface="Inter"/>
              </a:rPr>
              <a:t>LORE Pass GM ≈69% </a:t>
            </a:r>
            <a:r>
              <a:rPr sz="1100" b="0">
                <a:solidFill>
                  <a:srgbClr val="5A5D63"/>
                </a:solidFill>
                <a:latin typeface="Inter"/>
              </a:rPr>
              <a:t>(2028) → ≈75% (2031); cloud + data ≈ $2.02 per paid user-month.</a:t>
            </a:r>
          </a:p>
          <a:p>
            <a:pPr>
              <a:lnSpc>
                <a:spcPct val="112000"/>
              </a:lnSpc>
              <a:spcAft>
                <a:spcPts val="600"/>
              </a:spcAft>
            </a:pPr>
            <a:r>
              <a:rPr sz="1100" b="1">
                <a:solidFill>
                  <a:srgbClr val="14161A"/>
                </a:solidFill>
                <a:latin typeface="Inter"/>
              </a:rPr>
              <a:t>Biggest swing: </a:t>
            </a:r>
            <a:r>
              <a:rPr sz="1100" b="0">
                <a:solidFill>
                  <a:srgbClr val="5A5D63"/>
                </a:solidFill>
                <a:latin typeface="Inter"/>
              </a:rPr>
              <a:t>if the Square cost-down fails, FY31 EBITDA is −$8.3M not +$0.8M. DVT gate Sep-2027: &gt;$205 ex-NRE → price $329. Square stays out of retail until then.</a:t>
            </a:r>
          </a:p>
        </p:txBody>
      </p:sp>
      <p:sp>
        <p:nvSpPr>
          <p:cNvPr id="34" name="TextBox 33"/>
          <p:cNvSpPr txBox="1"/>
          <p:nvPr/>
        </p:nvSpPr>
        <p:spPr>
          <a:xfrm>
            <a:off x="548640" y="6108192"/>
            <a:ext cx="11064240" cy="274320"/>
          </a:xfrm>
          <a:prstGeom prst="rect">
            <a:avLst/>
          </a:prstGeom>
          <a:noFill/>
        </p:spPr>
        <p:txBody>
          <a:bodyPr wrap="square" lIns="0" rIns="0" tIns="0" bIns="0" anchor="t">
            <a:spAutoFit/>
          </a:bodyPr>
          <a:lstStyle/>
          <a:p>
            <a:pPr algn="l">
              <a:lnSpc>
                <a:spcPct val="110000"/>
              </a:lnSpc>
              <a:spcAft>
                <a:spcPts val="400"/>
              </a:spcAft>
            </a:pPr>
            <a:r>
              <a:rPr sz="850" b="0" i="0">
                <a:solidFill>
                  <a:srgbClr val="5A5D63"/>
                </a:solidFill>
                <a:latin typeface="Inter"/>
              </a:rPr>
              <a:t>Sources: hardware/README.md + hardware/bom/BOM.md (estimates, 2026 DRAM prices), finance/unit-economics.md, company/decisions-log.md D10-D13.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EEE6"/>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10000"/>
              </a:lnSpc>
              <a:spcAft>
                <a:spcPts val="400"/>
              </a:spcAft>
            </a:pPr>
            <a:r>
              <a:rPr sz="1100" b="1" i="0">
                <a:solidFill>
                  <a:srgbClr val="C4623A"/>
                </a:solidFill>
                <a:latin typeface="Inter"/>
              </a:rPr>
              <a:t>GO-TO-MARKET AND KICKSTARTER</a:t>
            </a:r>
          </a:p>
        </p:txBody>
      </p:sp>
      <p:sp>
        <p:nvSpPr>
          <p:cNvPr id="3" name="TextBox 2"/>
          <p:cNvSpPr txBox="1"/>
          <p:nvPr/>
        </p:nvSpPr>
        <p:spPr>
          <a:xfrm>
            <a:off x="548640" y="658368"/>
            <a:ext cx="11064240" cy="822960"/>
          </a:xfrm>
          <a:prstGeom prst="rect">
            <a:avLst/>
          </a:prstGeom>
          <a:noFill/>
        </p:spPr>
        <p:txBody>
          <a:bodyPr wrap="square" lIns="0" rIns="0" tIns="0" bIns="0" anchor="t">
            <a:spAutoFit/>
          </a:bodyPr>
          <a:lstStyle/>
          <a:p>
            <a:pPr algn="l">
              <a:lnSpc>
                <a:spcPct val="100000"/>
              </a:lnSpc>
              <a:spcAft>
                <a:spcPts val="400"/>
              </a:spcAft>
            </a:pPr>
            <a:r>
              <a:rPr sz="3000" b="0" i="0">
                <a:solidFill>
                  <a:srgbClr val="14161A"/>
                </a:solidFill>
                <a:latin typeface="Fraunces"/>
              </a:rPr>
              <a:t>Stories sell on social; safety justifies the purchase; Kickstarter proves demand.</a:t>
            </a:r>
          </a:p>
        </p:txBody>
      </p:sp>
      <p:pic>
        <p:nvPicPr>
          <p:cNvPr id="4" name="Picture 3" descr="lore-lockup-horizontal-ink-1600w.png"/>
          <p:cNvPicPr>
            <a:picLocks noChangeAspect="1"/>
          </p:cNvPicPr>
          <p:nvPr/>
        </p:nvPicPr>
        <p:blipFill>
          <a:blip r:embed="rId2"/>
          <a:stretch>
            <a:fillRect/>
          </a:stretch>
        </p:blipFill>
        <p:spPr>
          <a:xfrm>
            <a:off x="548640" y="6429032"/>
            <a:ext cx="822960" cy="199567"/>
          </a:xfrm>
          <a:prstGeom prst="rect">
            <a:avLst/>
          </a:prstGeom>
        </p:spPr>
      </p:pic>
      <p:sp>
        <p:nvSpPr>
          <p:cNvPr id="5" name="TextBox 4"/>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6" name="TextBox 5"/>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12</a:t>
            </a:r>
          </a:p>
        </p:txBody>
      </p:sp>
      <p:sp>
        <p:nvSpPr>
          <p:cNvPr id="7" name="Rectangle 6"/>
          <p:cNvSpPr/>
          <p:nvPr/>
        </p:nvSpPr>
        <p:spPr>
          <a:xfrm>
            <a:off x="548640" y="1645920"/>
            <a:ext cx="1783080" cy="114300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737360"/>
            <a:ext cx="1554480" cy="274320"/>
          </a:xfrm>
          <a:prstGeom prst="rect">
            <a:avLst/>
          </a:prstGeom>
          <a:noFill/>
        </p:spPr>
        <p:txBody>
          <a:bodyPr wrap="square" lIns="0" rIns="0" tIns="0" bIns="0" anchor="t">
            <a:spAutoFit/>
          </a:bodyPr>
          <a:lstStyle/>
          <a:p>
            <a:pPr algn="l">
              <a:lnSpc>
                <a:spcPct val="110000"/>
              </a:lnSpc>
              <a:spcAft>
                <a:spcPts val="400"/>
              </a:spcAft>
            </a:pPr>
            <a:r>
              <a:rPr sz="950" b="1" i="0">
                <a:solidFill>
                  <a:srgbClr val="B8935A"/>
                </a:solidFill>
                <a:latin typeface="Inter"/>
              </a:rPr>
              <a:t>Nov 26-Jan 27</a:t>
            </a:r>
          </a:p>
        </p:txBody>
      </p:sp>
      <p:sp>
        <p:nvSpPr>
          <p:cNvPr id="9" name="TextBox 8"/>
          <p:cNvSpPr txBox="1"/>
          <p:nvPr/>
        </p:nvSpPr>
        <p:spPr>
          <a:xfrm>
            <a:off x="685800" y="1993392"/>
            <a:ext cx="1554480" cy="365760"/>
          </a:xfrm>
          <a:prstGeom prst="rect">
            <a:avLst/>
          </a:prstGeom>
          <a:noFill/>
        </p:spPr>
        <p:txBody>
          <a:bodyPr wrap="square" lIns="0" rIns="0" tIns="0" bIns="0" anchor="t">
            <a:spAutoFit/>
          </a:bodyPr>
          <a:lstStyle/>
          <a:p>
            <a:pPr algn="l">
              <a:lnSpc>
                <a:spcPct val="110000"/>
              </a:lnSpc>
              <a:spcAft>
                <a:spcPts val="400"/>
              </a:spcAft>
            </a:pPr>
            <a:r>
              <a:rPr sz="1400" b="1" i="0">
                <a:solidFill>
                  <a:srgbClr val="14161A"/>
                </a:solidFill>
                <a:latin typeface="Inter"/>
              </a:rPr>
              <a:t>Waitlist</a:t>
            </a:r>
          </a:p>
        </p:txBody>
      </p:sp>
      <p:sp>
        <p:nvSpPr>
          <p:cNvPr id="10" name="TextBox 9"/>
          <p:cNvSpPr txBox="1"/>
          <p:nvPr/>
        </p:nvSpPr>
        <p:spPr>
          <a:xfrm>
            <a:off x="685800" y="2359152"/>
            <a:ext cx="1554480" cy="365760"/>
          </a:xfrm>
          <a:prstGeom prst="rect">
            <a:avLst/>
          </a:prstGeom>
          <a:noFill/>
        </p:spPr>
        <p:txBody>
          <a:bodyPr wrap="square" lIns="0" rIns="0" tIns="0" bIns="0" anchor="t">
            <a:spAutoFit/>
          </a:bodyPr>
          <a:lstStyle/>
          <a:p>
            <a:pPr algn="l">
              <a:lnSpc>
                <a:spcPct val="110000"/>
              </a:lnSpc>
              <a:spcAft>
                <a:spcPts val="400"/>
              </a:spcAft>
            </a:pPr>
            <a:r>
              <a:rPr sz="1000" b="0" i="0">
                <a:solidFill>
                  <a:srgbClr val="5A5D63"/>
                </a:solidFill>
                <a:latin typeface="Inter"/>
              </a:rPr>
              <a:t>5k sign-ups</a:t>
            </a:r>
          </a:p>
        </p:txBody>
      </p:sp>
      <p:sp>
        <p:nvSpPr>
          <p:cNvPr id="11" name="Rectangle 10"/>
          <p:cNvSpPr/>
          <p:nvPr/>
        </p:nvSpPr>
        <p:spPr>
          <a:xfrm>
            <a:off x="2404872" y="1645920"/>
            <a:ext cx="1783080" cy="114300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42032" y="1737360"/>
            <a:ext cx="1554480" cy="274320"/>
          </a:xfrm>
          <a:prstGeom prst="rect">
            <a:avLst/>
          </a:prstGeom>
          <a:noFill/>
        </p:spPr>
        <p:txBody>
          <a:bodyPr wrap="square" lIns="0" rIns="0" tIns="0" bIns="0" anchor="t">
            <a:spAutoFit/>
          </a:bodyPr>
          <a:lstStyle/>
          <a:p>
            <a:pPr algn="l">
              <a:lnSpc>
                <a:spcPct val="110000"/>
              </a:lnSpc>
              <a:spcAft>
                <a:spcPts val="400"/>
              </a:spcAft>
            </a:pPr>
            <a:r>
              <a:rPr sz="950" b="1" i="0">
                <a:solidFill>
                  <a:srgbClr val="B8935A"/>
                </a:solidFill>
                <a:latin typeface="Inter"/>
              </a:rPr>
              <a:t>Feb-Apr 27</a:t>
            </a:r>
          </a:p>
        </p:txBody>
      </p:sp>
      <p:sp>
        <p:nvSpPr>
          <p:cNvPr id="13" name="TextBox 12"/>
          <p:cNvSpPr txBox="1"/>
          <p:nvPr/>
        </p:nvSpPr>
        <p:spPr>
          <a:xfrm>
            <a:off x="2542032" y="1993392"/>
            <a:ext cx="1554480" cy="365760"/>
          </a:xfrm>
          <a:prstGeom prst="rect">
            <a:avLst/>
          </a:prstGeom>
          <a:noFill/>
        </p:spPr>
        <p:txBody>
          <a:bodyPr wrap="square" lIns="0" rIns="0" tIns="0" bIns="0" anchor="t">
            <a:spAutoFit/>
          </a:bodyPr>
          <a:lstStyle/>
          <a:p>
            <a:pPr algn="l">
              <a:lnSpc>
                <a:spcPct val="110000"/>
              </a:lnSpc>
              <a:spcAft>
                <a:spcPts val="400"/>
              </a:spcAft>
            </a:pPr>
            <a:r>
              <a:rPr sz="1400" b="1" i="0">
                <a:solidFill>
                  <a:srgbClr val="14161A"/>
                </a:solidFill>
                <a:latin typeface="Inter"/>
              </a:rPr>
              <a:t>Rome beta</a:t>
            </a:r>
          </a:p>
        </p:txBody>
      </p:sp>
      <p:sp>
        <p:nvSpPr>
          <p:cNvPr id="14" name="TextBox 13"/>
          <p:cNvSpPr txBox="1"/>
          <p:nvPr/>
        </p:nvSpPr>
        <p:spPr>
          <a:xfrm>
            <a:off x="2542032" y="2359152"/>
            <a:ext cx="1554480" cy="365760"/>
          </a:xfrm>
          <a:prstGeom prst="rect">
            <a:avLst/>
          </a:prstGeom>
          <a:noFill/>
        </p:spPr>
        <p:txBody>
          <a:bodyPr wrap="square" lIns="0" rIns="0" tIns="0" bIns="0" anchor="t">
            <a:spAutoFit/>
          </a:bodyPr>
          <a:lstStyle/>
          <a:p>
            <a:pPr algn="l">
              <a:lnSpc>
                <a:spcPct val="110000"/>
              </a:lnSpc>
              <a:spcAft>
                <a:spcPts val="400"/>
              </a:spcAft>
            </a:pPr>
            <a:r>
              <a:rPr sz="1000" b="0" i="0">
                <a:solidFill>
                  <a:srgbClr val="5A5D63"/>
                </a:solidFill>
                <a:latin typeface="Inter"/>
              </a:rPr>
              <a:t>50 EVT units</a:t>
            </a:r>
          </a:p>
        </p:txBody>
      </p:sp>
      <p:sp>
        <p:nvSpPr>
          <p:cNvPr id="15" name="Rectangle 14"/>
          <p:cNvSpPr/>
          <p:nvPr/>
        </p:nvSpPr>
        <p:spPr>
          <a:xfrm>
            <a:off x="4261104" y="1645920"/>
            <a:ext cx="1783080" cy="114300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8264" y="1737360"/>
            <a:ext cx="1554480" cy="274320"/>
          </a:xfrm>
          <a:prstGeom prst="rect">
            <a:avLst/>
          </a:prstGeom>
          <a:noFill/>
        </p:spPr>
        <p:txBody>
          <a:bodyPr wrap="square" lIns="0" rIns="0" tIns="0" bIns="0" anchor="t">
            <a:spAutoFit/>
          </a:bodyPr>
          <a:lstStyle/>
          <a:p>
            <a:pPr algn="l">
              <a:lnSpc>
                <a:spcPct val="110000"/>
              </a:lnSpc>
              <a:spcAft>
                <a:spcPts val="400"/>
              </a:spcAft>
            </a:pPr>
            <a:r>
              <a:rPr sz="950" b="1" i="0">
                <a:solidFill>
                  <a:srgbClr val="B8935A"/>
                </a:solidFill>
                <a:latin typeface="Inter"/>
              </a:rPr>
              <a:t>Pre-launch</a:t>
            </a:r>
          </a:p>
        </p:txBody>
      </p:sp>
      <p:sp>
        <p:nvSpPr>
          <p:cNvPr id="17" name="TextBox 16"/>
          <p:cNvSpPr txBox="1"/>
          <p:nvPr/>
        </p:nvSpPr>
        <p:spPr>
          <a:xfrm>
            <a:off x="4398264" y="1993392"/>
            <a:ext cx="1554480" cy="365760"/>
          </a:xfrm>
          <a:prstGeom prst="rect">
            <a:avLst/>
          </a:prstGeom>
          <a:noFill/>
        </p:spPr>
        <p:txBody>
          <a:bodyPr wrap="square" lIns="0" rIns="0" tIns="0" bIns="0" anchor="t">
            <a:spAutoFit/>
          </a:bodyPr>
          <a:lstStyle/>
          <a:p>
            <a:pPr algn="l">
              <a:lnSpc>
                <a:spcPct val="110000"/>
              </a:lnSpc>
              <a:spcAft>
                <a:spcPts val="400"/>
              </a:spcAft>
            </a:pPr>
            <a:r>
              <a:rPr sz="1400" b="1" i="0">
                <a:solidFill>
                  <a:srgbClr val="14161A"/>
                </a:solidFill>
                <a:latin typeface="Inter"/>
              </a:rPr>
              <a:t>List + VIPs</a:t>
            </a:r>
          </a:p>
        </p:txBody>
      </p:sp>
      <p:sp>
        <p:nvSpPr>
          <p:cNvPr id="18" name="TextBox 17"/>
          <p:cNvSpPr txBox="1"/>
          <p:nvPr/>
        </p:nvSpPr>
        <p:spPr>
          <a:xfrm>
            <a:off x="4398264" y="2359152"/>
            <a:ext cx="1554480" cy="365760"/>
          </a:xfrm>
          <a:prstGeom prst="rect">
            <a:avLst/>
          </a:prstGeom>
          <a:noFill/>
        </p:spPr>
        <p:txBody>
          <a:bodyPr wrap="square" lIns="0" rIns="0" tIns="0" bIns="0" anchor="t">
            <a:spAutoFit/>
          </a:bodyPr>
          <a:lstStyle/>
          <a:p>
            <a:pPr algn="l">
              <a:lnSpc>
                <a:spcPct val="110000"/>
              </a:lnSpc>
              <a:spcAft>
                <a:spcPts val="400"/>
              </a:spcAft>
            </a:pPr>
            <a:r>
              <a:rPr sz="1000" b="0" i="0">
                <a:solidFill>
                  <a:srgbClr val="5A5D63"/>
                </a:solidFill>
                <a:latin typeface="Inter"/>
              </a:rPr>
              <a:t>20k emails, 2k $1 VIPs</a:t>
            </a:r>
          </a:p>
        </p:txBody>
      </p:sp>
      <p:sp>
        <p:nvSpPr>
          <p:cNvPr id="19" name="Rectangle 18"/>
          <p:cNvSpPr/>
          <p:nvPr/>
        </p:nvSpPr>
        <p:spPr>
          <a:xfrm>
            <a:off x="6117336" y="1645920"/>
            <a:ext cx="1783080" cy="1143000"/>
          </a:xfrm>
          <a:prstGeom prst="rect">
            <a:avLst/>
          </a:prstGeom>
          <a:solidFill>
            <a:srgbClr val="14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54496" y="1737360"/>
            <a:ext cx="1554480" cy="274320"/>
          </a:xfrm>
          <a:prstGeom prst="rect">
            <a:avLst/>
          </a:prstGeom>
          <a:noFill/>
        </p:spPr>
        <p:txBody>
          <a:bodyPr wrap="square" lIns="0" rIns="0" tIns="0" bIns="0" anchor="t">
            <a:spAutoFit/>
          </a:bodyPr>
          <a:lstStyle/>
          <a:p>
            <a:pPr algn="l">
              <a:lnSpc>
                <a:spcPct val="110000"/>
              </a:lnSpc>
              <a:spcAft>
                <a:spcPts val="400"/>
              </a:spcAft>
            </a:pPr>
            <a:r>
              <a:rPr sz="950" b="1" i="0">
                <a:solidFill>
                  <a:srgbClr val="B8935A"/>
                </a:solidFill>
                <a:latin typeface="Inter"/>
              </a:rPr>
              <a:t>25 May-24 Jun 27</a:t>
            </a:r>
          </a:p>
        </p:txBody>
      </p:sp>
      <p:sp>
        <p:nvSpPr>
          <p:cNvPr id="21" name="TextBox 20"/>
          <p:cNvSpPr txBox="1"/>
          <p:nvPr/>
        </p:nvSpPr>
        <p:spPr>
          <a:xfrm>
            <a:off x="6254496" y="1993392"/>
            <a:ext cx="1554480" cy="365760"/>
          </a:xfrm>
          <a:prstGeom prst="rect">
            <a:avLst/>
          </a:prstGeom>
          <a:noFill/>
        </p:spPr>
        <p:txBody>
          <a:bodyPr wrap="square" lIns="0" rIns="0" tIns="0" bIns="0" anchor="t">
            <a:spAutoFit/>
          </a:bodyPr>
          <a:lstStyle/>
          <a:p>
            <a:pPr algn="l">
              <a:lnSpc>
                <a:spcPct val="110000"/>
              </a:lnSpc>
              <a:spcAft>
                <a:spcPts val="400"/>
              </a:spcAft>
            </a:pPr>
            <a:r>
              <a:rPr sz="1400" b="1" i="0">
                <a:solidFill>
                  <a:srgbClr val="F3EEE6"/>
                </a:solidFill>
                <a:latin typeface="Inter"/>
              </a:rPr>
              <a:t>Kickstarter</a:t>
            </a:r>
          </a:p>
        </p:txBody>
      </p:sp>
      <p:sp>
        <p:nvSpPr>
          <p:cNvPr id="22" name="TextBox 21"/>
          <p:cNvSpPr txBox="1"/>
          <p:nvPr/>
        </p:nvSpPr>
        <p:spPr>
          <a:xfrm>
            <a:off x="6254496" y="2359152"/>
            <a:ext cx="1554480" cy="365760"/>
          </a:xfrm>
          <a:prstGeom prst="rect">
            <a:avLst/>
          </a:prstGeom>
          <a:noFill/>
        </p:spPr>
        <p:txBody>
          <a:bodyPr wrap="square" lIns="0" rIns="0" tIns="0" bIns="0" anchor="t">
            <a:spAutoFit/>
          </a:bodyPr>
          <a:lstStyle/>
          <a:p>
            <a:pPr algn="l">
              <a:lnSpc>
                <a:spcPct val="110000"/>
              </a:lnSpc>
              <a:spcAft>
                <a:spcPts val="400"/>
              </a:spcAft>
            </a:pPr>
            <a:r>
              <a:rPr sz="1000" b="0" i="0">
                <a:solidFill>
                  <a:srgbClr val="9AA0A6"/>
                </a:solidFill>
                <a:latin typeface="Inter"/>
              </a:rPr>
              <a:t>$250k goal</a:t>
            </a:r>
          </a:p>
        </p:txBody>
      </p:sp>
      <p:sp>
        <p:nvSpPr>
          <p:cNvPr id="23" name="Rectangle 22"/>
          <p:cNvSpPr/>
          <p:nvPr/>
        </p:nvSpPr>
        <p:spPr>
          <a:xfrm>
            <a:off x="7973568" y="1645920"/>
            <a:ext cx="1783080" cy="114300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10728" y="1737360"/>
            <a:ext cx="1554480" cy="274320"/>
          </a:xfrm>
          <a:prstGeom prst="rect">
            <a:avLst/>
          </a:prstGeom>
          <a:noFill/>
        </p:spPr>
        <p:txBody>
          <a:bodyPr wrap="square" lIns="0" rIns="0" tIns="0" bIns="0" anchor="t">
            <a:spAutoFit/>
          </a:bodyPr>
          <a:lstStyle/>
          <a:p>
            <a:pPr algn="l">
              <a:lnSpc>
                <a:spcPct val="110000"/>
              </a:lnSpc>
              <a:spcAft>
                <a:spcPts val="400"/>
              </a:spcAft>
            </a:pPr>
            <a:r>
              <a:rPr sz="950" b="1" i="0">
                <a:solidFill>
                  <a:srgbClr val="B8935A"/>
                </a:solidFill>
                <a:latin typeface="Inter"/>
              </a:rPr>
              <a:t>Q4 27</a:t>
            </a:r>
          </a:p>
        </p:txBody>
      </p:sp>
      <p:sp>
        <p:nvSpPr>
          <p:cNvPr id="25" name="TextBox 24"/>
          <p:cNvSpPr txBox="1"/>
          <p:nvPr/>
        </p:nvSpPr>
        <p:spPr>
          <a:xfrm>
            <a:off x="8110728" y="1993392"/>
            <a:ext cx="1554480" cy="365760"/>
          </a:xfrm>
          <a:prstGeom prst="rect">
            <a:avLst/>
          </a:prstGeom>
          <a:noFill/>
        </p:spPr>
        <p:txBody>
          <a:bodyPr wrap="square" lIns="0" rIns="0" tIns="0" bIns="0" anchor="t">
            <a:spAutoFit/>
          </a:bodyPr>
          <a:lstStyle/>
          <a:p>
            <a:pPr algn="l">
              <a:lnSpc>
                <a:spcPct val="110000"/>
              </a:lnSpc>
              <a:spcAft>
                <a:spcPts val="400"/>
              </a:spcAft>
            </a:pPr>
            <a:r>
              <a:rPr sz="1400" b="1" i="0">
                <a:solidFill>
                  <a:srgbClr val="14161A"/>
                </a:solidFill>
                <a:latin typeface="Inter"/>
              </a:rPr>
              <a:t>DTC</a:t>
            </a:r>
          </a:p>
        </p:txBody>
      </p:sp>
      <p:sp>
        <p:nvSpPr>
          <p:cNvPr id="26" name="TextBox 25"/>
          <p:cNvSpPr txBox="1"/>
          <p:nvPr/>
        </p:nvSpPr>
        <p:spPr>
          <a:xfrm>
            <a:off x="8110728" y="2359152"/>
            <a:ext cx="1554480" cy="365760"/>
          </a:xfrm>
          <a:prstGeom prst="rect">
            <a:avLst/>
          </a:prstGeom>
          <a:noFill/>
        </p:spPr>
        <p:txBody>
          <a:bodyPr wrap="square" lIns="0" rIns="0" tIns="0" bIns="0" anchor="t">
            <a:spAutoFit/>
          </a:bodyPr>
          <a:lstStyle/>
          <a:p>
            <a:pPr algn="l">
              <a:lnSpc>
                <a:spcPct val="110000"/>
              </a:lnSpc>
              <a:spcAft>
                <a:spcPts val="400"/>
              </a:spcAft>
            </a:pPr>
            <a:r>
              <a:rPr sz="1000" b="0" i="0">
                <a:solidFill>
                  <a:srgbClr val="5A5D63"/>
                </a:solidFill>
                <a:latin typeface="Inter"/>
              </a:rPr>
              <a:t>First 5k units</a:t>
            </a:r>
          </a:p>
        </p:txBody>
      </p:sp>
      <p:sp>
        <p:nvSpPr>
          <p:cNvPr id="27" name="Rectangle 26"/>
          <p:cNvSpPr/>
          <p:nvPr/>
        </p:nvSpPr>
        <p:spPr>
          <a:xfrm>
            <a:off x="9829800" y="1645920"/>
            <a:ext cx="1783080" cy="114300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66960" y="1737360"/>
            <a:ext cx="1554480" cy="274320"/>
          </a:xfrm>
          <a:prstGeom prst="rect">
            <a:avLst/>
          </a:prstGeom>
          <a:noFill/>
        </p:spPr>
        <p:txBody>
          <a:bodyPr wrap="square" lIns="0" rIns="0" tIns="0" bIns="0" anchor="t">
            <a:spAutoFit/>
          </a:bodyPr>
          <a:lstStyle/>
          <a:p>
            <a:pPr algn="l">
              <a:lnSpc>
                <a:spcPct val="110000"/>
              </a:lnSpc>
              <a:spcAft>
                <a:spcPts val="400"/>
              </a:spcAft>
            </a:pPr>
            <a:r>
              <a:rPr sz="950" b="1" i="0">
                <a:solidFill>
                  <a:srgbClr val="B8935A"/>
                </a:solidFill>
                <a:latin typeface="Inter"/>
              </a:rPr>
              <a:t>2028</a:t>
            </a:r>
          </a:p>
        </p:txBody>
      </p:sp>
      <p:sp>
        <p:nvSpPr>
          <p:cNvPr id="29" name="TextBox 28"/>
          <p:cNvSpPr txBox="1"/>
          <p:nvPr/>
        </p:nvSpPr>
        <p:spPr>
          <a:xfrm>
            <a:off x="9966960" y="1993392"/>
            <a:ext cx="1554480" cy="365760"/>
          </a:xfrm>
          <a:prstGeom prst="rect">
            <a:avLst/>
          </a:prstGeom>
          <a:noFill/>
        </p:spPr>
        <p:txBody>
          <a:bodyPr wrap="square" lIns="0" rIns="0" tIns="0" bIns="0" anchor="t">
            <a:spAutoFit/>
          </a:bodyPr>
          <a:lstStyle/>
          <a:p>
            <a:pPr algn="l">
              <a:lnSpc>
                <a:spcPct val="110000"/>
              </a:lnSpc>
              <a:spcAft>
                <a:spcPts val="400"/>
              </a:spcAft>
            </a:pPr>
            <a:r>
              <a:rPr sz="1400" b="1" i="0">
                <a:solidFill>
                  <a:srgbClr val="14161A"/>
                </a:solidFill>
                <a:latin typeface="Inter"/>
              </a:rPr>
              <a:t>Retail / airport</a:t>
            </a:r>
          </a:p>
        </p:txBody>
      </p:sp>
      <p:sp>
        <p:nvSpPr>
          <p:cNvPr id="30" name="TextBox 29"/>
          <p:cNvSpPr txBox="1"/>
          <p:nvPr/>
        </p:nvSpPr>
        <p:spPr>
          <a:xfrm>
            <a:off x="9966960" y="2359152"/>
            <a:ext cx="1554480" cy="365760"/>
          </a:xfrm>
          <a:prstGeom prst="rect">
            <a:avLst/>
          </a:prstGeom>
          <a:noFill/>
        </p:spPr>
        <p:txBody>
          <a:bodyPr wrap="square" lIns="0" rIns="0" tIns="0" bIns="0" anchor="t">
            <a:spAutoFit/>
          </a:bodyPr>
          <a:lstStyle/>
          <a:p>
            <a:pPr algn="l">
              <a:lnSpc>
                <a:spcPct val="110000"/>
              </a:lnSpc>
              <a:spcAft>
                <a:spcPts val="400"/>
              </a:spcAft>
            </a:pPr>
            <a:r>
              <a:rPr sz="1000" b="0" i="0">
                <a:solidFill>
                  <a:srgbClr val="5A5D63"/>
                </a:solidFill>
                <a:latin typeface="Inter"/>
              </a:rPr>
              <a:t>after returns &lt;5%</a:t>
            </a:r>
          </a:p>
        </p:txBody>
      </p:sp>
      <p:sp>
        <p:nvSpPr>
          <p:cNvPr id="31" name="TextBox 30"/>
          <p:cNvSpPr txBox="1"/>
          <p:nvPr/>
        </p:nvSpPr>
        <p:spPr>
          <a:xfrm>
            <a:off x="548640" y="3063240"/>
            <a:ext cx="2560320" cy="640080"/>
          </a:xfrm>
          <a:prstGeom prst="rect">
            <a:avLst/>
          </a:prstGeom>
          <a:noFill/>
        </p:spPr>
        <p:txBody>
          <a:bodyPr wrap="square" lIns="0" rIns="0" tIns="0" bIns="0" anchor="t">
            <a:spAutoFit/>
          </a:bodyPr>
          <a:lstStyle/>
          <a:p>
            <a:pPr algn="l">
              <a:lnSpc>
                <a:spcPct val="110000"/>
              </a:lnSpc>
              <a:spcAft>
                <a:spcPts val="400"/>
              </a:spcAft>
            </a:pPr>
            <a:r>
              <a:rPr sz="3400" b="0" i="0">
                <a:solidFill>
                  <a:srgbClr val="C4623A"/>
                </a:solidFill>
                <a:latin typeface="Fraunces"/>
              </a:rPr>
              <a:t>$1.04M</a:t>
            </a:r>
          </a:p>
        </p:txBody>
      </p:sp>
      <p:sp>
        <p:nvSpPr>
          <p:cNvPr id="32" name="TextBox 31"/>
          <p:cNvSpPr txBox="1"/>
          <p:nvPr/>
        </p:nvSpPr>
        <p:spPr>
          <a:xfrm>
            <a:off x="548640" y="3721608"/>
            <a:ext cx="2560320" cy="640080"/>
          </a:xfrm>
          <a:prstGeom prst="rect">
            <a:avLst/>
          </a:prstGeom>
          <a:noFill/>
        </p:spPr>
        <p:txBody>
          <a:bodyPr wrap="square" lIns="0" rIns="0" tIns="0" bIns="0" anchor="t">
            <a:spAutoFit/>
          </a:bodyPr>
          <a:lstStyle/>
          <a:p>
            <a:pPr algn="l">
              <a:lnSpc>
                <a:spcPct val="110000"/>
              </a:lnSpc>
              <a:spcAft>
                <a:spcPts val="400"/>
              </a:spcAft>
            </a:pPr>
            <a:r>
              <a:rPr sz="1100" b="0" i="0">
                <a:solidFill>
                  <a:srgbClr val="5A5D63"/>
                </a:solidFill>
                <a:latin typeface="Inter"/>
              </a:rPr>
              <a:t>Kickstarter base case: 4,600 backers × $225 avg pledge (plan, not a result)</a:t>
            </a:r>
          </a:p>
        </p:txBody>
      </p:sp>
      <p:sp>
        <p:nvSpPr>
          <p:cNvPr id="33" name="TextBox 32"/>
          <p:cNvSpPr txBox="1"/>
          <p:nvPr/>
        </p:nvSpPr>
        <p:spPr>
          <a:xfrm>
            <a:off x="3337560" y="3063240"/>
            <a:ext cx="2560320" cy="640080"/>
          </a:xfrm>
          <a:prstGeom prst="rect">
            <a:avLst/>
          </a:prstGeom>
          <a:noFill/>
        </p:spPr>
        <p:txBody>
          <a:bodyPr wrap="square" lIns="0" rIns="0" tIns="0" bIns="0" anchor="t">
            <a:spAutoFit/>
          </a:bodyPr>
          <a:lstStyle/>
          <a:p>
            <a:pPr algn="l">
              <a:lnSpc>
                <a:spcPct val="110000"/>
              </a:lnSpc>
              <a:spcAft>
                <a:spcPts val="400"/>
              </a:spcAft>
            </a:pPr>
            <a:r>
              <a:rPr sz="3400" b="0" i="0">
                <a:solidFill>
                  <a:srgbClr val="C4623A"/>
                </a:solidFill>
                <a:latin typeface="Fraunces"/>
              </a:rPr>
              <a:t>≈$50</a:t>
            </a:r>
          </a:p>
        </p:txBody>
      </p:sp>
      <p:sp>
        <p:nvSpPr>
          <p:cNvPr id="34" name="TextBox 33"/>
          <p:cNvSpPr txBox="1"/>
          <p:nvPr/>
        </p:nvSpPr>
        <p:spPr>
          <a:xfrm>
            <a:off x="3337560" y="3721608"/>
            <a:ext cx="2560320" cy="640080"/>
          </a:xfrm>
          <a:prstGeom prst="rect">
            <a:avLst/>
          </a:prstGeom>
          <a:noFill/>
        </p:spPr>
        <p:txBody>
          <a:bodyPr wrap="square" lIns="0" rIns="0" tIns="0" bIns="0" anchor="t">
            <a:spAutoFit/>
          </a:bodyPr>
          <a:lstStyle/>
          <a:p>
            <a:pPr algn="l">
              <a:lnSpc>
                <a:spcPct val="110000"/>
              </a:lnSpc>
              <a:spcAft>
                <a:spcPts val="400"/>
              </a:spcAft>
            </a:pPr>
            <a:r>
              <a:rPr sz="1100" b="0" i="0">
                <a:solidFill>
                  <a:srgbClr val="5A5D63"/>
                </a:solidFill>
                <a:latin typeface="Inter"/>
              </a:rPr>
              <a:t>Cost per backer on $230k marketing (Gate G2 needs &lt;$60)</a:t>
            </a:r>
          </a:p>
        </p:txBody>
      </p:sp>
      <p:sp>
        <p:nvSpPr>
          <p:cNvPr id="35" name="TextBox 34"/>
          <p:cNvSpPr txBox="1"/>
          <p:nvPr/>
        </p:nvSpPr>
        <p:spPr>
          <a:xfrm>
            <a:off x="6126480" y="3063240"/>
            <a:ext cx="2560320" cy="640080"/>
          </a:xfrm>
          <a:prstGeom prst="rect">
            <a:avLst/>
          </a:prstGeom>
          <a:noFill/>
        </p:spPr>
        <p:txBody>
          <a:bodyPr wrap="square" lIns="0" rIns="0" tIns="0" bIns="0" anchor="t">
            <a:spAutoFit/>
          </a:bodyPr>
          <a:lstStyle/>
          <a:p>
            <a:pPr algn="l">
              <a:lnSpc>
                <a:spcPct val="110000"/>
              </a:lnSpc>
              <a:spcAft>
                <a:spcPts val="400"/>
              </a:spcAft>
            </a:pPr>
            <a:r>
              <a:rPr sz="3400" b="0" i="0">
                <a:solidFill>
                  <a:srgbClr val="C4623A"/>
                </a:solidFill>
                <a:latin typeface="Fraunces"/>
              </a:rPr>
              <a:t>$554k</a:t>
            </a:r>
          </a:p>
        </p:txBody>
      </p:sp>
      <p:sp>
        <p:nvSpPr>
          <p:cNvPr id="36" name="TextBox 35"/>
          <p:cNvSpPr txBox="1"/>
          <p:nvPr/>
        </p:nvSpPr>
        <p:spPr>
          <a:xfrm>
            <a:off x="6126480" y="3721608"/>
            <a:ext cx="2560320" cy="640080"/>
          </a:xfrm>
          <a:prstGeom prst="rect">
            <a:avLst/>
          </a:prstGeom>
          <a:noFill/>
        </p:spPr>
        <p:txBody>
          <a:bodyPr wrap="square" lIns="0" rIns="0" tIns="0" bIns="0" anchor="t">
            <a:spAutoFit/>
          </a:bodyPr>
          <a:lstStyle/>
          <a:p>
            <a:pPr algn="l">
              <a:lnSpc>
                <a:spcPct val="110000"/>
              </a:lnSpc>
              <a:spcAft>
                <a:spcPts val="400"/>
              </a:spcAft>
            </a:pPr>
            <a:r>
              <a:rPr sz="1100" b="0" i="0">
                <a:solidFill>
                  <a:srgbClr val="5A5D63"/>
                </a:solidFill>
                <a:latin typeface="Inter"/>
              </a:rPr>
              <a:t>Conservative case: misses $1M; escalation playbook ready</a:t>
            </a:r>
          </a:p>
        </p:txBody>
      </p:sp>
      <p:sp>
        <p:nvSpPr>
          <p:cNvPr id="37" name="TextBox 36"/>
          <p:cNvSpPr txBox="1"/>
          <p:nvPr/>
        </p:nvSpPr>
        <p:spPr>
          <a:xfrm>
            <a:off x="8915400" y="3063240"/>
            <a:ext cx="2651760" cy="640080"/>
          </a:xfrm>
          <a:prstGeom prst="rect">
            <a:avLst/>
          </a:prstGeom>
          <a:noFill/>
        </p:spPr>
        <p:txBody>
          <a:bodyPr wrap="square" lIns="0" rIns="0" tIns="0" bIns="0" anchor="t">
            <a:spAutoFit/>
          </a:bodyPr>
          <a:lstStyle/>
          <a:p>
            <a:pPr algn="l">
              <a:lnSpc>
                <a:spcPct val="110000"/>
              </a:lnSpc>
              <a:spcAft>
                <a:spcPts val="400"/>
              </a:spcAft>
            </a:pPr>
            <a:r>
              <a:rPr sz="3400" b="0" i="0">
                <a:solidFill>
                  <a:srgbClr val="C4623A"/>
                </a:solidFill>
                <a:latin typeface="Fraunces"/>
              </a:rPr>
              <a:t>$70</a:t>
            </a:r>
          </a:p>
        </p:txBody>
      </p:sp>
      <p:sp>
        <p:nvSpPr>
          <p:cNvPr id="38" name="TextBox 37"/>
          <p:cNvSpPr txBox="1"/>
          <p:nvPr/>
        </p:nvSpPr>
        <p:spPr>
          <a:xfrm>
            <a:off x="8915400" y="3721608"/>
            <a:ext cx="2651760" cy="640080"/>
          </a:xfrm>
          <a:prstGeom prst="rect">
            <a:avLst/>
          </a:prstGeom>
          <a:noFill/>
        </p:spPr>
        <p:txBody>
          <a:bodyPr wrap="square" lIns="0" rIns="0" tIns="0" bIns="0" anchor="t">
            <a:spAutoFit/>
          </a:bodyPr>
          <a:lstStyle/>
          <a:p>
            <a:pPr algn="l">
              <a:lnSpc>
                <a:spcPct val="110000"/>
              </a:lnSpc>
              <a:spcAft>
                <a:spcPts val="400"/>
              </a:spcAft>
            </a:pPr>
            <a:r>
              <a:rPr sz="1100" b="0" i="0">
                <a:solidFill>
                  <a:srgbClr val="5A5D63"/>
                </a:solidFill>
                <a:latin typeface="Inter"/>
              </a:rPr>
              <a:t>DTC blended CAC ceiling after launch</a:t>
            </a:r>
          </a:p>
        </p:txBody>
      </p:sp>
      <p:sp>
        <p:nvSpPr>
          <p:cNvPr id="39" name="TextBox 38"/>
          <p:cNvSpPr txBox="1"/>
          <p:nvPr/>
        </p:nvSpPr>
        <p:spPr>
          <a:xfrm>
            <a:off x="548640" y="4480560"/>
            <a:ext cx="11064240" cy="1463040"/>
          </a:xfrm>
          <a:prstGeom prst="rect">
            <a:avLst/>
          </a:prstGeom>
          <a:noFill/>
        </p:spPr>
        <p:txBody>
          <a:bodyPr wrap="square" lIns="0" rIns="0" tIns="0" bIns="0" anchor="t">
            <a:spAutoFit/>
          </a:bodyPr>
          <a:lstStyle/>
          <a:p>
            <a:pPr algn="l">
              <a:lnSpc>
                <a:spcPct val="112000"/>
              </a:lnSpc>
              <a:spcAft>
                <a:spcPts val="600"/>
              </a:spcAft>
            </a:pPr>
            <a:r>
              <a:rPr sz="1150" b="1" i="0">
                <a:solidFill>
                  <a:srgbClr val="14161A"/>
                </a:solidFill>
                <a:latin typeface="Inter"/>
              </a:rPr>
              <a:t>Channels: </a:t>
            </a:r>
            <a:r>
              <a:rPr sz="1150" b="0" i="0">
                <a:solidFill>
                  <a:srgbClr val="5A5D63"/>
                </a:solidFill>
                <a:latin typeface="Inter"/>
              </a:rPr>
              <a:t>TikTok/IG organic ('Secrets of Rome') → paid lead gen ($2.75 CPL target) → creators (≤$45 CPB) → PR (15+ tier-1/2 articles) → email (8% list conversion).</a:t>
            </a:r>
          </a:p>
          <a:p>
            <a:pPr algn="l">
              <a:lnSpc>
                <a:spcPct val="112000"/>
              </a:lnSpc>
              <a:spcAft>
                <a:spcPts val="600"/>
              </a:spcAft>
            </a:pPr>
            <a:r>
              <a:rPr sz="1150" b="1" i="0">
                <a:solidFill>
                  <a:srgbClr val="14161A"/>
                </a:solidFill>
                <a:latin typeface="Inter"/>
              </a:rPr>
              <a:t>Messaging: </a:t>
            </a:r>
            <a:r>
              <a:rPr sz="1150" b="0" i="0">
                <a:solidFill>
                  <a:srgbClr val="5A5D63"/>
                </a:solidFill>
                <a:latin typeface="Inter"/>
              </a:rPr>
              <a:t>Look up · True stories · Go anywhere, safely. Lead with experience, justify with safety.</a:t>
            </a:r>
          </a:p>
          <a:p>
            <a:pPr algn="l">
              <a:lnSpc>
                <a:spcPct val="112000"/>
              </a:lnSpc>
              <a:spcAft>
                <a:spcPts val="600"/>
              </a:spcAft>
            </a:pPr>
            <a:r>
              <a:rPr sz="1150" b="1" i="0">
                <a:solidFill>
                  <a:srgbClr val="C4623A"/>
                </a:solidFill>
                <a:latin typeface="Inter"/>
              </a:rPr>
              <a:t>Honesty: </a:t>
            </a:r>
            <a:r>
              <a:rPr sz="1150" b="0" i="0">
                <a:solidFill>
                  <a:srgbClr val="5A5D63"/>
                </a:solidFill>
                <a:latin typeface="Inter"/>
              </a:rPr>
              <a:t>no partners, customers or pre-orders exist yet; all named companies are targets.</a:t>
            </a:r>
          </a:p>
        </p:txBody>
      </p:sp>
      <p:sp>
        <p:nvSpPr>
          <p:cNvPr id="40" name="TextBox 39"/>
          <p:cNvSpPr txBox="1"/>
          <p:nvPr/>
        </p:nvSpPr>
        <p:spPr>
          <a:xfrm>
            <a:off x="548640" y="6108192"/>
            <a:ext cx="11064240" cy="274320"/>
          </a:xfrm>
          <a:prstGeom prst="rect">
            <a:avLst/>
          </a:prstGeom>
          <a:noFill/>
        </p:spPr>
        <p:txBody>
          <a:bodyPr wrap="square" lIns="0" rIns="0" tIns="0" bIns="0" anchor="t">
            <a:spAutoFit/>
          </a:bodyPr>
          <a:lstStyle/>
          <a:p>
            <a:pPr algn="l">
              <a:lnSpc>
                <a:spcPct val="110000"/>
              </a:lnSpc>
              <a:spcAft>
                <a:spcPts val="400"/>
              </a:spcAft>
            </a:pPr>
            <a:r>
              <a:rPr sz="850" b="0" i="0">
                <a:solidFill>
                  <a:srgbClr val="5A5D63"/>
                </a:solidFill>
                <a:latin typeface="Inter"/>
              </a:rPr>
              <a:t>Sources: gtm/README.md, gtm/gtm-strategy.md, gtm/kickstarter/, finance/kickstarter-economics.md.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EEE6"/>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10000"/>
              </a:lnSpc>
              <a:spcAft>
                <a:spcPts val="400"/>
              </a:spcAft>
            </a:pPr>
            <a:r>
              <a:rPr sz="1100" b="1" i="0">
                <a:solidFill>
                  <a:srgbClr val="C4623A"/>
                </a:solidFill>
                <a:latin typeface="Inter"/>
              </a:rPr>
              <a:t>ROADMAP, MILESTONES AND GATES</a:t>
            </a:r>
          </a:p>
        </p:txBody>
      </p:sp>
      <p:sp>
        <p:nvSpPr>
          <p:cNvPr id="3" name="TextBox 2"/>
          <p:cNvSpPr txBox="1"/>
          <p:nvPr/>
        </p:nvSpPr>
        <p:spPr>
          <a:xfrm>
            <a:off x="548640" y="658368"/>
            <a:ext cx="11064240" cy="822960"/>
          </a:xfrm>
          <a:prstGeom prst="rect">
            <a:avLst/>
          </a:prstGeom>
          <a:noFill/>
        </p:spPr>
        <p:txBody>
          <a:bodyPr wrap="square" lIns="0" rIns="0" tIns="0" bIns="0" anchor="t">
            <a:spAutoFit/>
          </a:bodyPr>
          <a:lstStyle/>
          <a:p>
            <a:pPr algn="l">
              <a:lnSpc>
                <a:spcPct val="100000"/>
              </a:lnSpc>
              <a:spcAft>
                <a:spcPts val="400"/>
              </a:spcAft>
            </a:pPr>
            <a:r>
              <a:rPr sz="3000" b="0" i="0">
                <a:solidFill>
                  <a:srgbClr val="14161A"/>
                </a:solidFill>
                <a:latin typeface="Fraunces"/>
              </a:rPr>
              <a:t>Each stage removes the biggest risk before we spend on the next.</a:t>
            </a:r>
          </a:p>
        </p:txBody>
      </p:sp>
      <p:pic>
        <p:nvPicPr>
          <p:cNvPr id="4" name="Picture 3" descr="lore-lockup-horizontal-ink-1600w.png"/>
          <p:cNvPicPr>
            <a:picLocks noChangeAspect="1"/>
          </p:cNvPicPr>
          <p:nvPr/>
        </p:nvPicPr>
        <p:blipFill>
          <a:blip r:embed="rId2"/>
          <a:stretch>
            <a:fillRect/>
          </a:stretch>
        </p:blipFill>
        <p:spPr>
          <a:xfrm>
            <a:off x="548640" y="6429032"/>
            <a:ext cx="822960" cy="199567"/>
          </a:xfrm>
          <a:prstGeom prst="rect">
            <a:avLst/>
          </a:prstGeom>
        </p:spPr>
      </p:pic>
      <p:sp>
        <p:nvSpPr>
          <p:cNvPr id="5" name="TextBox 4"/>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6" name="TextBox 5"/>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13</a:t>
            </a:r>
          </a:p>
        </p:txBody>
      </p:sp>
      <p:sp>
        <p:nvSpPr>
          <p:cNvPr id="7" name="Rectangle 6"/>
          <p:cNvSpPr/>
          <p:nvPr/>
        </p:nvSpPr>
        <p:spPr>
          <a:xfrm>
            <a:off x="548640" y="1645920"/>
            <a:ext cx="2697480" cy="73152"/>
          </a:xfrm>
          <a:prstGeom prst="rect">
            <a:avLst/>
          </a:prstGeom>
          <a:solidFill>
            <a:srgbClr val="C46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10512"/>
            <a:ext cx="2697480" cy="274320"/>
          </a:xfrm>
          <a:prstGeom prst="rect">
            <a:avLst/>
          </a:prstGeom>
          <a:noFill/>
        </p:spPr>
        <p:txBody>
          <a:bodyPr wrap="square" lIns="0" rIns="0" tIns="0" bIns="0" anchor="t">
            <a:spAutoFit/>
          </a:bodyPr>
          <a:lstStyle/>
          <a:p>
            <a:pPr algn="l">
              <a:lnSpc>
                <a:spcPct val="110000"/>
              </a:lnSpc>
              <a:spcAft>
                <a:spcPts val="400"/>
              </a:spcAft>
            </a:pPr>
            <a:r>
              <a:rPr sz="1000" b="1" i="0">
                <a:solidFill>
                  <a:srgbClr val="C4623A"/>
                </a:solidFill>
                <a:latin typeface="Inter"/>
              </a:rPr>
              <a:t>Stage 0 · Nov 26-Jan 27</a:t>
            </a:r>
          </a:p>
        </p:txBody>
      </p:sp>
      <p:sp>
        <p:nvSpPr>
          <p:cNvPr id="9" name="TextBox 8"/>
          <p:cNvSpPr txBox="1"/>
          <p:nvPr/>
        </p:nvSpPr>
        <p:spPr>
          <a:xfrm>
            <a:off x="548640" y="2084831"/>
            <a:ext cx="2697480" cy="411480"/>
          </a:xfrm>
          <a:prstGeom prst="rect">
            <a:avLst/>
          </a:prstGeom>
          <a:noFill/>
        </p:spPr>
        <p:txBody>
          <a:bodyPr wrap="square" lIns="0" rIns="0" tIns="0" bIns="0" anchor="t">
            <a:spAutoFit/>
          </a:bodyPr>
          <a:lstStyle/>
          <a:p>
            <a:pPr algn="l">
              <a:lnSpc>
                <a:spcPct val="110000"/>
              </a:lnSpc>
              <a:spcAft>
                <a:spcPts val="400"/>
              </a:spcAft>
            </a:pPr>
            <a:r>
              <a:rPr sz="1900" b="0" i="0">
                <a:solidFill>
                  <a:srgbClr val="14161A"/>
                </a:solidFill>
                <a:latin typeface="Fraunces"/>
              </a:rPr>
              <a:t>Prove the magic</a:t>
            </a:r>
          </a:p>
        </p:txBody>
      </p:sp>
      <p:sp>
        <p:nvSpPr>
          <p:cNvPr id="10" name="TextBox 9"/>
          <p:cNvSpPr txBox="1"/>
          <p:nvPr/>
        </p:nvSpPr>
        <p:spPr>
          <a:xfrm>
            <a:off x="548640" y="2578608"/>
            <a:ext cx="2697480" cy="1280160"/>
          </a:xfrm>
          <a:prstGeom prst="rect">
            <a:avLst/>
          </a:prstGeom>
          <a:noFill/>
        </p:spPr>
        <p:txBody>
          <a:bodyPr wrap="square" lIns="0" rIns="0" tIns="0" bIns="0" anchor="t">
            <a:spAutoFit/>
          </a:bodyPr>
          <a:lstStyle/>
          <a:p>
            <a:pPr algn="l">
              <a:lnSpc>
                <a:spcPct val="115000"/>
              </a:lnSpc>
              <a:spcAft>
                <a:spcPts val="400"/>
              </a:spcAft>
            </a:pPr>
            <a:r>
              <a:rPr sz="1100" b="0" i="0">
                <a:solidFill>
                  <a:srgbClr val="5A5D63"/>
                </a:solidFill>
                <a:latin typeface="Inter"/>
              </a:rPr>
              <a:t>Phone PWA + Rome pack (300+ places hand-checked); 20 Rome walks; n≥500 survey</a:t>
            </a:r>
          </a:p>
        </p:txBody>
      </p:sp>
      <p:sp>
        <p:nvSpPr>
          <p:cNvPr id="11" name="Rectangle 10"/>
          <p:cNvSpPr/>
          <p:nvPr/>
        </p:nvSpPr>
        <p:spPr>
          <a:xfrm>
            <a:off x="548640" y="3886200"/>
            <a:ext cx="2697480" cy="132588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977639"/>
            <a:ext cx="2423160" cy="1188720"/>
          </a:xfrm>
          <a:prstGeom prst="rect">
            <a:avLst/>
          </a:prstGeom>
          <a:noFill/>
        </p:spPr>
        <p:txBody>
          <a:bodyPr wrap="square" lIns="0" rIns="0" tIns="0" bIns="0" anchor="t">
            <a:spAutoFit/>
          </a:bodyPr>
          <a:lstStyle/>
          <a:p>
            <a:pPr algn="l">
              <a:lnSpc>
                <a:spcPct val="115000"/>
              </a:lnSpc>
              <a:spcAft>
                <a:spcPts val="400"/>
              </a:spcAft>
            </a:pPr>
            <a:r>
              <a:rPr sz="1100" b="1" i="0">
                <a:solidFill>
                  <a:srgbClr val="14161A"/>
                </a:solidFill>
                <a:latin typeface="Inter"/>
              </a:rPr>
              <a:t>G0: ≥40% 'very disappointed'; ≥60% finish a 30-min walk; ≥25% would pay $149+</a:t>
            </a:r>
          </a:p>
        </p:txBody>
      </p:sp>
      <p:sp>
        <p:nvSpPr>
          <p:cNvPr id="13" name="Rectangle 12"/>
          <p:cNvSpPr/>
          <p:nvPr/>
        </p:nvSpPr>
        <p:spPr>
          <a:xfrm>
            <a:off x="3337560" y="1645920"/>
            <a:ext cx="2697480" cy="73152"/>
          </a:xfrm>
          <a:prstGeom prst="rect">
            <a:avLst/>
          </a:prstGeom>
          <a:solidFill>
            <a:srgbClr val="B89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810512"/>
            <a:ext cx="2697480" cy="274320"/>
          </a:xfrm>
          <a:prstGeom prst="rect">
            <a:avLst/>
          </a:prstGeom>
          <a:noFill/>
        </p:spPr>
        <p:txBody>
          <a:bodyPr wrap="square" lIns="0" rIns="0" tIns="0" bIns="0" anchor="t">
            <a:spAutoFit/>
          </a:bodyPr>
          <a:lstStyle/>
          <a:p>
            <a:pPr algn="l">
              <a:lnSpc>
                <a:spcPct val="110000"/>
              </a:lnSpc>
              <a:spcAft>
                <a:spcPts val="400"/>
              </a:spcAft>
            </a:pPr>
            <a:r>
              <a:rPr sz="1000" b="1" i="0">
                <a:solidFill>
                  <a:srgbClr val="C4623A"/>
                </a:solidFill>
                <a:latin typeface="Inter"/>
              </a:rPr>
              <a:t>Stage 1 · Feb-May 27</a:t>
            </a:r>
          </a:p>
        </p:txBody>
      </p:sp>
      <p:sp>
        <p:nvSpPr>
          <p:cNvPr id="15" name="TextBox 14"/>
          <p:cNvSpPr txBox="1"/>
          <p:nvPr/>
        </p:nvSpPr>
        <p:spPr>
          <a:xfrm>
            <a:off x="3337560" y="2084831"/>
            <a:ext cx="2697480" cy="411480"/>
          </a:xfrm>
          <a:prstGeom prst="rect">
            <a:avLst/>
          </a:prstGeom>
          <a:noFill/>
        </p:spPr>
        <p:txBody>
          <a:bodyPr wrap="square" lIns="0" rIns="0" tIns="0" bIns="0" anchor="t">
            <a:spAutoFit/>
          </a:bodyPr>
          <a:lstStyle/>
          <a:p>
            <a:pPr algn="l">
              <a:lnSpc>
                <a:spcPct val="110000"/>
              </a:lnSpc>
              <a:spcAft>
                <a:spcPts val="400"/>
              </a:spcAft>
            </a:pPr>
            <a:r>
              <a:rPr sz="1900" b="0" i="0">
                <a:solidFill>
                  <a:srgbClr val="14161A"/>
                </a:solidFill>
                <a:latin typeface="Fraunces"/>
              </a:rPr>
              <a:t>Prove the device</a:t>
            </a:r>
          </a:p>
        </p:txBody>
      </p:sp>
      <p:sp>
        <p:nvSpPr>
          <p:cNvPr id="16" name="TextBox 15"/>
          <p:cNvSpPr txBox="1"/>
          <p:nvPr/>
        </p:nvSpPr>
        <p:spPr>
          <a:xfrm>
            <a:off x="3337560" y="2578608"/>
            <a:ext cx="2697480" cy="1280160"/>
          </a:xfrm>
          <a:prstGeom prst="rect">
            <a:avLst/>
          </a:prstGeom>
          <a:noFill/>
        </p:spPr>
        <p:txBody>
          <a:bodyPr wrap="square" lIns="0" rIns="0" tIns="0" bIns="0" anchor="t">
            <a:spAutoFit/>
          </a:bodyPr>
          <a:lstStyle/>
          <a:p>
            <a:pPr algn="l">
              <a:lnSpc>
                <a:spcPct val="115000"/>
              </a:lnSpc>
              <a:spcAft>
                <a:spcPts val="400"/>
              </a:spcAft>
            </a:pPr>
            <a:r>
              <a:rPr sz="1100" b="0" i="0">
                <a:solidFill>
                  <a:srgbClr val="5A5D63"/>
                </a:solidFill>
                <a:latin typeface="Inter"/>
              </a:rPr>
              <a:t>50 EVT units; ODM selected (VN/MY); SoC locked; pre-seed closes; first hires</a:t>
            </a:r>
          </a:p>
        </p:txBody>
      </p:sp>
      <p:sp>
        <p:nvSpPr>
          <p:cNvPr id="17" name="Rectangle 16"/>
          <p:cNvSpPr/>
          <p:nvPr/>
        </p:nvSpPr>
        <p:spPr>
          <a:xfrm>
            <a:off x="3337560" y="3886200"/>
            <a:ext cx="2697480" cy="132588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4720" y="3977639"/>
            <a:ext cx="2423160" cy="1188720"/>
          </a:xfrm>
          <a:prstGeom prst="rect">
            <a:avLst/>
          </a:prstGeom>
          <a:noFill/>
        </p:spPr>
        <p:txBody>
          <a:bodyPr wrap="square" lIns="0" rIns="0" tIns="0" bIns="0" anchor="t">
            <a:spAutoFit/>
          </a:bodyPr>
          <a:lstStyle/>
          <a:p>
            <a:pPr algn="l">
              <a:lnSpc>
                <a:spcPct val="115000"/>
              </a:lnSpc>
              <a:spcAft>
                <a:spcPts val="400"/>
              </a:spcAft>
            </a:pPr>
            <a:r>
              <a:rPr sz="1100" b="1" i="0">
                <a:solidFill>
                  <a:srgbClr val="14161A"/>
                </a:solidFill>
                <a:latin typeface="Inter"/>
              </a:rPr>
              <a:t>G1: battery ≥1.5 days measured; left/right ≥90% on walks; beta use ≥3 days/week</a:t>
            </a:r>
          </a:p>
        </p:txBody>
      </p:sp>
      <p:sp>
        <p:nvSpPr>
          <p:cNvPr id="19" name="Rectangle 18"/>
          <p:cNvSpPr/>
          <p:nvPr/>
        </p:nvSpPr>
        <p:spPr>
          <a:xfrm>
            <a:off x="6126480" y="1645920"/>
            <a:ext cx="2697480" cy="73152"/>
          </a:xfrm>
          <a:prstGeom prst="rect">
            <a:avLst/>
          </a:prstGeom>
          <a:solidFill>
            <a:srgbClr val="5E6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1810512"/>
            <a:ext cx="2697480" cy="274320"/>
          </a:xfrm>
          <a:prstGeom prst="rect">
            <a:avLst/>
          </a:prstGeom>
          <a:noFill/>
        </p:spPr>
        <p:txBody>
          <a:bodyPr wrap="square" lIns="0" rIns="0" tIns="0" bIns="0" anchor="t">
            <a:spAutoFit/>
          </a:bodyPr>
          <a:lstStyle/>
          <a:p>
            <a:pPr algn="l">
              <a:lnSpc>
                <a:spcPct val="110000"/>
              </a:lnSpc>
              <a:spcAft>
                <a:spcPts val="400"/>
              </a:spcAft>
            </a:pPr>
            <a:r>
              <a:rPr sz="1000" b="1" i="0">
                <a:solidFill>
                  <a:srgbClr val="C4623A"/>
                </a:solidFill>
                <a:latin typeface="Inter"/>
              </a:rPr>
              <a:t>Stage 2 · Jun-Aug 27</a:t>
            </a:r>
          </a:p>
        </p:txBody>
      </p:sp>
      <p:sp>
        <p:nvSpPr>
          <p:cNvPr id="21" name="TextBox 20"/>
          <p:cNvSpPr txBox="1"/>
          <p:nvPr/>
        </p:nvSpPr>
        <p:spPr>
          <a:xfrm>
            <a:off x="6126480" y="2084831"/>
            <a:ext cx="2697480" cy="411480"/>
          </a:xfrm>
          <a:prstGeom prst="rect">
            <a:avLst/>
          </a:prstGeom>
          <a:noFill/>
        </p:spPr>
        <p:txBody>
          <a:bodyPr wrap="square" lIns="0" rIns="0" tIns="0" bIns="0" anchor="t">
            <a:spAutoFit/>
          </a:bodyPr>
          <a:lstStyle/>
          <a:p>
            <a:pPr algn="l">
              <a:lnSpc>
                <a:spcPct val="110000"/>
              </a:lnSpc>
              <a:spcAft>
                <a:spcPts val="400"/>
              </a:spcAft>
            </a:pPr>
            <a:r>
              <a:rPr sz="1900" b="0" i="0">
                <a:solidFill>
                  <a:srgbClr val="14161A"/>
                </a:solidFill>
                <a:latin typeface="Fraunces"/>
              </a:rPr>
              <a:t>Prove demand</a:t>
            </a:r>
          </a:p>
        </p:txBody>
      </p:sp>
      <p:sp>
        <p:nvSpPr>
          <p:cNvPr id="22" name="TextBox 21"/>
          <p:cNvSpPr txBox="1"/>
          <p:nvPr/>
        </p:nvSpPr>
        <p:spPr>
          <a:xfrm>
            <a:off x="6126480" y="2578608"/>
            <a:ext cx="2697480" cy="1280160"/>
          </a:xfrm>
          <a:prstGeom prst="rect">
            <a:avLst/>
          </a:prstGeom>
          <a:noFill/>
        </p:spPr>
        <p:txBody>
          <a:bodyPr wrap="square" lIns="0" rIns="0" tIns="0" bIns="0" anchor="t">
            <a:spAutoFit/>
          </a:bodyPr>
          <a:lstStyle/>
          <a:p>
            <a:pPr algn="l">
              <a:lnSpc>
                <a:spcPct val="115000"/>
              </a:lnSpc>
              <a:spcAft>
                <a:spcPts val="400"/>
              </a:spcAft>
            </a:pPr>
            <a:r>
              <a:rPr sz="1100" b="0" i="0">
                <a:solidFill>
                  <a:srgbClr val="5A5D63"/>
                </a:solidFill>
                <a:latin typeface="Inter"/>
              </a:rPr>
              <a:t>Kickstarter (25 May-24 Jun); 20k list; DVT; certification starts</a:t>
            </a:r>
          </a:p>
        </p:txBody>
      </p:sp>
      <p:sp>
        <p:nvSpPr>
          <p:cNvPr id="23" name="Rectangle 22"/>
          <p:cNvSpPr/>
          <p:nvPr/>
        </p:nvSpPr>
        <p:spPr>
          <a:xfrm>
            <a:off x="6126480" y="3886200"/>
            <a:ext cx="2697480" cy="132588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63640" y="3977639"/>
            <a:ext cx="2423160" cy="1188720"/>
          </a:xfrm>
          <a:prstGeom prst="rect">
            <a:avLst/>
          </a:prstGeom>
          <a:noFill/>
        </p:spPr>
        <p:txBody>
          <a:bodyPr wrap="square" lIns="0" rIns="0" tIns="0" bIns="0" anchor="t">
            <a:spAutoFit/>
          </a:bodyPr>
          <a:lstStyle/>
          <a:p>
            <a:pPr algn="l">
              <a:lnSpc>
                <a:spcPct val="115000"/>
              </a:lnSpc>
              <a:spcAft>
                <a:spcPts val="400"/>
              </a:spcAft>
            </a:pPr>
            <a:r>
              <a:rPr sz="1100" b="1" i="0">
                <a:solidFill>
                  <a:srgbClr val="14161A"/>
                </a:solidFill>
                <a:latin typeface="Inter"/>
              </a:rPr>
              <a:t>G2: ≥$1M pledged; ≥3,000 backers; CPB &lt;$60</a:t>
            </a:r>
          </a:p>
        </p:txBody>
      </p:sp>
      <p:sp>
        <p:nvSpPr>
          <p:cNvPr id="25" name="Rectangle 24"/>
          <p:cNvSpPr/>
          <p:nvPr/>
        </p:nvSpPr>
        <p:spPr>
          <a:xfrm>
            <a:off x="8915400" y="1645920"/>
            <a:ext cx="2697480" cy="73152"/>
          </a:xfrm>
          <a:prstGeom prst="rect">
            <a:avLst/>
          </a:prstGeom>
          <a:solidFill>
            <a:srgbClr val="14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15400" y="1810512"/>
            <a:ext cx="2697480" cy="274320"/>
          </a:xfrm>
          <a:prstGeom prst="rect">
            <a:avLst/>
          </a:prstGeom>
          <a:noFill/>
        </p:spPr>
        <p:txBody>
          <a:bodyPr wrap="square" lIns="0" rIns="0" tIns="0" bIns="0" anchor="t">
            <a:spAutoFit/>
          </a:bodyPr>
          <a:lstStyle/>
          <a:p>
            <a:pPr algn="l">
              <a:lnSpc>
                <a:spcPct val="110000"/>
              </a:lnSpc>
              <a:spcAft>
                <a:spcPts val="400"/>
              </a:spcAft>
            </a:pPr>
            <a:r>
              <a:rPr sz="1000" b="1" i="0">
                <a:solidFill>
                  <a:srgbClr val="C4623A"/>
                </a:solidFill>
                <a:latin typeface="Inter"/>
              </a:rPr>
              <a:t>Stage 3 · Sep 27-Apr 28</a:t>
            </a:r>
          </a:p>
        </p:txBody>
      </p:sp>
      <p:sp>
        <p:nvSpPr>
          <p:cNvPr id="27" name="TextBox 26"/>
          <p:cNvSpPr txBox="1"/>
          <p:nvPr/>
        </p:nvSpPr>
        <p:spPr>
          <a:xfrm>
            <a:off x="8915400" y="2084831"/>
            <a:ext cx="2697480" cy="411480"/>
          </a:xfrm>
          <a:prstGeom prst="rect">
            <a:avLst/>
          </a:prstGeom>
          <a:noFill/>
        </p:spPr>
        <p:txBody>
          <a:bodyPr wrap="square" lIns="0" rIns="0" tIns="0" bIns="0" anchor="t">
            <a:spAutoFit/>
          </a:bodyPr>
          <a:lstStyle/>
          <a:p>
            <a:pPr algn="l">
              <a:lnSpc>
                <a:spcPct val="110000"/>
              </a:lnSpc>
              <a:spcAft>
                <a:spcPts val="400"/>
              </a:spcAft>
            </a:pPr>
            <a:r>
              <a:rPr sz="1900" b="0" i="0">
                <a:solidFill>
                  <a:srgbClr val="14161A"/>
                </a:solidFill>
                <a:latin typeface="Fraunces"/>
              </a:rPr>
              <a:t>Ship</a:t>
            </a:r>
          </a:p>
        </p:txBody>
      </p:sp>
      <p:sp>
        <p:nvSpPr>
          <p:cNvPr id="28" name="TextBox 27"/>
          <p:cNvSpPr txBox="1"/>
          <p:nvPr/>
        </p:nvSpPr>
        <p:spPr>
          <a:xfrm>
            <a:off x="8915400" y="2578608"/>
            <a:ext cx="2697480" cy="1280160"/>
          </a:xfrm>
          <a:prstGeom prst="rect">
            <a:avLst/>
          </a:prstGeom>
          <a:noFill/>
        </p:spPr>
        <p:txBody>
          <a:bodyPr wrap="square" lIns="0" rIns="0" tIns="0" bIns="0" anchor="t">
            <a:spAutoFit/>
          </a:bodyPr>
          <a:lstStyle/>
          <a:p>
            <a:pPr algn="l">
              <a:lnSpc>
                <a:spcPct val="115000"/>
              </a:lnSpc>
              <a:spcAft>
                <a:spcPts val="400"/>
              </a:spcAft>
            </a:pPr>
            <a:r>
              <a:rPr sz="1100" b="0" i="0">
                <a:solidFill>
                  <a:srgbClr val="5A5D63"/>
                </a:solidFill>
                <a:latin typeface="Inter"/>
              </a:rPr>
              <a:t>$6M seed; PVT → first 5k units; FCC/CE/UKCA/carriers; 1 → 8 cities; B2B pilots</a:t>
            </a:r>
          </a:p>
        </p:txBody>
      </p:sp>
      <p:sp>
        <p:nvSpPr>
          <p:cNvPr id="29" name="Rectangle 28"/>
          <p:cNvSpPr/>
          <p:nvPr/>
        </p:nvSpPr>
        <p:spPr>
          <a:xfrm>
            <a:off x="8915400" y="3886200"/>
            <a:ext cx="2697480" cy="132588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52560" y="3977639"/>
            <a:ext cx="2423160" cy="1188720"/>
          </a:xfrm>
          <a:prstGeom prst="rect">
            <a:avLst/>
          </a:prstGeom>
          <a:noFill/>
        </p:spPr>
        <p:txBody>
          <a:bodyPr wrap="square" lIns="0" rIns="0" tIns="0" bIns="0" anchor="t">
            <a:spAutoFit/>
          </a:bodyPr>
          <a:lstStyle/>
          <a:p>
            <a:pPr algn="l">
              <a:lnSpc>
                <a:spcPct val="115000"/>
              </a:lnSpc>
              <a:spcAft>
                <a:spcPts val="400"/>
              </a:spcAft>
            </a:pPr>
            <a:r>
              <a:rPr sz="1100" b="1" i="0">
                <a:solidFill>
                  <a:srgbClr val="14161A"/>
                </a:solidFill>
                <a:latin typeface="Inter"/>
              </a:rPr>
              <a:t>G3: returns &lt;5%; attach &gt;55%; churn &lt;6%/mo; NPS &gt;50</a:t>
            </a:r>
          </a:p>
        </p:txBody>
      </p:sp>
      <p:sp>
        <p:nvSpPr>
          <p:cNvPr id="31" name="TextBox 30"/>
          <p:cNvSpPr txBox="1"/>
          <p:nvPr/>
        </p:nvSpPr>
        <p:spPr>
          <a:xfrm>
            <a:off x="548640" y="5394960"/>
            <a:ext cx="11064240" cy="548640"/>
          </a:xfrm>
          <a:prstGeom prst="rect">
            <a:avLst/>
          </a:prstGeom>
          <a:noFill/>
        </p:spPr>
        <p:txBody>
          <a:bodyPr wrap="square" lIns="0" rIns="0" tIns="0" bIns="0" anchor="t">
            <a:spAutoFit/>
          </a:bodyPr>
          <a:lstStyle/>
          <a:p>
            <a:pPr algn="l">
              <a:lnSpc>
                <a:spcPct val="110000"/>
              </a:lnSpc>
              <a:spcAft>
                <a:spcPts val="400"/>
              </a:spcAft>
            </a:pPr>
            <a:r>
              <a:rPr sz="1150" b="1" i="0">
                <a:solidFill>
                  <a:srgbClr val="14161A"/>
                </a:solidFill>
                <a:latin typeface="Inter"/>
              </a:rPr>
              <a:t>What we will not do: </a:t>
            </a:r>
            <a:r>
              <a:rPr sz="1150" b="0" i="0">
                <a:solidFill>
                  <a:srgbClr val="5A5D63"/>
                </a:solidFill>
                <a:latin typeface="Inter"/>
              </a:rPr>
              <a:t>no glasses; no camera before Atlas; ≤1 new city/month until City Pack quality is measured; no retail before DTC returns &lt;5%. 2028: retail + 20 cities.</a:t>
            </a:r>
          </a:p>
        </p:txBody>
      </p:sp>
      <p:sp>
        <p:nvSpPr>
          <p:cNvPr id="32" name="TextBox 31"/>
          <p:cNvSpPr txBox="1"/>
          <p:nvPr/>
        </p:nvSpPr>
        <p:spPr>
          <a:xfrm>
            <a:off x="548640" y="6108192"/>
            <a:ext cx="11064240" cy="274320"/>
          </a:xfrm>
          <a:prstGeom prst="rect">
            <a:avLst/>
          </a:prstGeom>
          <a:noFill/>
        </p:spPr>
        <p:txBody>
          <a:bodyPr wrap="square" lIns="0" rIns="0" tIns="0" bIns="0" anchor="t">
            <a:spAutoFit/>
          </a:bodyPr>
          <a:lstStyle/>
          <a:p>
            <a:pPr algn="l">
              <a:lnSpc>
                <a:spcPct val="110000"/>
              </a:lnSpc>
              <a:spcAft>
                <a:spcPts val="400"/>
              </a:spcAft>
            </a:pPr>
            <a:r>
              <a:rPr sz="850" b="0" i="0">
                <a:solidFill>
                  <a:srgbClr val="5A5D63"/>
                </a:solidFill>
                <a:latin typeface="Inter"/>
              </a:rPr>
              <a:t>Source: company/operating-plan.md, COMPANY.md timeline, gtm/README.md.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EEE6"/>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10000"/>
              </a:lnSpc>
              <a:spcAft>
                <a:spcPts val="400"/>
              </a:spcAft>
            </a:pPr>
            <a:r>
              <a:rPr sz="1100" b="1" i="0">
                <a:solidFill>
                  <a:srgbClr val="C4623A"/>
                </a:solidFill>
                <a:latin typeface="Inter"/>
              </a:rPr>
              <a:t>TEAM AND HIRING</a:t>
            </a:r>
          </a:p>
        </p:txBody>
      </p:sp>
      <p:sp>
        <p:nvSpPr>
          <p:cNvPr id="3" name="TextBox 2"/>
          <p:cNvSpPr txBox="1"/>
          <p:nvPr/>
        </p:nvSpPr>
        <p:spPr>
          <a:xfrm>
            <a:off x="548640" y="658368"/>
            <a:ext cx="11064240" cy="822960"/>
          </a:xfrm>
          <a:prstGeom prst="rect">
            <a:avLst/>
          </a:prstGeom>
          <a:noFill/>
        </p:spPr>
        <p:txBody>
          <a:bodyPr wrap="square" lIns="0" rIns="0" tIns="0" bIns="0" anchor="t">
            <a:spAutoFit/>
          </a:bodyPr>
          <a:lstStyle/>
          <a:p>
            <a:pPr algn="l">
              <a:lnSpc>
                <a:spcPct val="100000"/>
              </a:lnSpc>
              <a:spcAft>
                <a:spcPts val="400"/>
              </a:spcAft>
            </a:pPr>
            <a:r>
              <a:rPr sz="3000" b="0" i="0">
                <a:solidFill>
                  <a:srgbClr val="14161A"/>
                </a:solidFill>
                <a:latin typeface="Fraunces"/>
              </a:rPr>
              <a:t>A founder-led company today; the pre-seed buys the founding engineering team.</a:t>
            </a:r>
          </a:p>
        </p:txBody>
      </p:sp>
      <p:pic>
        <p:nvPicPr>
          <p:cNvPr id="4" name="Picture 3" descr="lore-lockup-horizontal-ink-1600w.png"/>
          <p:cNvPicPr>
            <a:picLocks noChangeAspect="1"/>
          </p:cNvPicPr>
          <p:nvPr/>
        </p:nvPicPr>
        <p:blipFill>
          <a:blip r:embed="rId2"/>
          <a:stretch>
            <a:fillRect/>
          </a:stretch>
        </p:blipFill>
        <p:spPr>
          <a:xfrm>
            <a:off x="548640" y="6429032"/>
            <a:ext cx="822960" cy="199567"/>
          </a:xfrm>
          <a:prstGeom prst="rect">
            <a:avLst/>
          </a:prstGeom>
        </p:spPr>
      </p:pic>
      <p:sp>
        <p:nvSpPr>
          <p:cNvPr id="5" name="TextBox 4"/>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6" name="TextBox 5"/>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14</a:t>
            </a:r>
          </a:p>
        </p:txBody>
      </p:sp>
      <p:sp>
        <p:nvSpPr>
          <p:cNvPr id="7" name="Rectangle 6"/>
          <p:cNvSpPr/>
          <p:nvPr/>
        </p:nvSpPr>
        <p:spPr>
          <a:xfrm>
            <a:off x="548640" y="1645920"/>
            <a:ext cx="3657600" cy="210312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645920"/>
            <a:ext cx="54864" cy="2103120"/>
          </a:xfrm>
          <a:prstGeom prst="rect">
            <a:avLst/>
          </a:prstGeom>
          <a:solidFill>
            <a:srgbClr val="C46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792224"/>
            <a:ext cx="3255264" cy="457200"/>
          </a:xfrm>
          <a:prstGeom prst="rect">
            <a:avLst/>
          </a:prstGeom>
          <a:noFill/>
        </p:spPr>
        <p:txBody>
          <a:bodyPr wrap="square" lIns="0" rIns="0" tIns="0" bIns="0" anchor="t">
            <a:spAutoFit/>
          </a:bodyPr>
          <a:lstStyle/>
          <a:p>
            <a:pPr algn="l">
              <a:lnSpc>
                <a:spcPct val="110000"/>
              </a:lnSpc>
              <a:spcAft>
                <a:spcPts val="400"/>
              </a:spcAft>
            </a:pPr>
            <a:r>
              <a:rPr sz="1500" b="1" i="0">
                <a:solidFill>
                  <a:srgbClr val="14161A"/>
                </a:solidFill>
                <a:latin typeface="Inter"/>
              </a:rPr>
              <a:t>Nimit Jain, Founder &amp; CEO</a:t>
            </a:r>
          </a:p>
        </p:txBody>
      </p:sp>
      <p:sp>
        <p:nvSpPr>
          <p:cNvPr id="10" name="TextBox 9"/>
          <p:cNvSpPr txBox="1"/>
          <p:nvPr/>
        </p:nvSpPr>
        <p:spPr>
          <a:xfrm>
            <a:off x="749808" y="2176272"/>
            <a:ext cx="3255264" cy="1481328"/>
          </a:xfrm>
          <a:prstGeom prst="rect">
            <a:avLst/>
          </a:prstGeom>
          <a:noFill/>
        </p:spPr>
        <p:txBody>
          <a:bodyPr wrap="square" lIns="0" rIns="0" tIns="0" bIns="0" anchor="t">
            <a:spAutoFit/>
          </a:bodyPr>
          <a:lstStyle/>
          <a:p>
            <a:pPr algn="l">
              <a:lnSpc>
                <a:spcPct val="112000"/>
              </a:lnSpc>
              <a:spcAft>
                <a:spcPts val="400"/>
              </a:spcAft>
            </a:pPr>
            <a:r>
              <a:rPr sz="1100" b="0" i="0">
                <a:solidFill>
                  <a:srgbClr val="5A5D63"/>
                </a:solidFill>
                <a:latin typeface="Inter"/>
              </a:rPr>
              <a:t>Product, fundraising and story quality. Today every department (research, brand, design, hardware, software, finance, GTM, legal/ops, IR) is run as an AI-agent team with founder sign-off on every output; this deck is built from their files.</a:t>
            </a:r>
          </a:p>
        </p:txBody>
      </p:sp>
      <p:sp>
        <p:nvSpPr>
          <p:cNvPr id="11" name="Rectangle 10"/>
          <p:cNvSpPr/>
          <p:nvPr/>
        </p:nvSpPr>
        <p:spPr>
          <a:xfrm>
            <a:off x="548640" y="3886200"/>
            <a:ext cx="3657600" cy="192024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886200"/>
            <a:ext cx="54864" cy="1920240"/>
          </a:xfrm>
          <a:prstGeom prst="rect">
            <a:avLst/>
          </a:prstGeom>
          <a:solidFill>
            <a:srgbClr val="B89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4032504"/>
            <a:ext cx="3255264" cy="457200"/>
          </a:xfrm>
          <a:prstGeom prst="rect">
            <a:avLst/>
          </a:prstGeom>
          <a:noFill/>
        </p:spPr>
        <p:txBody>
          <a:bodyPr wrap="square" lIns="0" rIns="0" tIns="0" bIns="0" anchor="t">
            <a:spAutoFit/>
          </a:bodyPr>
          <a:lstStyle/>
          <a:p>
            <a:pPr algn="l">
              <a:lnSpc>
                <a:spcPct val="110000"/>
              </a:lnSpc>
              <a:spcAft>
                <a:spcPts val="400"/>
              </a:spcAft>
            </a:pPr>
            <a:r>
              <a:rPr sz="1500" b="1" i="0">
                <a:solidFill>
                  <a:srgbClr val="14161A"/>
                </a:solidFill>
                <a:latin typeface="Inter"/>
              </a:rPr>
              <a:t>Contract-first, to de-risk</a:t>
            </a:r>
          </a:p>
        </p:txBody>
      </p:sp>
      <p:sp>
        <p:nvSpPr>
          <p:cNvPr id="14" name="TextBox 13"/>
          <p:cNvSpPr txBox="1"/>
          <p:nvPr/>
        </p:nvSpPr>
        <p:spPr>
          <a:xfrm>
            <a:off x="749808" y="4416552"/>
            <a:ext cx="3255264" cy="1298448"/>
          </a:xfrm>
          <a:prstGeom prst="rect">
            <a:avLst/>
          </a:prstGeom>
          <a:noFill/>
        </p:spPr>
        <p:txBody>
          <a:bodyPr wrap="square" lIns="0" rIns="0" tIns="0" bIns="0" anchor="t">
            <a:spAutoFit/>
          </a:bodyPr>
          <a:lstStyle/>
          <a:p>
            <a:pPr algn="l">
              <a:lnSpc>
                <a:spcPct val="112000"/>
              </a:lnSpc>
              <a:spcAft>
                <a:spcPts val="400"/>
              </a:spcAft>
            </a:pPr>
            <a:r>
              <a:rPr sz="1100" b="0" i="0">
                <a:solidFill>
                  <a:srgbClr val="5A5D63"/>
                </a:solidFill>
                <a:latin typeface="Inter"/>
              </a:rPr>
              <a:t>Industrial-design studio, EE/RF consultancy, ODM programme manager, fractional CFO and GC, patent/TM attorneys. Pre-seed team 6-8 people in 2027; ~20 at seed (2028).</a:t>
            </a:r>
          </a:p>
        </p:txBody>
      </p:sp>
      <p:sp>
        <p:nvSpPr>
          <p:cNvPr id="15" name="Rectangle 14"/>
          <p:cNvSpPr/>
          <p:nvPr/>
        </p:nvSpPr>
        <p:spPr>
          <a:xfrm>
            <a:off x="4434840" y="1645920"/>
            <a:ext cx="7223760" cy="384048"/>
          </a:xfrm>
          <a:prstGeom prst="rect">
            <a:avLst/>
          </a:prstGeom>
          <a:solidFill>
            <a:srgbClr val="14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1645920"/>
            <a:ext cx="274320" cy="384048"/>
          </a:xfrm>
          <a:prstGeom prst="rect">
            <a:avLst/>
          </a:prstGeom>
          <a:noFill/>
        </p:spPr>
        <p:txBody>
          <a:bodyPr wrap="square" lIns="0" rIns="0" tIns="0" bIns="0" anchor="ctr">
            <a:spAutoFit/>
          </a:bodyPr>
          <a:lstStyle/>
          <a:p>
            <a:pPr algn="l">
              <a:lnSpc>
                <a:spcPct val="110000"/>
              </a:lnSpc>
              <a:spcAft>
                <a:spcPts val="400"/>
              </a:spcAft>
            </a:pPr>
            <a:r>
              <a:rPr sz="1100" b="1" i="0">
                <a:solidFill>
                  <a:srgbClr val="F3EEE6"/>
                </a:solidFill>
                <a:latin typeface="Inter"/>
              </a:rPr>
              <a:t>#</a:t>
            </a:r>
          </a:p>
        </p:txBody>
      </p:sp>
      <p:sp>
        <p:nvSpPr>
          <p:cNvPr id="17" name="TextBox 16"/>
          <p:cNvSpPr txBox="1"/>
          <p:nvPr/>
        </p:nvSpPr>
        <p:spPr>
          <a:xfrm>
            <a:off x="4937760" y="1645920"/>
            <a:ext cx="4983480" cy="384048"/>
          </a:xfrm>
          <a:prstGeom prst="rect">
            <a:avLst/>
          </a:prstGeom>
          <a:noFill/>
        </p:spPr>
        <p:txBody>
          <a:bodyPr wrap="square" lIns="0" rIns="0" tIns="0" bIns="0" anchor="ctr">
            <a:spAutoFit/>
          </a:bodyPr>
          <a:lstStyle/>
          <a:p>
            <a:pPr algn="r">
              <a:lnSpc>
                <a:spcPct val="110000"/>
              </a:lnSpc>
              <a:spcAft>
                <a:spcPts val="400"/>
              </a:spcAft>
            </a:pPr>
            <a:r>
              <a:rPr sz="1100" b="1" i="0">
                <a:solidFill>
                  <a:srgbClr val="F3EEE6"/>
                </a:solidFill>
                <a:latin typeface="Inter"/>
              </a:rPr>
              <a:t>First hires (pre-seed)</a:t>
            </a:r>
          </a:p>
        </p:txBody>
      </p:sp>
      <p:sp>
        <p:nvSpPr>
          <p:cNvPr id="18" name="TextBox 17"/>
          <p:cNvSpPr txBox="1"/>
          <p:nvPr/>
        </p:nvSpPr>
        <p:spPr>
          <a:xfrm>
            <a:off x="10058400" y="1645920"/>
            <a:ext cx="1554480" cy="384048"/>
          </a:xfrm>
          <a:prstGeom prst="rect">
            <a:avLst/>
          </a:prstGeom>
          <a:noFill/>
        </p:spPr>
        <p:txBody>
          <a:bodyPr wrap="square" lIns="0" rIns="0" tIns="0" bIns="0" anchor="ctr">
            <a:spAutoFit/>
          </a:bodyPr>
          <a:lstStyle/>
          <a:p>
            <a:pPr algn="r">
              <a:lnSpc>
                <a:spcPct val="110000"/>
              </a:lnSpc>
              <a:spcAft>
                <a:spcPts val="400"/>
              </a:spcAft>
            </a:pPr>
            <a:r>
              <a:rPr sz="1100" b="1" i="0">
                <a:solidFill>
                  <a:srgbClr val="F3EEE6"/>
                </a:solidFill>
                <a:latin typeface="Inter"/>
              </a:rPr>
              <a:t>When</a:t>
            </a:r>
          </a:p>
        </p:txBody>
      </p:sp>
      <p:sp>
        <p:nvSpPr>
          <p:cNvPr id="19" name="TextBox 18"/>
          <p:cNvSpPr txBox="1"/>
          <p:nvPr/>
        </p:nvSpPr>
        <p:spPr>
          <a:xfrm>
            <a:off x="4526280" y="2029968"/>
            <a:ext cx="274320" cy="38404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1</a:t>
            </a:r>
          </a:p>
        </p:txBody>
      </p:sp>
      <p:sp>
        <p:nvSpPr>
          <p:cNvPr id="20" name="TextBox 19"/>
          <p:cNvSpPr txBox="1"/>
          <p:nvPr/>
        </p:nvSpPr>
        <p:spPr>
          <a:xfrm>
            <a:off x="4937760" y="2029968"/>
            <a:ext cx="4983480" cy="38404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Founding Embedded / Firmware Lead</a:t>
            </a:r>
          </a:p>
        </p:txBody>
      </p:sp>
      <p:sp>
        <p:nvSpPr>
          <p:cNvPr id="21" name="TextBox 20"/>
          <p:cNvSpPr txBox="1"/>
          <p:nvPr/>
        </p:nvSpPr>
        <p:spPr>
          <a:xfrm>
            <a:off x="10058400" y="2029968"/>
            <a:ext cx="1554480" cy="38404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Nov 2026</a:t>
            </a:r>
          </a:p>
        </p:txBody>
      </p:sp>
      <p:sp>
        <p:nvSpPr>
          <p:cNvPr id="22" name="Rectangle 21"/>
          <p:cNvSpPr/>
          <p:nvPr/>
        </p:nvSpPr>
        <p:spPr>
          <a:xfrm>
            <a:off x="4434840" y="2414016"/>
            <a:ext cx="7223760" cy="384048"/>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2414016"/>
            <a:ext cx="274320" cy="38404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2</a:t>
            </a:r>
          </a:p>
        </p:txBody>
      </p:sp>
      <p:sp>
        <p:nvSpPr>
          <p:cNvPr id="24" name="TextBox 23"/>
          <p:cNvSpPr txBox="1"/>
          <p:nvPr/>
        </p:nvSpPr>
        <p:spPr>
          <a:xfrm>
            <a:off x="4937760" y="2414016"/>
            <a:ext cx="4983480" cy="38404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Founding ML / Story-Engine Engineer</a:t>
            </a:r>
          </a:p>
        </p:txBody>
      </p:sp>
      <p:sp>
        <p:nvSpPr>
          <p:cNvPr id="25" name="TextBox 24"/>
          <p:cNvSpPr txBox="1"/>
          <p:nvPr/>
        </p:nvSpPr>
        <p:spPr>
          <a:xfrm>
            <a:off x="10058400" y="2414016"/>
            <a:ext cx="1554480" cy="38404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Nov 2026</a:t>
            </a:r>
          </a:p>
        </p:txBody>
      </p:sp>
      <p:sp>
        <p:nvSpPr>
          <p:cNvPr id="26" name="TextBox 25"/>
          <p:cNvSpPr txBox="1"/>
          <p:nvPr/>
        </p:nvSpPr>
        <p:spPr>
          <a:xfrm>
            <a:off x="4526280" y="2798064"/>
            <a:ext cx="274320" cy="38404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3</a:t>
            </a:r>
          </a:p>
        </p:txBody>
      </p:sp>
      <p:sp>
        <p:nvSpPr>
          <p:cNvPr id="27" name="TextBox 26"/>
          <p:cNvSpPr txBox="1"/>
          <p:nvPr/>
        </p:nvSpPr>
        <p:spPr>
          <a:xfrm>
            <a:off x="4937760" y="2798064"/>
            <a:ext cx="4983480" cy="38404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Mobile + Backend Engineer</a:t>
            </a:r>
          </a:p>
        </p:txBody>
      </p:sp>
      <p:sp>
        <p:nvSpPr>
          <p:cNvPr id="28" name="TextBox 27"/>
          <p:cNvSpPr txBox="1"/>
          <p:nvPr/>
        </p:nvSpPr>
        <p:spPr>
          <a:xfrm>
            <a:off x="10058400" y="2798064"/>
            <a:ext cx="1554480" cy="38404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Dec 2026</a:t>
            </a:r>
          </a:p>
        </p:txBody>
      </p:sp>
      <p:sp>
        <p:nvSpPr>
          <p:cNvPr id="29" name="Rectangle 28"/>
          <p:cNvSpPr/>
          <p:nvPr/>
        </p:nvSpPr>
        <p:spPr>
          <a:xfrm>
            <a:off x="4434840" y="3182112"/>
            <a:ext cx="7223760" cy="384048"/>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26280" y="3182112"/>
            <a:ext cx="274320" cy="38404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4</a:t>
            </a:r>
          </a:p>
        </p:txBody>
      </p:sp>
      <p:sp>
        <p:nvSpPr>
          <p:cNvPr id="31" name="TextBox 30"/>
          <p:cNvSpPr txBox="1"/>
          <p:nvPr/>
        </p:nvSpPr>
        <p:spPr>
          <a:xfrm>
            <a:off x="4937760" y="3182112"/>
            <a:ext cx="4983480" cy="38404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Hardware / Electrical Lead (contract first)</a:t>
            </a:r>
          </a:p>
        </p:txBody>
      </p:sp>
      <p:sp>
        <p:nvSpPr>
          <p:cNvPr id="32" name="TextBox 31"/>
          <p:cNvSpPr txBox="1"/>
          <p:nvPr/>
        </p:nvSpPr>
        <p:spPr>
          <a:xfrm>
            <a:off x="10058400" y="3182112"/>
            <a:ext cx="1554480" cy="38404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Jan 2027</a:t>
            </a:r>
          </a:p>
        </p:txBody>
      </p:sp>
      <p:sp>
        <p:nvSpPr>
          <p:cNvPr id="33" name="TextBox 32"/>
          <p:cNvSpPr txBox="1"/>
          <p:nvPr/>
        </p:nvSpPr>
        <p:spPr>
          <a:xfrm>
            <a:off x="4526280" y="3566160"/>
            <a:ext cx="274320" cy="38404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5</a:t>
            </a:r>
          </a:p>
        </p:txBody>
      </p:sp>
      <p:sp>
        <p:nvSpPr>
          <p:cNvPr id="34" name="TextBox 33"/>
          <p:cNvSpPr txBox="1"/>
          <p:nvPr/>
        </p:nvSpPr>
        <p:spPr>
          <a:xfrm>
            <a:off x="4937760" y="3566160"/>
            <a:ext cx="4983480" cy="38404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Sensor-Fusion / Map Vision Engineer</a:t>
            </a:r>
          </a:p>
        </p:txBody>
      </p:sp>
      <p:sp>
        <p:nvSpPr>
          <p:cNvPr id="35" name="TextBox 34"/>
          <p:cNvSpPr txBox="1"/>
          <p:nvPr/>
        </p:nvSpPr>
        <p:spPr>
          <a:xfrm>
            <a:off x="10058400" y="3566160"/>
            <a:ext cx="1554480" cy="38404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Jan 2027</a:t>
            </a:r>
          </a:p>
        </p:txBody>
      </p:sp>
      <p:sp>
        <p:nvSpPr>
          <p:cNvPr id="36" name="Rectangle 35"/>
          <p:cNvSpPr/>
          <p:nvPr/>
        </p:nvSpPr>
        <p:spPr>
          <a:xfrm>
            <a:off x="4434840" y="3950208"/>
            <a:ext cx="7223760" cy="384048"/>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26280" y="3950208"/>
            <a:ext cx="274320" cy="38404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6</a:t>
            </a:r>
          </a:p>
        </p:txBody>
      </p:sp>
      <p:sp>
        <p:nvSpPr>
          <p:cNvPr id="38" name="TextBox 37"/>
          <p:cNvSpPr txBox="1"/>
          <p:nvPr/>
        </p:nvSpPr>
        <p:spPr>
          <a:xfrm>
            <a:off x="4937760" y="3950208"/>
            <a:ext cx="4983480" cy="38404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Content Editor-in-Chief (City Packs)</a:t>
            </a:r>
          </a:p>
        </p:txBody>
      </p:sp>
      <p:sp>
        <p:nvSpPr>
          <p:cNvPr id="39" name="TextBox 38"/>
          <p:cNvSpPr txBox="1"/>
          <p:nvPr/>
        </p:nvSpPr>
        <p:spPr>
          <a:xfrm>
            <a:off x="10058400" y="3950208"/>
            <a:ext cx="1554480" cy="38404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Jan 2027</a:t>
            </a:r>
          </a:p>
        </p:txBody>
      </p:sp>
      <p:sp>
        <p:nvSpPr>
          <p:cNvPr id="40" name="TextBox 39"/>
          <p:cNvSpPr txBox="1"/>
          <p:nvPr/>
        </p:nvSpPr>
        <p:spPr>
          <a:xfrm>
            <a:off x="4526280" y="4334256"/>
            <a:ext cx="274320" cy="38404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7</a:t>
            </a:r>
          </a:p>
        </p:txBody>
      </p:sp>
      <p:sp>
        <p:nvSpPr>
          <p:cNvPr id="41" name="TextBox 40"/>
          <p:cNvSpPr txBox="1"/>
          <p:nvPr/>
        </p:nvSpPr>
        <p:spPr>
          <a:xfrm>
            <a:off x="4937760" y="4334256"/>
            <a:ext cx="4983480" cy="38404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Growth &amp; Community Lead (Kickstarter)</a:t>
            </a:r>
          </a:p>
        </p:txBody>
      </p:sp>
      <p:sp>
        <p:nvSpPr>
          <p:cNvPr id="42" name="TextBox 41"/>
          <p:cNvSpPr txBox="1"/>
          <p:nvPr/>
        </p:nvSpPr>
        <p:spPr>
          <a:xfrm>
            <a:off x="10058400" y="4334256"/>
            <a:ext cx="1554480" cy="38404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Feb 2027</a:t>
            </a:r>
          </a:p>
        </p:txBody>
      </p:sp>
      <p:sp>
        <p:nvSpPr>
          <p:cNvPr id="43" name="Rectangle 42"/>
          <p:cNvSpPr/>
          <p:nvPr/>
        </p:nvSpPr>
        <p:spPr>
          <a:xfrm>
            <a:off x="4434840" y="4718304"/>
            <a:ext cx="7223760" cy="384048"/>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26280" y="4718304"/>
            <a:ext cx="274320" cy="38404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8</a:t>
            </a:r>
          </a:p>
        </p:txBody>
      </p:sp>
      <p:sp>
        <p:nvSpPr>
          <p:cNvPr id="45" name="TextBox 44"/>
          <p:cNvSpPr txBox="1"/>
          <p:nvPr/>
        </p:nvSpPr>
        <p:spPr>
          <a:xfrm>
            <a:off x="4937760" y="4718304"/>
            <a:ext cx="4983480" cy="38404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Supply Chain &amp; Quality Manager</a:t>
            </a:r>
          </a:p>
        </p:txBody>
      </p:sp>
      <p:sp>
        <p:nvSpPr>
          <p:cNvPr id="46" name="TextBox 45"/>
          <p:cNvSpPr txBox="1"/>
          <p:nvPr/>
        </p:nvSpPr>
        <p:spPr>
          <a:xfrm>
            <a:off x="10058400" y="4718304"/>
            <a:ext cx="1554480" cy="38404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Mar 2027</a:t>
            </a:r>
          </a:p>
        </p:txBody>
      </p:sp>
      <p:sp>
        <p:nvSpPr>
          <p:cNvPr id="47" name="Rectangle 46"/>
          <p:cNvSpPr/>
          <p:nvPr/>
        </p:nvSpPr>
        <p:spPr>
          <a:xfrm>
            <a:off x="4434840" y="5102352"/>
            <a:ext cx="7223760" cy="9000"/>
          </a:xfrm>
          <a:prstGeom prst="rect">
            <a:avLst/>
          </a:prstGeom>
          <a:solidFill>
            <a:srgbClr val="DDD5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434840" y="5212080"/>
            <a:ext cx="7223760" cy="640080"/>
          </a:xfrm>
          <a:prstGeom prst="rect">
            <a:avLst/>
          </a:prstGeom>
          <a:noFill/>
        </p:spPr>
        <p:txBody>
          <a:bodyPr wrap="square" lIns="0" rIns="0" tIns="0" bIns="0" anchor="t">
            <a:spAutoFit/>
          </a:bodyPr>
          <a:lstStyle/>
          <a:p>
            <a:pPr algn="l">
              <a:lnSpc>
                <a:spcPct val="110000"/>
              </a:lnSpc>
              <a:spcAft>
                <a:spcPts val="400"/>
              </a:spcAft>
            </a:pPr>
            <a:r>
              <a:rPr sz="1050" b="0" i="0">
                <a:solidFill>
                  <a:srgbClr val="5A5D63"/>
                </a:solidFill>
                <a:latin typeface="Inter"/>
              </a:rPr>
              <a:t>We are not claiming hires, advisors or investors that do not exist. Roles, salary bands (US/EU/IN) and equity bands: legal-ops/hr-hiring.md. 12% option pool planned.</a:t>
            </a:r>
          </a:p>
        </p:txBody>
      </p:sp>
      <p:sp>
        <p:nvSpPr>
          <p:cNvPr id="49" name="TextBox 48"/>
          <p:cNvSpPr txBox="1"/>
          <p:nvPr/>
        </p:nvSpPr>
        <p:spPr>
          <a:xfrm>
            <a:off x="548640" y="6108192"/>
            <a:ext cx="11064240" cy="274320"/>
          </a:xfrm>
          <a:prstGeom prst="rect">
            <a:avLst/>
          </a:prstGeom>
          <a:noFill/>
        </p:spPr>
        <p:txBody>
          <a:bodyPr wrap="square" lIns="0" rIns="0" tIns="0" bIns="0" anchor="t">
            <a:spAutoFit/>
          </a:bodyPr>
          <a:lstStyle/>
          <a:p>
            <a:pPr algn="l">
              <a:lnSpc>
                <a:spcPct val="110000"/>
              </a:lnSpc>
              <a:spcAft>
                <a:spcPts val="400"/>
              </a:spcAft>
            </a:pPr>
            <a:r>
              <a:rPr sz="850" b="0" i="0">
                <a:solidFill>
                  <a:srgbClr val="5A5D63"/>
                </a:solidFill>
                <a:latin typeface="Inter"/>
              </a:rPr>
              <a:t>Sources: company/org-chart.md, legal-ops/hr-hiring.md, legal-ops/README.md.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EEE6"/>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10000"/>
              </a:lnSpc>
              <a:spcAft>
                <a:spcPts val="400"/>
              </a:spcAft>
            </a:pPr>
            <a:r>
              <a:rPr sz="1100" b="1" i="0">
                <a:solidFill>
                  <a:srgbClr val="C4623A"/>
                </a:solidFill>
                <a:latin typeface="Inter"/>
              </a:rPr>
              <a:t>FINANCIALS</a:t>
            </a:r>
          </a:p>
        </p:txBody>
      </p:sp>
      <p:sp>
        <p:nvSpPr>
          <p:cNvPr id="3" name="TextBox 2"/>
          <p:cNvSpPr txBox="1"/>
          <p:nvPr/>
        </p:nvSpPr>
        <p:spPr>
          <a:xfrm>
            <a:off x="548640" y="658368"/>
            <a:ext cx="11064240" cy="822960"/>
          </a:xfrm>
          <a:prstGeom prst="rect">
            <a:avLst/>
          </a:prstGeom>
          <a:noFill/>
        </p:spPr>
        <p:txBody>
          <a:bodyPr wrap="square" lIns="0" rIns="0" tIns="0" bIns="0" anchor="t">
            <a:spAutoFit/>
          </a:bodyPr>
          <a:lstStyle/>
          <a:p>
            <a:pPr algn="l">
              <a:lnSpc>
                <a:spcPct val="100000"/>
              </a:lnSpc>
              <a:spcAft>
                <a:spcPts val="400"/>
              </a:spcAft>
            </a:pPr>
            <a:r>
              <a:rPr sz="3000" b="0" i="0">
                <a:solidFill>
                  <a:srgbClr val="14161A"/>
                </a:solidFill>
                <a:latin typeface="Fraunces"/>
              </a:rPr>
              <a:t>Base case: $111M revenue in FY2031; EBITDA-positive in FY2031.</a:t>
            </a:r>
          </a:p>
        </p:txBody>
      </p:sp>
      <p:pic>
        <p:nvPicPr>
          <p:cNvPr id="4" name="Picture 3" descr="lore-lockup-horizontal-ink-1600w.png"/>
          <p:cNvPicPr>
            <a:picLocks noChangeAspect="1"/>
          </p:cNvPicPr>
          <p:nvPr/>
        </p:nvPicPr>
        <p:blipFill>
          <a:blip r:embed="rId2"/>
          <a:stretch>
            <a:fillRect/>
          </a:stretch>
        </p:blipFill>
        <p:spPr>
          <a:xfrm>
            <a:off x="548640" y="6429032"/>
            <a:ext cx="822960" cy="199567"/>
          </a:xfrm>
          <a:prstGeom prst="rect">
            <a:avLst/>
          </a:prstGeom>
        </p:spPr>
      </p:pic>
      <p:sp>
        <p:nvSpPr>
          <p:cNvPr id="5" name="TextBox 4"/>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6" name="TextBox 5"/>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15</a:t>
            </a:r>
          </a:p>
        </p:txBody>
      </p:sp>
      <p:sp>
        <p:nvSpPr>
          <p:cNvPr id="7" name="Rectangle 6"/>
          <p:cNvSpPr/>
          <p:nvPr/>
        </p:nvSpPr>
        <p:spPr>
          <a:xfrm>
            <a:off x="548640" y="1600200"/>
            <a:ext cx="6080760" cy="384048"/>
          </a:xfrm>
          <a:prstGeom prst="rect">
            <a:avLst/>
          </a:prstGeom>
          <a:solidFill>
            <a:srgbClr val="14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00200"/>
            <a:ext cx="1463040" cy="384048"/>
          </a:xfrm>
          <a:prstGeom prst="rect">
            <a:avLst/>
          </a:prstGeom>
          <a:noFill/>
        </p:spPr>
        <p:txBody>
          <a:bodyPr wrap="square" lIns="0" rIns="0" tIns="0" bIns="0" anchor="ctr">
            <a:spAutoFit/>
          </a:bodyPr>
          <a:lstStyle/>
          <a:p>
            <a:pPr algn="l">
              <a:lnSpc>
                <a:spcPct val="110000"/>
              </a:lnSpc>
              <a:spcAft>
                <a:spcPts val="400"/>
              </a:spcAft>
            </a:pPr>
            <a:r>
              <a:rPr sz="1050" b="1" i="0">
                <a:solidFill>
                  <a:srgbClr val="F3EEE6"/>
                </a:solidFill>
                <a:latin typeface="Inter"/>
              </a:rPr>
              <a:t>Base case</a:t>
            </a:r>
          </a:p>
        </p:txBody>
      </p:sp>
      <p:sp>
        <p:nvSpPr>
          <p:cNvPr id="9" name="TextBox 8"/>
          <p:cNvSpPr txBox="1"/>
          <p:nvPr/>
        </p:nvSpPr>
        <p:spPr>
          <a:xfrm>
            <a:off x="2240280" y="1600200"/>
            <a:ext cx="758952" cy="384048"/>
          </a:xfrm>
          <a:prstGeom prst="rect">
            <a:avLst/>
          </a:prstGeom>
          <a:noFill/>
        </p:spPr>
        <p:txBody>
          <a:bodyPr wrap="square" lIns="0" rIns="0" tIns="0" bIns="0" anchor="ctr">
            <a:spAutoFit/>
          </a:bodyPr>
          <a:lstStyle/>
          <a:p>
            <a:pPr algn="r">
              <a:lnSpc>
                <a:spcPct val="110000"/>
              </a:lnSpc>
              <a:spcAft>
                <a:spcPts val="400"/>
              </a:spcAft>
            </a:pPr>
            <a:r>
              <a:rPr sz="1050" b="1" i="0">
                <a:solidFill>
                  <a:srgbClr val="F3EEE6"/>
                </a:solidFill>
                <a:latin typeface="Inter"/>
              </a:rPr>
              <a:t>FY27</a:t>
            </a:r>
          </a:p>
        </p:txBody>
      </p:sp>
      <p:sp>
        <p:nvSpPr>
          <p:cNvPr id="10" name="TextBox 9"/>
          <p:cNvSpPr txBox="1"/>
          <p:nvPr/>
        </p:nvSpPr>
        <p:spPr>
          <a:xfrm>
            <a:off x="3136392" y="1600200"/>
            <a:ext cx="758952" cy="384048"/>
          </a:xfrm>
          <a:prstGeom prst="rect">
            <a:avLst/>
          </a:prstGeom>
          <a:noFill/>
        </p:spPr>
        <p:txBody>
          <a:bodyPr wrap="square" lIns="0" rIns="0" tIns="0" bIns="0" anchor="ctr">
            <a:spAutoFit/>
          </a:bodyPr>
          <a:lstStyle/>
          <a:p>
            <a:pPr algn="r">
              <a:lnSpc>
                <a:spcPct val="110000"/>
              </a:lnSpc>
              <a:spcAft>
                <a:spcPts val="400"/>
              </a:spcAft>
            </a:pPr>
            <a:r>
              <a:rPr sz="1050" b="1" i="0">
                <a:solidFill>
                  <a:srgbClr val="F3EEE6"/>
                </a:solidFill>
                <a:latin typeface="Inter"/>
              </a:rPr>
              <a:t>FY28</a:t>
            </a:r>
          </a:p>
        </p:txBody>
      </p:sp>
      <p:sp>
        <p:nvSpPr>
          <p:cNvPr id="11" name="TextBox 10"/>
          <p:cNvSpPr txBox="1"/>
          <p:nvPr/>
        </p:nvSpPr>
        <p:spPr>
          <a:xfrm>
            <a:off x="4032504" y="1600200"/>
            <a:ext cx="758952" cy="384048"/>
          </a:xfrm>
          <a:prstGeom prst="rect">
            <a:avLst/>
          </a:prstGeom>
          <a:noFill/>
        </p:spPr>
        <p:txBody>
          <a:bodyPr wrap="square" lIns="0" rIns="0" tIns="0" bIns="0" anchor="ctr">
            <a:spAutoFit/>
          </a:bodyPr>
          <a:lstStyle/>
          <a:p>
            <a:pPr algn="r">
              <a:lnSpc>
                <a:spcPct val="110000"/>
              </a:lnSpc>
              <a:spcAft>
                <a:spcPts val="400"/>
              </a:spcAft>
            </a:pPr>
            <a:r>
              <a:rPr sz="1050" b="1" i="0">
                <a:solidFill>
                  <a:srgbClr val="F3EEE6"/>
                </a:solidFill>
                <a:latin typeface="Inter"/>
              </a:rPr>
              <a:t>FY29</a:t>
            </a:r>
          </a:p>
        </p:txBody>
      </p:sp>
      <p:sp>
        <p:nvSpPr>
          <p:cNvPr id="12" name="TextBox 11"/>
          <p:cNvSpPr txBox="1"/>
          <p:nvPr/>
        </p:nvSpPr>
        <p:spPr>
          <a:xfrm>
            <a:off x="4928616" y="1600200"/>
            <a:ext cx="758952" cy="384048"/>
          </a:xfrm>
          <a:prstGeom prst="rect">
            <a:avLst/>
          </a:prstGeom>
          <a:noFill/>
        </p:spPr>
        <p:txBody>
          <a:bodyPr wrap="square" lIns="0" rIns="0" tIns="0" bIns="0" anchor="ctr">
            <a:spAutoFit/>
          </a:bodyPr>
          <a:lstStyle/>
          <a:p>
            <a:pPr algn="r">
              <a:lnSpc>
                <a:spcPct val="110000"/>
              </a:lnSpc>
              <a:spcAft>
                <a:spcPts val="400"/>
              </a:spcAft>
            </a:pPr>
            <a:r>
              <a:rPr sz="1050" b="1" i="0">
                <a:solidFill>
                  <a:srgbClr val="F3EEE6"/>
                </a:solidFill>
                <a:latin typeface="Inter"/>
              </a:rPr>
              <a:t>FY30</a:t>
            </a:r>
          </a:p>
        </p:txBody>
      </p:sp>
      <p:sp>
        <p:nvSpPr>
          <p:cNvPr id="13" name="TextBox 12"/>
          <p:cNvSpPr txBox="1"/>
          <p:nvPr/>
        </p:nvSpPr>
        <p:spPr>
          <a:xfrm>
            <a:off x="5824728" y="1600200"/>
            <a:ext cx="758952" cy="384048"/>
          </a:xfrm>
          <a:prstGeom prst="rect">
            <a:avLst/>
          </a:prstGeom>
          <a:noFill/>
        </p:spPr>
        <p:txBody>
          <a:bodyPr wrap="square" lIns="0" rIns="0" tIns="0" bIns="0" anchor="ctr">
            <a:spAutoFit/>
          </a:bodyPr>
          <a:lstStyle/>
          <a:p>
            <a:pPr algn="r">
              <a:lnSpc>
                <a:spcPct val="110000"/>
              </a:lnSpc>
              <a:spcAft>
                <a:spcPts val="400"/>
              </a:spcAft>
            </a:pPr>
            <a:r>
              <a:rPr sz="1050" b="1" i="0">
                <a:solidFill>
                  <a:srgbClr val="F3EEE6"/>
                </a:solidFill>
                <a:latin typeface="Inter"/>
              </a:rPr>
              <a:t>FY31</a:t>
            </a:r>
          </a:p>
        </p:txBody>
      </p:sp>
      <p:sp>
        <p:nvSpPr>
          <p:cNvPr id="14" name="TextBox 13"/>
          <p:cNvSpPr txBox="1"/>
          <p:nvPr/>
        </p:nvSpPr>
        <p:spPr>
          <a:xfrm>
            <a:off x="640080" y="1984248"/>
            <a:ext cx="1463040" cy="384048"/>
          </a:xfrm>
          <a:prstGeom prst="rect">
            <a:avLst/>
          </a:prstGeom>
          <a:noFill/>
        </p:spPr>
        <p:txBody>
          <a:bodyPr wrap="square" lIns="0" rIns="0" tIns="0" bIns="0" anchor="ctr">
            <a:spAutoFit/>
          </a:bodyPr>
          <a:lstStyle/>
          <a:p>
            <a:pPr algn="l">
              <a:lnSpc>
                <a:spcPct val="110000"/>
              </a:lnSpc>
              <a:spcAft>
                <a:spcPts val="400"/>
              </a:spcAft>
            </a:pPr>
            <a:r>
              <a:rPr sz="1050" b="1" i="0">
                <a:solidFill>
                  <a:srgbClr val="14161A"/>
                </a:solidFill>
                <a:latin typeface="Inter"/>
              </a:rPr>
              <a:t>Units</a:t>
            </a:r>
          </a:p>
        </p:txBody>
      </p:sp>
      <p:sp>
        <p:nvSpPr>
          <p:cNvPr id="15" name="TextBox 14"/>
          <p:cNvSpPr txBox="1"/>
          <p:nvPr/>
        </p:nvSpPr>
        <p:spPr>
          <a:xfrm>
            <a:off x="2240280" y="1984248"/>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3.4k</a:t>
            </a:r>
          </a:p>
        </p:txBody>
      </p:sp>
      <p:sp>
        <p:nvSpPr>
          <p:cNvPr id="16" name="TextBox 15"/>
          <p:cNvSpPr txBox="1"/>
          <p:nvPr/>
        </p:nvSpPr>
        <p:spPr>
          <a:xfrm>
            <a:off x="3136392" y="1984248"/>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40k</a:t>
            </a:r>
          </a:p>
        </p:txBody>
      </p:sp>
      <p:sp>
        <p:nvSpPr>
          <p:cNvPr id="17" name="TextBox 16"/>
          <p:cNvSpPr txBox="1"/>
          <p:nvPr/>
        </p:nvSpPr>
        <p:spPr>
          <a:xfrm>
            <a:off x="4032504" y="1984248"/>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120k</a:t>
            </a:r>
          </a:p>
        </p:txBody>
      </p:sp>
      <p:sp>
        <p:nvSpPr>
          <p:cNvPr id="18" name="TextBox 17"/>
          <p:cNvSpPr txBox="1"/>
          <p:nvPr/>
        </p:nvSpPr>
        <p:spPr>
          <a:xfrm>
            <a:off x="4928616" y="1984248"/>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250k</a:t>
            </a:r>
          </a:p>
        </p:txBody>
      </p:sp>
      <p:sp>
        <p:nvSpPr>
          <p:cNvPr id="19" name="TextBox 18"/>
          <p:cNvSpPr txBox="1"/>
          <p:nvPr/>
        </p:nvSpPr>
        <p:spPr>
          <a:xfrm>
            <a:off x="5824728" y="1984248"/>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400k</a:t>
            </a:r>
          </a:p>
        </p:txBody>
      </p:sp>
      <p:sp>
        <p:nvSpPr>
          <p:cNvPr id="20" name="Rectangle 19"/>
          <p:cNvSpPr/>
          <p:nvPr/>
        </p:nvSpPr>
        <p:spPr>
          <a:xfrm>
            <a:off x="548640" y="2368296"/>
            <a:ext cx="6080760" cy="384048"/>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2368296"/>
            <a:ext cx="1463040" cy="384048"/>
          </a:xfrm>
          <a:prstGeom prst="rect">
            <a:avLst/>
          </a:prstGeom>
          <a:noFill/>
        </p:spPr>
        <p:txBody>
          <a:bodyPr wrap="square" lIns="0" rIns="0" tIns="0" bIns="0" anchor="ctr">
            <a:spAutoFit/>
          </a:bodyPr>
          <a:lstStyle/>
          <a:p>
            <a:pPr algn="l">
              <a:lnSpc>
                <a:spcPct val="110000"/>
              </a:lnSpc>
              <a:spcAft>
                <a:spcPts val="400"/>
              </a:spcAft>
            </a:pPr>
            <a:r>
              <a:rPr sz="1050" b="1" i="0">
                <a:solidFill>
                  <a:srgbClr val="14161A"/>
                </a:solidFill>
                <a:latin typeface="Inter"/>
              </a:rPr>
              <a:t>Revenue</a:t>
            </a:r>
          </a:p>
        </p:txBody>
      </p:sp>
      <p:sp>
        <p:nvSpPr>
          <p:cNvPr id="22" name="TextBox 21"/>
          <p:cNvSpPr txBox="1"/>
          <p:nvPr/>
        </p:nvSpPr>
        <p:spPr>
          <a:xfrm>
            <a:off x="2240280" y="2368296"/>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$596k</a:t>
            </a:r>
          </a:p>
        </p:txBody>
      </p:sp>
      <p:sp>
        <p:nvSpPr>
          <p:cNvPr id="23" name="TextBox 22"/>
          <p:cNvSpPr txBox="1"/>
          <p:nvPr/>
        </p:nvSpPr>
        <p:spPr>
          <a:xfrm>
            <a:off x="3136392" y="2368296"/>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$10.1M</a:t>
            </a:r>
          </a:p>
        </p:txBody>
      </p:sp>
      <p:sp>
        <p:nvSpPr>
          <p:cNvPr id="24" name="TextBox 23"/>
          <p:cNvSpPr txBox="1"/>
          <p:nvPr/>
        </p:nvSpPr>
        <p:spPr>
          <a:xfrm>
            <a:off x="4032504" y="2368296"/>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$31.6M</a:t>
            </a:r>
          </a:p>
        </p:txBody>
      </p:sp>
      <p:sp>
        <p:nvSpPr>
          <p:cNvPr id="25" name="TextBox 24"/>
          <p:cNvSpPr txBox="1"/>
          <p:nvPr/>
        </p:nvSpPr>
        <p:spPr>
          <a:xfrm>
            <a:off x="4928616" y="2368296"/>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$67.1M</a:t>
            </a:r>
          </a:p>
        </p:txBody>
      </p:sp>
      <p:sp>
        <p:nvSpPr>
          <p:cNvPr id="26" name="TextBox 25"/>
          <p:cNvSpPr txBox="1"/>
          <p:nvPr/>
        </p:nvSpPr>
        <p:spPr>
          <a:xfrm>
            <a:off x="5824728" y="2368296"/>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$111.3M</a:t>
            </a:r>
          </a:p>
        </p:txBody>
      </p:sp>
      <p:sp>
        <p:nvSpPr>
          <p:cNvPr id="27" name="TextBox 26"/>
          <p:cNvSpPr txBox="1"/>
          <p:nvPr/>
        </p:nvSpPr>
        <p:spPr>
          <a:xfrm>
            <a:off x="640080" y="2752344"/>
            <a:ext cx="1463040" cy="384048"/>
          </a:xfrm>
          <a:prstGeom prst="rect">
            <a:avLst/>
          </a:prstGeom>
          <a:noFill/>
        </p:spPr>
        <p:txBody>
          <a:bodyPr wrap="square" lIns="0" rIns="0" tIns="0" bIns="0" anchor="ctr">
            <a:spAutoFit/>
          </a:bodyPr>
          <a:lstStyle/>
          <a:p>
            <a:pPr algn="l">
              <a:lnSpc>
                <a:spcPct val="110000"/>
              </a:lnSpc>
              <a:spcAft>
                <a:spcPts val="400"/>
              </a:spcAft>
            </a:pPr>
            <a:r>
              <a:rPr sz="1050" b="1" i="0">
                <a:solidFill>
                  <a:srgbClr val="14161A"/>
                </a:solidFill>
                <a:latin typeface="Inter"/>
              </a:rPr>
              <a:t>Gross margin</a:t>
            </a:r>
          </a:p>
        </p:txBody>
      </p:sp>
      <p:sp>
        <p:nvSpPr>
          <p:cNvPr id="28" name="TextBox 27"/>
          <p:cNvSpPr txBox="1"/>
          <p:nvPr/>
        </p:nvSpPr>
        <p:spPr>
          <a:xfrm>
            <a:off x="2240280" y="2752344"/>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11%</a:t>
            </a:r>
          </a:p>
        </p:txBody>
      </p:sp>
      <p:sp>
        <p:nvSpPr>
          <p:cNvPr id="29" name="TextBox 28"/>
          <p:cNvSpPr txBox="1"/>
          <p:nvPr/>
        </p:nvSpPr>
        <p:spPr>
          <a:xfrm>
            <a:off x="3136392" y="2752344"/>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27%</a:t>
            </a:r>
          </a:p>
        </p:txBody>
      </p:sp>
      <p:sp>
        <p:nvSpPr>
          <p:cNvPr id="30" name="TextBox 29"/>
          <p:cNvSpPr txBox="1"/>
          <p:nvPr/>
        </p:nvSpPr>
        <p:spPr>
          <a:xfrm>
            <a:off x="4032504" y="2752344"/>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33%</a:t>
            </a:r>
          </a:p>
        </p:txBody>
      </p:sp>
      <p:sp>
        <p:nvSpPr>
          <p:cNvPr id="31" name="TextBox 30"/>
          <p:cNvSpPr txBox="1"/>
          <p:nvPr/>
        </p:nvSpPr>
        <p:spPr>
          <a:xfrm>
            <a:off x="4928616" y="2752344"/>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38%</a:t>
            </a:r>
          </a:p>
        </p:txBody>
      </p:sp>
      <p:sp>
        <p:nvSpPr>
          <p:cNvPr id="32" name="TextBox 31"/>
          <p:cNvSpPr txBox="1"/>
          <p:nvPr/>
        </p:nvSpPr>
        <p:spPr>
          <a:xfrm>
            <a:off x="5824728" y="2752344"/>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41%</a:t>
            </a:r>
          </a:p>
        </p:txBody>
      </p:sp>
      <p:sp>
        <p:nvSpPr>
          <p:cNvPr id="33" name="Rectangle 32"/>
          <p:cNvSpPr/>
          <p:nvPr/>
        </p:nvSpPr>
        <p:spPr>
          <a:xfrm>
            <a:off x="548640" y="3136392"/>
            <a:ext cx="6080760" cy="384048"/>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3136392"/>
            <a:ext cx="1463040" cy="384048"/>
          </a:xfrm>
          <a:prstGeom prst="rect">
            <a:avLst/>
          </a:prstGeom>
          <a:noFill/>
        </p:spPr>
        <p:txBody>
          <a:bodyPr wrap="square" lIns="0" rIns="0" tIns="0" bIns="0" anchor="ctr">
            <a:spAutoFit/>
          </a:bodyPr>
          <a:lstStyle/>
          <a:p>
            <a:pPr algn="l">
              <a:lnSpc>
                <a:spcPct val="110000"/>
              </a:lnSpc>
              <a:spcAft>
                <a:spcPts val="400"/>
              </a:spcAft>
            </a:pPr>
            <a:r>
              <a:rPr sz="1050" b="1" i="0">
                <a:solidFill>
                  <a:srgbClr val="14161A"/>
                </a:solidFill>
                <a:latin typeface="Inter"/>
              </a:rPr>
              <a:t>EBITDA</a:t>
            </a:r>
          </a:p>
        </p:txBody>
      </p:sp>
      <p:sp>
        <p:nvSpPr>
          <p:cNvPr id="35" name="TextBox 34"/>
          <p:cNvSpPr txBox="1"/>
          <p:nvPr/>
        </p:nvSpPr>
        <p:spPr>
          <a:xfrm>
            <a:off x="2240280" y="3136392"/>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-$4.2M</a:t>
            </a:r>
          </a:p>
        </p:txBody>
      </p:sp>
      <p:sp>
        <p:nvSpPr>
          <p:cNvPr id="36" name="TextBox 35"/>
          <p:cNvSpPr txBox="1"/>
          <p:nvPr/>
        </p:nvSpPr>
        <p:spPr>
          <a:xfrm>
            <a:off x="3136392" y="3136392"/>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-$4.3M</a:t>
            </a:r>
          </a:p>
        </p:txBody>
      </p:sp>
      <p:sp>
        <p:nvSpPr>
          <p:cNvPr id="37" name="TextBox 36"/>
          <p:cNvSpPr txBox="1"/>
          <p:nvPr/>
        </p:nvSpPr>
        <p:spPr>
          <a:xfrm>
            <a:off x="4032504" y="3136392"/>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-$7.2M</a:t>
            </a:r>
          </a:p>
        </p:txBody>
      </p:sp>
      <p:sp>
        <p:nvSpPr>
          <p:cNvPr id="38" name="TextBox 37"/>
          <p:cNvSpPr txBox="1"/>
          <p:nvPr/>
        </p:nvSpPr>
        <p:spPr>
          <a:xfrm>
            <a:off x="4928616" y="3136392"/>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-$5.4M</a:t>
            </a:r>
          </a:p>
        </p:txBody>
      </p:sp>
      <p:sp>
        <p:nvSpPr>
          <p:cNvPr id="39" name="TextBox 38"/>
          <p:cNvSpPr txBox="1"/>
          <p:nvPr/>
        </p:nvSpPr>
        <p:spPr>
          <a:xfrm>
            <a:off x="5824728" y="3136392"/>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$836k</a:t>
            </a:r>
          </a:p>
        </p:txBody>
      </p:sp>
      <p:sp>
        <p:nvSpPr>
          <p:cNvPr id="40" name="TextBox 39"/>
          <p:cNvSpPr txBox="1"/>
          <p:nvPr/>
        </p:nvSpPr>
        <p:spPr>
          <a:xfrm>
            <a:off x="640080" y="3520440"/>
            <a:ext cx="1463040" cy="384048"/>
          </a:xfrm>
          <a:prstGeom prst="rect">
            <a:avLst/>
          </a:prstGeom>
          <a:noFill/>
        </p:spPr>
        <p:txBody>
          <a:bodyPr wrap="square" lIns="0" rIns="0" tIns="0" bIns="0" anchor="ctr">
            <a:spAutoFit/>
          </a:bodyPr>
          <a:lstStyle/>
          <a:p>
            <a:pPr algn="l">
              <a:lnSpc>
                <a:spcPct val="110000"/>
              </a:lnSpc>
              <a:spcAft>
                <a:spcPts val="400"/>
              </a:spcAft>
            </a:pPr>
            <a:r>
              <a:rPr sz="1050" b="1" i="0">
                <a:solidFill>
                  <a:srgbClr val="14161A"/>
                </a:solidFill>
                <a:latin typeface="Inter"/>
              </a:rPr>
              <a:t>Subscription ARR</a:t>
            </a:r>
          </a:p>
        </p:txBody>
      </p:sp>
      <p:sp>
        <p:nvSpPr>
          <p:cNvPr id="41" name="TextBox 40"/>
          <p:cNvSpPr txBox="1"/>
          <p:nvPr/>
        </p:nvSpPr>
        <p:spPr>
          <a:xfrm>
            <a:off x="2240280" y="3520440"/>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$0</a:t>
            </a:r>
          </a:p>
        </p:txBody>
      </p:sp>
      <p:sp>
        <p:nvSpPr>
          <p:cNvPr id="42" name="TextBox 41"/>
          <p:cNvSpPr txBox="1"/>
          <p:nvPr/>
        </p:nvSpPr>
        <p:spPr>
          <a:xfrm>
            <a:off x="3136392" y="3520440"/>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$798k</a:t>
            </a:r>
          </a:p>
        </p:txBody>
      </p:sp>
      <p:sp>
        <p:nvSpPr>
          <p:cNvPr id="43" name="TextBox 42"/>
          <p:cNvSpPr txBox="1"/>
          <p:nvPr/>
        </p:nvSpPr>
        <p:spPr>
          <a:xfrm>
            <a:off x="4032504" y="3520440"/>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$3.3M</a:t>
            </a:r>
          </a:p>
        </p:txBody>
      </p:sp>
      <p:sp>
        <p:nvSpPr>
          <p:cNvPr id="44" name="TextBox 43"/>
          <p:cNvSpPr txBox="1"/>
          <p:nvPr/>
        </p:nvSpPr>
        <p:spPr>
          <a:xfrm>
            <a:off x="4928616" y="3520440"/>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$7.6M</a:t>
            </a:r>
          </a:p>
        </p:txBody>
      </p:sp>
      <p:sp>
        <p:nvSpPr>
          <p:cNvPr id="45" name="TextBox 44"/>
          <p:cNvSpPr txBox="1"/>
          <p:nvPr/>
        </p:nvSpPr>
        <p:spPr>
          <a:xfrm>
            <a:off x="5824728" y="3520440"/>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$13.6M</a:t>
            </a:r>
          </a:p>
        </p:txBody>
      </p:sp>
      <p:sp>
        <p:nvSpPr>
          <p:cNvPr id="46" name="Rectangle 45"/>
          <p:cNvSpPr/>
          <p:nvPr/>
        </p:nvSpPr>
        <p:spPr>
          <a:xfrm>
            <a:off x="548640" y="3904488"/>
            <a:ext cx="6080760" cy="9000"/>
          </a:xfrm>
          <a:prstGeom prst="rect">
            <a:avLst/>
          </a:prstGeom>
          <a:solidFill>
            <a:srgbClr val="DDD5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4069080"/>
            <a:ext cx="6126480" cy="1828800"/>
          </a:xfrm>
          <a:prstGeom prst="rect">
            <a:avLst/>
          </a:prstGeom>
          <a:noFill/>
        </p:spPr>
        <p:txBody>
          <a:bodyPr wrap="square" lIns="0" rIns="0" tIns="0" bIns="0" anchor="t">
            <a:spAutoFit/>
          </a:bodyPr>
          <a:lstStyle/>
          <a:p>
            <a:pPr algn="l">
              <a:lnSpc>
                <a:spcPct val="112000"/>
              </a:lnSpc>
              <a:spcAft>
                <a:spcPts val="600"/>
              </a:spcAft>
            </a:pPr>
            <a:r>
              <a:rPr sz="1100" b="1" i="0">
                <a:solidFill>
                  <a:srgbClr val="14161A"/>
                </a:solidFill>
                <a:latin typeface="Inter"/>
              </a:rPr>
              <a:t>Scenarios FY31 revenue: </a:t>
            </a:r>
            <a:r>
              <a:rPr sz="1100" b="0" i="0">
                <a:solidFill>
                  <a:srgbClr val="5A5D63"/>
                </a:solidFill>
                <a:latin typeface="Inter"/>
              </a:rPr>
              <a:t>Bear $56.2M · Base $111.3M · Bull $166.1M.</a:t>
            </a:r>
          </a:p>
          <a:p>
            <a:pPr algn="l">
              <a:lnSpc>
                <a:spcPct val="112000"/>
              </a:lnSpc>
              <a:spcAft>
                <a:spcPts val="600"/>
              </a:spcAft>
            </a:pPr>
            <a:r>
              <a:rPr sz="1100" b="1" i="0">
                <a:solidFill>
                  <a:srgbClr val="14161A"/>
                </a:solidFill>
                <a:latin typeface="Inter"/>
              </a:rPr>
              <a:t>Funding need: </a:t>
            </a:r>
            <a:r>
              <a:rPr sz="1100" b="0" i="0">
                <a:solidFill>
                  <a:srgbClr val="5A5D63"/>
                </a:solidFill>
                <a:latin typeface="Inter"/>
              </a:rPr>
              <a:t>$55.5M equity modelled through FY31 (pre-seed → seed → A → B). Minimum cash $278k in Jun-27: Kickstarter timing is critical.</a:t>
            </a:r>
          </a:p>
          <a:p>
            <a:pPr algn="l">
              <a:lnSpc>
                <a:spcPct val="112000"/>
              </a:lnSpc>
              <a:spcAft>
                <a:spcPts val="600"/>
              </a:spcAft>
            </a:pPr>
            <a:r>
              <a:rPr sz="1100" b="1" i="0">
                <a:solidFill>
                  <a:srgbClr val="14161A"/>
                </a:solidFill>
                <a:latin typeface="Inter"/>
              </a:rPr>
              <a:t>Research cross-check: </a:t>
            </a:r>
            <a:r>
              <a:rPr sz="1100" b="0" i="0">
                <a:solidFill>
                  <a:srgbClr val="5A5D63"/>
                </a:solidFill>
                <a:latin typeface="Inter"/>
              </a:rPr>
              <a:t>SOM 2030 base $93M (bear $46M / bull $148M).</a:t>
            </a:r>
          </a:p>
        </p:txBody>
      </p:sp>
      <p:sp>
        <p:nvSpPr>
          <p:cNvPr id="48" name="Rectangle 47"/>
          <p:cNvSpPr/>
          <p:nvPr/>
        </p:nvSpPr>
        <p:spPr>
          <a:xfrm>
            <a:off x="6903720" y="1600200"/>
            <a:ext cx="4754880" cy="2194560"/>
          </a:xfrm>
          <a:prstGeom prst="rect">
            <a:avLst/>
          </a:prstGeom>
          <a:solidFill>
            <a:srgbClr val="FFFFFF"/>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9" name="Picture 48" descr="revenue_by_stream.png"/>
          <p:cNvPicPr>
            <a:picLocks noChangeAspect="1"/>
          </p:cNvPicPr>
          <p:nvPr/>
        </p:nvPicPr>
        <p:blipFill>
          <a:blip r:embed="rId3"/>
          <a:stretch>
            <a:fillRect/>
          </a:stretch>
        </p:blipFill>
        <p:spPr>
          <a:xfrm>
            <a:off x="7388352" y="1645920"/>
            <a:ext cx="3785616" cy="2103120"/>
          </a:xfrm>
          <a:prstGeom prst="rect">
            <a:avLst/>
          </a:prstGeom>
        </p:spPr>
      </p:pic>
      <p:sp>
        <p:nvSpPr>
          <p:cNvPr id="50" name="Rectangle 49"/>
          <p:cNvSpPr/>
          <p:nvPr/>
        </p:nvSpPr>
        <p:spPr>
          <a:xfrm>
            <a:off x="6903720" y="3886200"/>
            <a:ext cx="4754880" cy="2103120"/>
          </a:xfrm>
          <a:prstGeom prst="rect">
            <a:avLst/>
          </a:prstGeom>
          <a:solidFill>
            <a:srgbClr val="FFFFFF"/>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Picture 50" descr="cash_runway.png"/>
          <p:cNvPicPr>
            <a:picLocks noChangeAspect="1"/>
          </p:cNvPicPr>
          <p:nvPr/>
        </p:nvPicPr>
        <p:blipFill>
          <a:blip r:embed="rId4"/>
          <a:stretch>
            <a:fillRect/>
          </a:stretch>
        </p:blipFill>
        <p:spPr>
          <a:xfrm>
            <a:off x="7269480" y="3931920"/>
            <a:ext cx="4023360" cy="2011680"/>
          </a:xfrm>
          <a:prstGeom prst="rect">
            <a:avLst/>
          </a:prstGeom>
        </p:spPr>
      </p:pic>
      <p:sp>
        <p:nvSpPr>
          <p:cNvPr id="52" name="TextBox 51"/>
          <p:cNvSpPr txBox="1"/>
          <p:nvPr/>
        </p:nvSpPr>
        <p:spPr>
          <a:xfrm>
            <a:off x="548640" y="6108192"/>
            <a:ext cx="11064240" cy="274320"/>
          </a:xfrm>
          <a:prstGeom prst="rect">
            <a:avLst/>
          </a:prstGeom>
          <a:noFill/>
        </p:spPr>
        <p:txBody>
          <a:bodyPr wrap="square" lIns="0" rIns="0" tIns="0" bIns="0" anchor="t">
            <a:spAutoFit/>
          </a:bodyPr>
          <a:lstStyle/>
          <a:p>
            <a:pPr algn="l">
              <a:lnSpc>
                <a:spcPct val="110000"/>
              </a:lnSpc>
              <a:spcAft>
                <a:spcPts val="400"/>
              </a:spcAft>
            </a:pPr>
            <a:r>
              <a:rPr sz="850" b="0" i="0">
                <a:solidFill>
                  <a:srgbClr val="5A5D63"/>
                </a:solidFill>
                <a:latin typeface="Inter"/>
              </a:rPr>
              <a:t>Source: finance/LORE_Financial_Model.xlsx via finance/model_summary.json; finance/charts. All projections are estimates.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10000"/>
              </a:lnSpc>
              <a:spcAft>
                <a:spcPts val="400"/>
              </a:spcAft>
            </a:pPr>
            <a:r>
              <a:rPr sz="1100" b="1" i="0">
                <a:solidFill>
                  <a:srgbClr val="C4623A"/>
                </a:solidFill>
                <a:latin typeface="Inter"/>
              </a:rPr>
              <a:t>THE ASK</a:t>
            </a:r>
          </a:p>
        </p:txBody>
      </p:sp>
      <p:sp>
        <p:nvSpPr>
          <p:cNvPr id="3" name="TextBox 2"/>
          <p:cNvSpPr txBox="1"/>
          <p:nvPr/>
        </p:nvSpPr>
        <p:spPr>
          <a:xfrm>
            <a:off x="548640" y="658368"/>
            <a:ext cx="6400800" cy="1280160"/>
          </a:xfrm>
          <a:prstGeom prst="rect">
            <a:avLst/>
          </a:prstGeom>
          <a:noFill/>
        </p:spPr>
        <p:txBody>
          <a:bodyPr wrap="square" lIns="0" rIns="0" tIns="0" bIns="0" anchor="t">
            <a:spAutoFit/>
          </a:bodyPr>
          <a:lstStyle/>
          <a:p>
            <a:pPr algn="l">
              <a:lnSpc>
                <a:spcPct val="100000"/>
              </a:lnSpc>
              <a:spcAft>
                <a:spcPts val="400"/>
              </a:spcAft>
            </a:pPr>
            <a:r>
              <a:rPr sz="3400" b="0" i="0">
                <a:solidFill>
                  <a:srgbClr val="F3EEE6"/>
                </a:solidFill>
                <a:latin typeface="Fraunces"/>
              </a:rPr>
              <a:t>$1.5M pre-seed SAFE
$12M post-money cap</a:t>
            </a:r>
          </a:p>
        </p:txBody>
      </p:sp>
      <p:sp>
        <p:nvSpPr>
          <p:cNvPr id="4" name="TextBox 3"/>
          <p:cNvSpPr txBox="1"/>
          <p:nvPr/>
        </p:nvSpPr>
        <p:spPr>
          <a:xfrm>
            <a:off x="548640" y="1965960"/>
            <a:ext cx="5669280" cy="1463040"/>
          </a:xfrm>
          <a:prstGeom prst="rect">
            <a:avLst/>
          </a:prstGeom>
          <a:noFill/>
        </p:spPr>
        <p:txBody>
          <a:bodyPr wrap="square" lIns="0" rIns="0" tIns="0" bIns="0" anchor="t">
            <a:spAutoFit/>
          </a:bodyPr>
          <a:lstStyle/>
          <a:p>
            <a:pPr algn="l">
              <a:lnSpc>
                <a:spcPct val="115000"/>
              </a:lnSpc>
              <a:spcAft>
                <a:spcPts val="600"/>
              </a:spcAft>
            </a:pPr>
            <a:r>
              <a:rPr sz="1250" b="1" i="0">
                <a:solidFill>
                  <a:srgbClr val="F3EEE6"/>
                </a:solidFill>
                <a:latin typeface="Inter"/>
              </a:rPr>
              <a:t>Gets us to: </a:t>
            </a:r>
            <a:r>
              <a:rPr sz="1250" b="0" i="0">
                <a:solidFill>
                  <a:srgbClr val="9AA0A6"/>
                </a:solidFill>
                <a:latin typeface="Inter"/>
              </a:rPr>
              <a:t>Gate G0 (product love), 50 EVT units and Gate G1, a $1M+ Kickstarter (Gate G2), and the $6M seed.</a:t>
            </a:r>
          </a:p>
          <a:p>
            <a:pPr algn="l">
              <a:lnSpc>
                <a:spcPct val="115000"/>
              </a:lnSpc>
              <a:spcAft>
                <a:spcPts val="600"/>
              </a:spcAft>
            </a:pPr>
            <a:r>
              <a:rPr sz="1250" b="1" i="0">
                <a:solidFill>
                  <a:srgbClr val="F3EEE6"/>
                </a:solidFill>
                <a:latin typeface="Inter"/>
              </a:rPr>
              <a:t>Investor owns: </a:t>
            </a:r>
            <a:r>
              <a:rPr sz="1250" b="0" i="0">
                <a:solidFill>
                  <a:srgbClr val="9AA0A6"/>
                </a:solidFill>
                <a:latin typeface="Inter"/>
              </a:rPr>
              <a:t>12.5% post-money at conversion (cap table, finance model).</a:t>
            </a:r>
          </a:p>
          <a:p>
            <a:pPr algn="l">
              <a:lnSpc>
                <a:spcPct val="115000"/>
              </a:lnSpc>
              <a:spcAft>
                <a:spcPts val="600"/>
              </a:spcAft>
            </a:pPr>
            <a:r>
              <a:rPr sz="1250" b="0" i="0">
                <a:solidFill>
                  <a:srgbClr val="9AA0A6"/>
                </a:solidFill>
                <a:latin typeface="Inter"/>
              </a:rPr>
              <a:t>Runway: Nov 2026 to the Kickstarter payout (Jun/Jul 2027) and the $6M seed (Aug 2027). Tight by design: a one-month Kickstarter slip means cutting Atlas/ID spend.</a:t>
            </a:r>
          </a:p>
        </p:txBody>
      </p:sp>
      <p:sp>
        <p:nvSpPr>
          <p:cNvPr id="5" name="TextBox 4"/>
          <p:cNvSpPr txBox="1"/>
          <p:nvPr/>
        </p:nvSpPr>
        <p:spPr>
          <a:xfrm>
            <a:off x="6675120" y="685800"/>
            <a:ext cx="4937760" cy="365760"/>
          </a:xfrm>
          <a:prstGeom prst="rect">
            <a:avLst/>
          </a:prstGeom>
          <a:noFill/>
        </p:spPr>
        <p:txBody>
          <a:bodyPr wrap="square" lIns="0" rIns="0" tIns="0" bIns="0" anchor="t">
            <a:spAutoFit/>
          </a:bodyPr>
          <a:lstStyle/>
          <a:p>
            <a:pPr algn="l">
              <a:lnSpc>
                <a:spcPct val="110000"/>
              </a:lnSpc>
              <a:spcAft>
                <a:spcPts val="400"/>
              </a:spcAft>
            </a:pPr>
            <a:r>
              <a:rPr sz="1600" b="1" i="0">
                <a:solidFill>
                  <a:srgbClr val="F3EEE6"/>
                </a:solidFill>
                <a:latin typeface="Inter"/>
              </a:rPr>
              <a:t>Use of funds</a:t>
            </a:r>
          </a:p>
        </p:txBody>
      </p:sp>
      <p:sp>
        <p:nvSpPr>
          <p:cNvPr id="6" name="TextBox 5"/>
          <p:cNvSpPr txBox="1"/>
          <p:nvPr/>
        </p:nvSpPr>
        <p:spPr>
          <a:xfrm>
            <a:off x="6675120" y="1143000"/>
            <a:ext cx="3474720" cy="274320"/>
          </a:xfrm>
          <a:prstGeom prst="rect">
            <a:avLst/>
          </a:prstGeom>
          <a:noFill/>
        </p:spPr>
        <p:txBody>
          <a:bodyPr wrap="square" lIns="0" rIns="0" tIns="0" bIns="0" anchor="t">
            <a:spAutoFit/>
          </a:bodyPr>
          <a:lstStyle/>
          <a:p>
            <a:pPr algn="l">
              <a:lnSpc>
                <a:spcPct val="110000"/>
              </a:lnSpc>
              <a:spcAft>
                <a:spcPts val="400"/>
              </a:spcAft>
            </a:pPr>
            <a:r>
              <a:rPr sz="1200" b="1" i="0">
                <a:solidFill>
                  <a:srgbClr val="F3EEE6"/>
                </a:solidFill>
                <a:latin typeface="Inter"/>
              </a:rPr>
              <a:t>Founding engineering team</a:t>
            </a:r>
          </a:p>
        </p:txBody>
      </p:sp>
      <p:sp>
        <p:nvSpPr>
          <p:cNvPr id="7" name="TextBox 6"/>
          <p:cNvSpPr txBox="1"/>
          <p:nvPr/>
        </p:nvSpPr>
        <p:spPr>
          <a:xfrm>
            <a:off x="10149840" y="1143000"/>
            <a:ext cx="1463040" cy="274320"/>
          </a:xfrm>
          <a:prstGeom prst="rect">
            <a:avLst/>
          </a:prstGeom>
          <a:noFill/>
        </p:spPr>
        <p:txBody>
          <a:bodyPr wrap="square" lIns="0" rIns="0" tIns="0" bIns="0" anchor="t">
            <a:spAutoFit/>
          </a:bodyPr>
          <a:lstStyle/>
          <a:p>
            <a:pPr algn="r">
              <a:lnSpc>
                <a:spcPct val="110000"/>
              </a:lnSpc>
              <a:spcAft>
                <a:spcPts val="400"/>
              </a:spcAft>
            </a:pPr>
            <a:r>
              <a:rPr sz="1200" b="0" i="0">
                <a:solidFill>
                  <a:srgbClr val="B8935A"/>
                </a:solidFill>
                <a:latin typeface="Inter"/>
              </a:rPr>
              <a:t>$500k · 33%</a:t>
            </a:r>
          </a:p>
        </p:txBody>
      </p:sp>
      <p:sp>
        <p:nvSpPr>
          <p:cNvPr id="8" name="Rectangle 7"/>
          <p:cNvSpPr/>
          <p:nvPr/>
        </p:nvSpPr>
        <p:spPr>
          <a:xfrm>
            <a:off x="6675120" y="1444752"/>
            <a:ext cx="4937760" cy="82296"/>
          </a:xfrm>
          <a:prstGeom prst="rect">
            <a:avLst/>
          </a:prstGeom>
          <a:solidFill>
            <a:srgbClr val="2A2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0" y="1444752"/>
            <a:ext cx="1645920" cy="82296"/>
          </a:xfrm>
          <a:prstGeom prst="rect">
            <a:avLst/>
          </a:prstGeom>
          <a:solidFill>
            <a:srgbClr val="C46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0" y="1572768"/>
            <a:ext cx="4937760" cy="274320"/>
          </a:xfrm>
          <a:prstGeom prst="rect">
            <a:avLst/>
          </a:prstGeom>
          <a:noFill/>
        </p:spPr>
        <p:txBody>
          <a:bodyPr wrap="square" lIns="0" rIns="0" tIns="0" bIns="0" anchor="t">
            <a:spAutoFit/>
          </a:bodyPr>
          <a:lstStyle/>
          <a:p>
            <a:pPr algn="l">
              <a:lnSpc>
                <a:spcPct val="110000"/>
              </a:lnSpc>
              <a:spcAft>
                <a:spcPts val="400"/>
              </a:spcAft>
            </a:pPr>
            <a:r>
              <a:rPr sz="950" b="0" i="0">
                <a:solidFill>
                  <a:srgbClr val="9AA0A6"/>
                </a:solidFill>
                <a:latin typeface="Inter"/>
              </a:rPr>
              <a:t>R&amp;D salaries + burden ($464k), dev tools &amp; ML compute ($36k)</a:t>
            </a:r>
          </a:p>
        </p:txBody>
      </p:sp>
      <p:sp>
        <p:nvSpPr>
          <p:cNvPr id="11" name="TextBox 10"/>
          <p:cNvSpPr txBox="1"/>
          <p:nvPr/>
        </p:nvSpPr>
        <p:spPr>
          <a:xfrm>
            <a:off x="6675120" y="1892808"/>
            <a:ext cx="3474720" cy="274320"/>
          </a:xfrm>
          <a:prstGeom prst="rect">
            <a:avLst/>
          </a:prstGeom>
          <a:noFill/>
        </p:spPr>
        <p:txBody>
          <a:bodyPr wrap="square" lIns="0" rIns="0" tIns="0" bIns="0" anchor="t">
            <a:spAutoFit/>
          </a:bodyPr>
          <a:lstStyle/>
          <a:p>
            <a:pPr algn="l">
              <a:lnSpc>
                <a:spcPct val="110000"/>
              </a:lnSpc>
              <a:spcAft>
                <a:spcPts val="400"/>
              </a:spcAft>
            </a:pPr>
            <a:r>
              <a:rPr sz="1200" b="1" i="0">
                <a:solidFill>
                  <a:srgbClr val="F3EEE6"/>
                </a:solidFill>
                <a:latin typeface="Inter"/>
              </a:rPr>
              <a:t>Kickstarter, brand &amp; community</a:t>
            </a:r>
          </a:p>
        </p:txBody>
      </p:sp>
      <p:sp>
        <p:nvSpPr>
          <p:cNvPr id="12" name="TextBox 11"/>
          <p:cNvSpPr txBox="1"/>
          <p:nvPr/>
        </p:nvSpPr>
        <p:spPr>
          <a:xfrm>
            <a:off x="10149840" y="1892808"/>
            <a:ext cx="1463040" cy="274320"/>
          </a:xfrm>
          <a:prstGeom prst="rect">
            <a:avLst/>
          </a:prstGeom>
          <a:noFill/>
        </p:spPr>
        <p:txBody>
          <a:bodyPr wrap="square" lIns="0" rIns="0" tIns="0" bIns="0" anchor="t">
            <a:spAutoFit/>
          </a:bodyPr>
          <a:lstStyle/>
          <a:p>
            <a:pPr algn="r">
              <a:lnSpc>
                <a:spcPct val="110000"/>
              </a:lnSpc>
              <a:spcAft>
                <a:spcPts val="400"/>
              </a:spcAft>
            </a:pPr>
            <a:r>
              <a:rPr sz="1200" b="0" i="0">
                <a:solidFill>
                  <a:srgbClr val="B8935A"/>
                </a:solidFill>
                <a:latin typeface="Inter"/>
              </a:rPr>
              <a:t>$322k · 21%</a:t>
            </a:r>
          </a:p>
        </p:txBody>
      </p:sp>
      <p:sp>
        <p:nvSpPr>
          <p:cNvPr id="13" name="Rectangle 12"/>
          <p:cNvSpPr/>
          <p:nvPr/>
        </p:nvSpPr>
        <p:spPr>
          <a:xfrm>
            <a:off x="6675120" y="2194560"/>
            <a:ext cx="4937760" cy="82296"/>
          </a:xfrm>
          <a:prstGeom prst="rect">
            <a:avLst/>
          </a:prstGeom>
          <a:solidFill>
            <a:srgbClr val="2A2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75120" y="2194560"/>
            <a:ext cx="1059972" cy="82296"/>
          </a:xfrm>
          <a:prstGeom prst="rect">
            <a:avLst/>
          </a:prstGeom>
          <a:solidFill>
            <a:srgbClr val="B89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0" y="2322576"/>
            <a:ext cx="4937760" cy="274320"/>
          </a:xfrm>
          <a:prstGeom prst="rect">
            <a:avLst/>
          </a:prstGeom>
          <a:noFill/>
        </p:spPr>
        <p:txBody>
          <a:bodyPr wrap="square" lIns="0" rIns="0" tIns="0" bIns="0" anchor="t">
            <a:spAutoFit/>
          </a:bodyPr>
          <a:lstStyle/>
          <a:p>
            <a:pPr algn="l">
              <a:lnSpc>
                <a:spcPct val="110000"/>
              </a:lnSpc>
              <a:spcAft>
                <a:spcPts val="400"/>
              </a:spcAft>
            </a:pPr>
            <a:r>
              <a:rPr sz="950" b="0" i="0">
                <a:solidFill>
                  <a:srgbClr val="9AA0A6"/>
                </a:solidFill>
                <a:latin typeface="Inter"/>
              </a:rPr>
              <a:t>Campaign marketing $230k, growth lead, brand/PR</a:t>
            </a:r>
          </a:p>
        </p:txBody>
      </p:sp>
      <p:sp>
        <p:nvSpPr>
          <p:cNvPr id="16" name="TextBox 15"/>
          <p:cNvSpPr txBox="1"/>
          <p:nvPr/>
        </p:nvSpPr>
        <p:spPr>
          <a:xfrm>
            <a:off x="6675120" y="2642616"/>
            <a:ext cx="3474720" cy="274320"/>
          </a:xfrm>
          <a:prstGeom prst="rect">
            <a:avLst/>
          </a:prstGeom>
          <a:noFill/>
        </p:spPr>
        <p:txBody>
          <a:bodyPr wrap="square" lIns="0" rIns="0" tIns="0" bIns="0" anchor="t">
            <a:spAutoFit/>
          </a:bodyPr>
          <a:lstStyle/>
          <a:p>
            <a:pPr algn="l">
              <a:lnSpc>
                <a:spcPct val="110000"/>
              </a:lnSpc>
              <a:spcAft>
                <a:spcPts val="400"/>
              </a:spcAft>
            </a:pPr>
            <a:r>
              <a:rPr sz="1200" b="1" i="0">
                <a:solidFill>
                  <a:srgbClr val="F3EEE6"/>
                </a:solidFill>
                <a:latin typeface="Inter"/>
              </a:rPr>
              <a:t>Hardware: ID, ODM NRE, 50 EVT</a:t>
            </a:r>
          </a:p>
        </p:txBody>
      </p:sp>
      <p:sp>
        <p:nvSpPr>
          <p:cNvPr id="17" name="TextBox 16"/>
          <p:cNvSpPr txBox="1"/>
          <p:nvPr/>
        </p:nvSpPr>
        <p:spPr>
          <a:xfrm>
            <a:off x="10149840" y="2642616"/>
            <a:ext cx="1463040" cy="274320"/>
          </a:xfrm>
          <a:prstGeom prst="rect">
            <a:avLst/>
          </a:prstGeom>
          <a:noFill/>
        </p:spPr>
        <p:txBody>
          <a:bodyPr wrap="square" lIns="0" rIns="0" tIns="0" bIns="0" anchor="t">
            <a:spAutoFit/>
          </a:bodyPr>
          <a:lstStyle/>
          <a:p>
            <a:pPr algn="r">
              <a:lnSpc>
                <a:spcPct val="110000"/>
              </a:lnSpc>
              <a:spcAft>
                <a:spcPts val="400"/>
              </a:spcAft>
            </a:pPr>
            <a:r>
              <a:rPr sz="1200" b="0" i="0">
                <a:solidFill>
                  <a:srgbClr val="B8935A"/>
                </a:solidFill>
                <a:latin typeface="Inter"/>
              </a:rPr>
              <a:t>$210k · 14%</a:t>
            </a:r>
          </a:p>
        </p:txBody>
      </p:sp>
      <p:sp>
        <p:nvSpPr>
          <p:cNvPr id="18" name="Rectangle 17"/>
          <p:cNvSpPr/>
          <p:nvPr/>
        </p:nvSpPr>
        <p:spPr>
          <a:xfrm>
            <a:off x="6675120" y="2944368"/>
            <a:ext cx="4937760" cy="82296"/>
          </a:xfrm>
          <a:prstGeom prst="rect">
            <a:avLst/>
          </a:prstGeom>
          <a:solidFill>
            <a:srgbClr val="2A2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675120" y="2944368"/>
            <a:ext cx="691286" cy="82296"/>
          </a:xfrm>
          <a:prstGeom prst="rect">
            <a:avLst/>
          </a:prstGeom>
          <a:solidFill>
            <a:srgbClr val="5E6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0" y="3072384"/>
            <a:ext cx="4937760" cy="274320"/>
          </a:xfrm>
          <a:prstGeom prst="rect">
            <a:avLst/>
          </a:prstGeom>
          <a:noFill/>
        </p:spPr>
        <p:txBody>
          <a:bodyPr wrap="square" lIns="0" rIns="0" tIns="0" bIns="0" anchor="t">
            <a:spAutoFit/>
          </a:bodyPr>
          <a:lstStyle/>
          <a:p>
            <a:pPr algn="l">
              <a:lnSpc>
                <a:spcPct val="110000"/>
              </a:lnSpc>
              <a:spcAft>
                <a:spcPts val="400"/>
              </a:spcAft>
            </a:pPr>
            <a:r>
              <a:rPr sz="950" b="0" i="0">
                <a:solidFill>
                  <a:srgbClr val="9AA0A6"/>
                </a:solidFill>
                <a:latin typeface="Inter"/>
              </a:rPr>
              <a:t>ID/ME/CMF agency $95k, ODM NRE $80k, EVT build $35k</a:t>
            </a:r>
          </a:p>
        </p:txBody>
      </p:sp>
      <p:sp>
        <p:nvSpPr>
          <p:cNvPr id="21" name="TextBox 20"/>
          <p:cNvSpPr txBox="1"/>
          <p:nvPr/>
        </p:nvSpPr>
        <p:spPr>
          <a:xfrm>
            <a:off x="6675120" y="3392424"/>
            <a:ext cx="3474720" cy="274320"/>
          </a:xfrm>
          <a:prstGeom prst="rect">
            <a:avLst/>
          </a:prstGeom>
          <a:noFill/>
        </p:spPr>
        <p:txBody>
          <a:bodyPr wrap="square" lIns="0" rIns="0" tIns="0" bIns="0" anchor="t">
            <a:spAutoFit/>
          </a:bodyPr>
          <a:lstStyle/>
          <a:p>
            <a:pPr algn="l">
              <a:lnSpc>
                <a:spcPct val="110000"/>
              </a:lnSpc>
              <a:spcAft>
                <a:spcPts val="400"/>
              </a:spcAft>
            </a:pPr>
            <a:r>
              <a:rPr sz="1200" b="1" i="0">
                <a:solidFill>
                  <a:srgbClr val="F3EEE6"/>
                </a:solidFill>
                <a:latin typeface="Inter"/>
              </a:rPr>
              <a:t>G&amp;A, legal, IP, insurance</a:t>
            </a:r>
          </a:p>
        </p:txBody>
      </p:sp>
      <p:sp>
        <p:nvSpPr>
          <p:cNvPr id="22" name="TextBox 21"/>
          <p:cNvSpPr txBox="1"/>
          <p:nvPr/>
        </p:nvSpPr>
        <p:spPr>
          <a:xfrm>
            <a:off x="10149840" y="3392424"/>
            <a:ext cx="1463040" cy="274320"/>
          </a:xfrm>
          <a:prstGeom prst="rect">
            <a:avLst/>
          </a:prstGeom>
          <a:noFill/>
        </p:spPr>
        <p:txBody>
          <a:bodyPr wrap="square" lIns="0" rIns="0" tIns="0" bIns="0" anchor="t">
            <a:spAutoFit/>
          </a:bodyPr>
          <a:lstStyle/>
          <a:p>
            <a:pPr algn="r">
              <a:lnSpc>
                <a:spcPct val="110000"/>
              </a:lnSpc>
              <a:spcAft>
                <a:spcPts val="400"/>
              </a:spcAft>
            </a:pPr>
            <a:r>
              <a:rPr sz="1200" b="0" i="0">
                <a:solidFill>
                  <a:srgbClr val="B8935A"/>
                </a:solidFill>
                <a:latin typeface="Inter"/>
              </a:rPr>
              <a:t>$168k · 11%</a:t>
            </a:r>
          </a:p>
        </p:txBody>
      </p:sp>
      <p:sp>
        <p:nvSpPr>
          <p:cNvPr id="23" name="Rectangle 22"/>
          <p:cNvSpPr/>
          <p:nvPr/>
        </p:nvSpPr>
        <p:spPr>
          <a:xfrm>
            <a:off x="6675120" y="3694176"/>
            <a:ext cx="4937760" cy="82296"/>
          </a:xfrm>
          <a:prstGeom prst="rect">
            <a:avLst/>
          </a:prstGeom>
          <a:solidFill>
            <a:srgbClr val="2A2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675120" y="3694176"/>
            <a:ext cx="553029" cy="82296"/>
          </a:xfrm>
          <a:prstGeom prst="rect">
            <a:avLst/>
          </a:prstGeom>
          <a:solidFill>
            <a:srgbClr val="9AA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0" y="3822192"/>
            <a:ext cx="4937760" cy="274320"/>
          </a:xfrm>
          <a:prstGeom prst="rect">
            <a:avLst/>
          </a:prstGeom>
          <a:noFill/>
        </p:spPr>
        <p:txBody>
          <a:bodyPr wrap="square" lIns="0" rIns="0" tIns="0" bIns="0" anchor="t">
            <a:spAutoFit/>
          </a:bodyPr>
          <a:lstStyle/>
          <a:p>
            <a:pPr algn="l">
              <a:lnSpc>
                <a:spcPct val="110000"/>
              </a:lnSpc>
              <a:spcAft>
                <a:spcPts val="400"/>
              </a:spcAft>
            </a:pPr>
            <a:r>
              <a:rPr sz="950" b="0" i="0">
                <a:solidFill>
                  <a:srgbClr val="9AA0A6"/>
                </a:solidFill>
                <a:latin typeface="Inter"/>
              </a:rPr>
              <a:t>Founder salary, formation, trademarks, provisionals, SaaS</a:t>
            </a:r>
          </a:p>
        </p:txBody>
      </p:sp>
      <p:sp>
        <p:nvSpPr>
          <p:cNvPr id="26" name="TextBox 25"/>
          <p:cNvSpPr txBox="1"/>
          <p:nvPr/>
        </p:nvSpPr>
        <p:spPr>
          <a:xfrm>
            <a:off x="6675120" y="4142232"/>
            <a:ext cx="3474720" cy="274320"/>
          </a:xfrm>
          <a:prstGeom prst="rect">
            <a:avLst/>
          </a:prstGeom>
          <a:noFill/>
        </p:spPr>
        <p:txBody>
          <a:bodyPr wrap="square" lIns="0" rIns="0" tIns="0" bIns="0" anchor="t">
            <a:spAutoFit/>
          </a:bodyPr>
          <a:lstStyle/>
          <a:p>
            <a:pPr algn="l">
              <a:lnSpc>
                <a:spcPct val="110000"/>
              </a:lnSpc>
              <a:spcAft>
                <a:spcPts val="400"/>
              </a:spcAft>
            </a:pPr>
            <a:r>
              <a:rPr sz="1200" b="1" i="0">
                <a:solidFill>
                  <a:srgbClr val="F3EEE6"/>
                </a:solidFill>
                <a:latin typeface="Inter"/>
              </a:rPr>
              <a:t>City Pack content (Rome, London)</a:t>
            </a:r>
          </a:p>
        </p:txBody>
      </p:sp>
      <p:sp>
        <p:nvSpPr>
          <p:cNvPr id="27" name="TextBox 26"/>
          <p:cNvSpPr txBox="1"/>
          <p:nvPr/>
        </p:nvSpPr>
        <p:spPr>
          <a:xfrm>
            <a:off x="10149840" y="4142232"/>
            <a:ext cx="1463040" cy="274320"/>
          </a:xfrm>
          <a:prstGeom prst="rect">
            <a:avLst/>
          </a:prstGeom>
          <a:noFill/>
        </p:spPr>
        <p:txBody>
          <a:bodyPr wrap="square" lIns="0" rIns="0" tIns="0" bIns="0" anchor="t">
            <a:spAutoFit/>
          </a:bodyPr>
          <a:lstStyle/>
          <a:p>
            <a:pPr algn="r">
              <a:lnSpc>
                <a:spcPct val="110000"/>
              </a:lnSpc>
              <a:spcAft>
                <a:spcPts val="400"/>
              </a:spcAft>
            </a:pPr>
            <a:r>
              <a:rPr sz="1200" b="0" i="0">
                <a:solidFill>
                  <a:srgbClr val="B8935A"/>
                </a:solidFill>
                <a:latin typeface="Inter"/>
              </a:rPr>
              <a:t>$40k · 3%</a:t>
            </a:r>
          </a:p>
        </p:txBody>
      </p:sp>
      <p:sp>
        <p:nvSpPr>
          <p:cNvPr id="28" name="Rectangle 27"/>
          <p:cNvSpPr/>
          <p:nvPr/>
        </p:nvSpPr>
        <p:spPr>
          <a:xfrm>
            <a:off x="6675120" y="4443984"/>
            <a:ext cx="4937760" cy="82296"/>
          </a:xfrm>
          <a:prstGeom prst="rect">
            <a:avLst/>
          </a:prstGeom>
          <a:solidFill>
            <a:srgbClr val="2A2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675120" y="4443984"/>
            <a:ext cx="131673" cy="82296"/>
          </a:xfrm>
          <a:prstGeom prst="rect">
            <a:avLst/>
          </a:prstGeom>
          <a:solidFill>
            <a:srgbClr val="F3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0" y="4572000"/>
            <a:ext cx="4937760" cy="274320"/>
          </a:xfrm>
          <a:prstGeom prst="rect">
            <a:avLst/>
          </a:prstGeom>
          <a:noFill/>
        </p:spPr>
        <p:txBody>
          <a:bodyPr wrap="square" lIns="0" rIns="0" tIns="0" bIns="0" anchor="t">
            <a:spAutoFit/>
          </a:bodyPr>
          <a:lstStyle/>
          <a:p>
            <a:pPr algn="l">
              <a:lnSpc>
                <a:spcPct val="110000"/>
              </a:lnSpc>
              <a:spcAft>
                <a:spcPts val="400"/>
              </a:spcAft>
            </a:pPr>
            <a:r>
              <a:rPr sz="950" b="0" i="0">
                <a:solidFill>
                  <a:srgbClr val="9AA0A6"/>
                </a:solidFill>
                <a:latin typeface="Inter"/>
              </a:rPr>
              <a:t>Editorial fact-checking and storytellers</a:t>
            </a:r>
          </a:p>
        </p:txBody>
      </p:sp>
      <p:sp>
        <p:nvSpPr>
          <p:cNvPr id="31" name="TextBox 30"/>
          <p:cNvSpPr txBox="1"/>
          <p:nvPr/>
        </p:nvSpPr>
        <p:spPr>
          <a:xfrm>
            <a:off x="6675120" y="4892040"/>
            <a:ext cx="3474720" cy="274320"/>
          </a:xfrm>
          <a:prstGeom prst="rect">
            <a:avLst/>
          </a:prstGeom>
          <a:noFill/>
        </p:spPr>
        <p:txBody>
          <a:bodyPr wrap="square" lIns="0" rIns="0" tIns="0" bIns="0" anchor="t">
            <a:spAutoFit/>
          </a:bodyPr>
          <a:lstStyle/>
          <a:p>
            <a:pPr algn="l">
              <a:lnSpc>
                <a:spcPct val="110000"/>
              </a:lnSpc>
              <a:spcAft>
                <a:spcPts val="400"/>
              </a:spcAft>
            </a:pPr>
            <a:r>
              <a:rPr sz="1200" b="1" i="0">
                <a:solidFill>
                  <a:srgbClr val="F3EEE6"/>
                </a:solidFill>
                <a:latin typeface="Inter"/>
              </a:rPr>
              <a:t>Cash buffer at Kickstarter</a:t>
            </a:r>
          </a:p>
        </p:txBody>
      </p:sp>
      <p:sp>
        <p:nvSpPr>
          <p:cNvPr id="32" name="TextBox 31"/>
          <p:cNvSpPr txBox="1"/>
          <p:nvPr/>
        </p:nvSpPr>
        <p:spPr>
          <a:xfrm>
            <a:off x="10149840" y="4892040"/>
            <a:ext cx="1463040" cy="274320"/>
          </a:xfrm>
          <a:prstGeom prst="rect">
            <a:avLst/>
          </a:prstGeom>
          <a:noFill/>
        </p:spPr>
        <p:txBody>
          <a:bodyPr wrap="square" lIns="0" rIns="0" tIns="0" bIns="0" anchor="t">
            <a:spAutoFit/>
          </a:bodyPr>
          <a:lstStyle/>
          <a:p>
            <a:pPr algn="r">
              <a:lnSpc>
                <a:spcPct val="110000"/>
              </a:lnSpc>
              <a:spcAft>
                <a:spcPts val="400"/>
              </a:spcAft>
            </a:pPr>
            <a:r>
              <a:rPr sz="1200" b="0" i="0">
                <a:solidFill>
                  <a:srgbClr val="B8935A"/>
                </a:solidFill>
                <a:latin typeface="Inter"/>
              </a:rPr>
              <a:t>$260k · 17%</a:t>
            </a:r>
          </a:p>
        </p:txBody>
      </p:sp>
      <p:sp>
        <p:nvSpPr>
          <p:cNvPr id="33" name="Rectangle 32"/>
          <p:cNvSpPr/>
          <p:nvPr/>
        </p:nvSpPr>
        <p:spPr>
          <a:xfrm>
            <a:off x="6675120" y="5193792"/>
            <a:ext cx="4937760" cy="82296"/>
          </a:xfrm>
          <a:prstGeom prst="rect">
            <a:avLst/>
          </a:prstGeom>
          <a:solidFill>
            <a:srgbClr val="2A2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675120" y="5193792"/>
            <a:ext cx="855878" cy="82296"/>
          </a:xfrm>
          <a:prstGeom prst="rect">
            <a:avLst/>
          </a:prstGeom>
          <a:solidFill>
            <a:srgbClr val="C46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5120" y="5321808"/>
            <a:ext cx="4937760" cy="274320"/>
          </a:xfrm>
          <a:prstGeom prst="rect">
            <a:avLst/>
          </a:prstGeom>
          <a:noFill/>
        </p:spPr>
        <p:txBody>
          <a:bodyPr wrap="square" lIns="0" rIns="0" tIns="0" bIns="0" anchor="t">
            <a:spAutoFit/>
          </a:bodyPr>
          <a:lstStyle/>
          <a:p>
            <a:pPr algn="l">
              <a:lnSpc>
                <a:spcPct val="110000"/>
              </a:lnSpc>
              <a:spcAft>
                <a:spcPts val="400"/>
              </a:spcAft>
            </a:pPr>
            <a:r>
              <a:rPr sz="950" b="0" i="0">
                <a:solidFill>
                  <a:srgbClr val="9AA0A6"/>
                </a:solidFill>
                <a:latin typeface="Inter"/>
              </a:rPr>
              <a:t>Model low point ~$278k in Jun-27, before the Jul-27 payout</a:t>
            </a:r>
          </a:p>
        </p:txBody>
      </p:sp>
      <p:sp>
        <p:nvSpPr>
          <p:cNvPr id="36" name="Rectangle 35"/>
          <p:cNvSpPr/>
          <p:nvPr/>
        </p:nvSpPr>
        <p:spPr>
          <a:xfrm>
            <a:off x="0" y="4892040"/>
            <a:ext cx="12191695" cy="1417320"/>
          </a:xfrm>
          <a:prstGeom prst="rect">
            <a:avLst/>
          </a:prstGeom>
          <a:solidFill>
            <a:srgbClr val="C46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5074920"/>
            <a:ext cx="5943600" cy="548640"/>
          </a:xfrm>
          <a:prstGeom prst="rect">
            <a:avLst/>
          </a:prstGeom>
          <a:noFill/>
        </p:spPr>
        <p:txBody>
          <a:bodyPr wrap="square" lIns="0" rIns="0" tIns="0" bIns="0" anchor="t">
            <a:spAutoFit/>
          </a:bodyPr>
          <a:lstStyle/>
          <a:p>
            <a:pPr algn="l">
              <a:lnSpc>
                <a:spcPct val="110000"/>
              </a:lnSpc>
              <a:spcAft>
                <a:spcPts val="400"/>
              </a:spcAft>
            </a:pPr>
            <a:r>
              <a:rPr sz="2600" b="0" i="0">
                <a:solidFill>
                  <a:srgbClr val="F3EEE6"/>
                </a:solidFill>
                <a:latin typeface="Fraunces"/>
              </a:rPr>
              <a:t>Let's walk Rome together.</a:t>
            </a:r>
          </a:p>
        </p:txBody>
      </p:sp>
      <p:sp>
        <p:nvSpPr>
          <p:cNvPr id="38" name="TextBox 37"/>
          <p:cNvSpPr txBox="1"/>
          <p:nvPr/>
        </p:nvSpPr>
        <p:spPr>
          <a:xfrm>
            <a:off x="548640" y="5669280"/>
            <a:ext cx="6400800" cy="457200"/>
          </a:xfrm>
          <a:prstGeom prst="rect">
            <a:avLst/>
          </a:prstGeom>
          <a:noFill/>
        </p:spPr>
        <p:txBody>
          <a:bodyPr wrap="square" lIns="0" rIns="0" tIns="0" bIns="0" anchor="t">
            <a:spAutoFit/>
          </a:bodyPr>
          <a:lstStyle/>
          <a:p>
            <a:pPr algn="l">
              <a:lnSpc>
                <a:spcPct val="110000"/>
              </a:lnSpc>
              <a:spcAft>
                <a:spcPts val="400"/>
              </a:spcAft>
            </a:pPr>
            <a:r>
              <a:rPr sz="1200" b="0" i="0">
                <a:solidFill>
                  <a:srgbClr val="F3EEE6"/>
                </a:solidFill>
                <a:latin typeface="Inter"/>
              </a:rPr>
              <a:t>Live prototype demo on request. Data room index: investor/data-room-index.md</a:t>
            </a:r>
          </a:p>
        </p:txBody>
      </p:sp>
      <p:sp>
        <p:nvSpPr>
          <p:cNvPr id="39" name="TextBox 38"/>
          <p:cNvSpPr txBox="1"/>
          <p:nvPr/>
        </p:nvSpPr>
        <p:spPr>
          <a:xfrm>
            <a:off x="6675120" y="5074920"/>
            <a:ext cx="4937760" cy="1097280"/>
          </a:xfrm>
          <a:prstGeom prst="rect">
            <a:avLst/>
          </a:prstGeom>
          <a:noFill/>
        </p:spPr>
        <p:txBody>
          <a:bodyPr wrap="square" lIns="0" rIns="0" tIns="0" bIns="0" anchor="t">
            <a:spAutoFit/>
          </a:bodyPr>
          <a:lstStyle/>
          <a:p>
            <a:pPr algn="l">
              <a:lnSpc>
                <a:spcPct val="115000"/>
              </a:lnSpc>
              <a:spcAft>
                <a:spcPts val="200"/>
              </a:spcAft>
            </a:pPr>
            <a:r>
              <a:rPr sz="1500" b="1" i="0">
                <a:solidFill>
                  <a:srgbClr val="F3EEE6"/>
                </a:solidFill>
                <a:latin typeface="Inter"/>
              </a:rPr>
              <a:t>Nimit Jain</a:t>
            </a:r>
          </a:p>
          <a:p>
            <a:pPr algn="l">
              <a:lnSpc>
                <a:spcPct val="115000"/>
              </a:lnSpc>
              <a:spcAft>
                <a:spcPts val="200"/>
              </a:spcAft>
            </a:pPr>
            <a:r>
              <a:rPr sz="1200" b="0" i="0">
                <a:solidFill>
                  <a:srgbClr val="F3EEE6"/>
                </a:solidFill>
                <a:latin typeface="Inter"/>
              </a:rPr>
              <a:t>Founder &amp; CEO, LORE Labs, Inc.</a:t>
            </a:r>
          </a:p>
          <a:p>
            <a:pPr algn="l">
              <a:lnSpc>
                <a:spcPct val="115000"/>
              </a:lnSpc>
              <a:spcAft>
                <a:spcPts val="200"/>
              </a:spcAft>
            </a:pPr>
            <a:r>
              <a:rPr sz="1200" b="0" i="0">
                <a:solidFill>
                  <a:srgbClr val="F3EEE6"/>
                </a:solidFill>
                <a:latin typeface="Inter"/>
              </a:rPr>
              <a:t>[founder email]  ·  lore.travel (domain to be confirmed)</a:t>
            </a:r>
          </a:p>
        </p:txBody>
      </p:sp>
      <p:pic>
        <p:nvPicPr>
          <p:cNvPr id="40" name="Picture 39" descr="lore-lockup-horizontal-bone-1600w.png"/>
          <p:cNvPicPr>
            <a:picLocks noChangeAspect="1"/>
          </p:cNvPicPr>
          <p:nvPr/>
        </p:nvPicPr>
        <p:blipFill>
          <a:blip r:embed="rId2"/>
          <a:stretch>
            <a:fillRect/>
          </a:stretch>
        </p:blipFill>
        <p:spPr>
          <a:xfrm>
            <a:off x="548640" y="6429032"/>
            <a:ext cx="822960" cy="199567"/>
          </a:xfrm>
          <a:prstGeom prst="rect">
            <a:avLst/>
          </a:prstGeom>
        </p:spPr>
      </p:pic>
      <p:sp>
        <p:nvSpPr>
          <p:cNvPr id="41" name="TextBox 40"/>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42" name="TextBox 41"/>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